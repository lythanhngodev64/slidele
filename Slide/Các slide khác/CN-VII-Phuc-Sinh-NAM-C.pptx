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Lst>
  <p:sldSz cy="5143500" cx="9144000"/>
  <p:notesSz cx="6858000" cy="9144000"/>
  <p:embeddedFontLst>
    <p:embeddedFont>
      <p:font typeface="Oswald"/>
      <p:regular r:id="rId228"/>
      <p:bold r:id="rId2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0" roundtripDataSignature="AMtx7mhh0bqjYHDbJlzNI178FeNaZUW7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2.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228" Type="http://schemas.openxmlformats.org/officeDocument/2006/relationships/font" Target="fonts/Oswald-regular.fntdata"/><Relationship Id="rId106" Type="http://schemas.openxmlformats.org/officeDocument/2006/relationships/slide" Target="slides/slide100.xml"/><Relationship Id="rId227" Type="http://schemas.openxmlformats.org/officeDocument/2006/relationships/slide" Target="slides/slide221.xml"/><Relationship Id="rId105" Type="http://schemas.openxmlformats.org/officeDocument/2006/relationships/slide" Target="slides/slide99.xml"/><Relationship Id="rId226" Type="http://schemas.openxmlformats.org/officeDocument/2006/relationships/slide" Target="slides/slide220.xml"/><Relationship Id="rId104" Type="http://schemas.openxmlformats.org/officeDocument/2006/relationships/slide" Target="slides/slide98.xml"/><Relationship Id="rId225" Type="http://schemas.openxmlformats.org/officeDocument/2006/relationships/slide" Target="slides/slide219.xml"/><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font" Target="fonts/Oswald-bold.fntdata"/><Relationship Id="rId220" Type="http://schemas.openxmlformats.org/officeDocument/2006/relationships/slide" Target="slides/slide214.xml"/><Relationship Id="rId103" Type="http://schemas.openxmlformats.org/officeDocument/2006/relationships/slide" Target="slides/slide97.xml"/><Relationship Id="rId224" Type="http://schemas.openxmlformats.org/officeDocument/2006/relationships/slide" Target="slides/slide218.xml"/><Relationship Id="rId102" Type="http://schemas.openxmlformats.org/officeDocument/2006/relationships/slide" Target="slides/slide96.xml"/><Relationship Id="rId223" Type="http://schemas.openxmlformats.org/officeDocument/2006/relationships/slide" Target="slides/slide217.xml"/><Relationship Id="rId101" Type="http://schemas.openxmlformats.org/officeDocument/2006/relationships/slide" Target="slides/slide95.xml"/><Relationship Id="rId222" Type="http://schemas.openxmlformats.org/officeDocument/2006/relationships/slide" Target="slides/slide216.xml"/><Relationship Id="rId100" Type="http://schemas.openxmlformats.org/officeDocument/2006/relationships/slide" Target="slides/slide94.xml"/><Relationship Id="rId221" Type="http://schemas.openxmlformats.org/officeDocument/2006/relationships/slide" Target="slides/slide215.xml"/><Relationship Id="rId217" Type="http://schemas.openxmlformats.org/officeDocument/2006/relationships/slide" Target="slides/slide211.xml"/><Relationship Id="rId216" Type="http://schemas.openxmlformats.org/officeDocument/2006/relationships/slide" Target="slides/slide210.xml"/><Relationship Id="rId215" Type="http://schemas.openxmlformats.org/officeDocument/2006/relationships/slide" Target="slides/slide209.xml"/><Relationship Id="rId214" Type="http://schemas.openxmlformats.org/officeDocument/2006/relationships/slide" Target="slides/slide208.xml"/><Relationship Id="rId219" Type="http://schemas.openxmlformats.org/officeDocument/2006/relationships/slide" Target="slides/slide213.xml"/><Relationship Id="rId218" Type="http://schemas.openxmlformats.org/officeDocument/2006/relationships/slide" Target="slides/slide212.xml"/><Relationship Id="rId213" Type="http://schemas.openxmlformats.org/officeDocument/2006/relationships/slide" Target="slides/slide207.xml"/><Relationship Id="rId212" Type="http://schemas.openxmlformats.org/officeDocument/2006/relationships/slide" Target="slides/slide206.xml"/><Relationship Id="rId211" Type="http://schemas.openxmlformats.org/officeDocument/2006/relationships/slide" Target="slides/slide205.xml"/><Relationship Id="rId210" Type="http://schemas.openxmlformats.org/officeDocument/2006/relationships/slide" Target="slides/slide204.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230" Type="http://customschemas.google.com/relationships/presentationmetadata" Target="metadata"/><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206" Type="http://schemas.openxmlformats.org/officeDocument/2006/relationships/slide" Target="slides/slide200.xml"/><Relationship Id="rId205" Type="http://schemas.openxmlformats.org/officeDocument/2006/relationships/slide" Target="slides/slide199.xml"/><Relationship Id="rId204" Type="http://schemas.openxmlformats.org/officeDocument/2006/relationships/slide" Target="slides/slide198.xml"/><Relationship Id="rId203" Type="http://schemas.openxmlformats.org/officeDocument/2006/relationships/slide" Target="slides/slide197.xml"/><Relationship Id="rId209" Type="http://schemas.openxmlformats.org/officeDocument/2006/relationships/slide" Target="slides/slide203.xml"/><Relationship Id="rId208" Type="http://schemas.openxmlformats.org/officeDocument/2006/relationships/slide" Target="slides/slide202.xml"/><Relationship Id="rId207" Type="http://schemas.openxmlformats.org/officeDocument/2006/relationships/slide" Target="slides/slide201.xml"/><Relationship Id="rId202" Type="http://schemas.openxmlformats.org/officeDocument/2006/relationships/slide" Target="slides/slide196.xml"/><Relationship Id="rId201" Type="http://schemas.openxmlformats.org/officeDocument/2006/relationships/slide" Target="slides/slide195.xml"/><Relationship Id="rId200" Type="http://schemas.openxmlformats.org/officeDocument/2006/relationships/slide" Target="slides/slide1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p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691" name="Google Shape;691;p1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697" name="Google Shape;697;p1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03" name="Google Shape;703;p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09" name="Google Shape;709;p1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p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15" name="Google Shape;715;p1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21" name="Google Shape;721;p1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27" name="Google Shape;727;p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33" name="Google Shape;733;p1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1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p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p1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52" name="Google Shape;752;p1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1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58" name="Google Shape;758;p1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p1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64" name="Google Shape;764;p1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1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0" name="Google Shape;770;p1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6" name="Google Shape;776;p1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p1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2" name="Google Shape;782;p1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p1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8" name="Google Shape;788;p1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p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94" name="Google Shape;794;p1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00" name="Google Shape;800;p1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5" name="Google Shape;805;p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06" name="Google Shape;806;p1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1" name="Google Shape;811;p1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2" name="Google Shape;812;p1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1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8" name="Google Shape;818;p1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p1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24" name="Google Shape;824;p1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9" name="Google Shape;829;p1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0" name="Google Shape;830;p1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5" name="Google Shape;835;p1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6" name="Google Shape;836;p1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p1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1" name="Google Shape;861;p1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 name="Google Shape;866;p1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7" name="Google Shape;867;p1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1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73" name="Google Shape;873;p1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8" name="Google Shape;878;p1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79" name="Google Shape;879;p1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4" name="Google Shape;884;p1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85" name="Google Shape;885;p1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0" name="Google Shape;890;p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91" name="Google Shape;891;p1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 name="Google Shape;896;p1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97" name="Google Shape;897;p1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 name="Google Shape;902;p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03" name="Google Shape;903;p1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8" name="Google Shape;908;p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09" name="Google Shape;909;p1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p1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5" name="Google Shape;915;p1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1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7" name="Google Shape;927;p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1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4" name="Google Shape;934;p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0" name="Google Shape;940;p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p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1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2" name="Google Shape;952;p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8" name="Google Shape;958;p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8" name="Google Shape;968;p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3" name="Google Shape;973;p1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 name="Google Shape;978;p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8" name="Google Shape;988;p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3" name="Google Shape;993;p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 name="Google Shape;998;p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3" name="Google Shape;1003;p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8" name="Google Shape;1008;p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1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3" name="Google Shape;1013;p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1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1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3" name="Google Shape;1023;p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p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1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3" name="Google Shape;1033;p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1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3" name="Google Shape;1043;p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8" name="Google Shape;1048;p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1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3" name="Google Shape;1053;p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8" name="Google Shape;1058;p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1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3" name="Google Shape;1063;p1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1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8" name="Google Shape;1068;p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1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 name="Google Shape;1075;p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0" name="Google Shape;1080;p1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81" name="Google Shape;1081;p1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1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6" name="Google Shape;1086;p1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87" name="Google Shape;1087;p1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2" name="Google Shape;1092;p1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93" name="Google Shape;1093;p1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p1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99" name="Google Shape;1099;p1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4" name="Google Shape;1104;p1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05" name="Google Shape;1105;p1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0" name="Google Shape;1110;p1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11" name="Google Shape;1111;p1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6" name="Google Shape;1116;p1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17" name="Google Shape;1117;p1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2" name="Google Shape;1122;p1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23" name="Google Shape;1123;p1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8" name="Google Shape;1128;p1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29" name="Google Shape;1129;p1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p1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35" name="Google Shape;1135;p1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1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0" name="Google Shape;1140;p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1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7" name="Google Shape;1147;p1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1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3" name="Google Shape;1153;p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1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1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59" name="Google Shape;1159;p1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4" name="Google Shape;1164;p2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65" name="Google Shape;1165;p2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0" name="Google Shape;1170;p2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71" name="Google Shape;1171;p20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6" name="Google Shape;1176;p2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77" name="Google Shape;1177;p2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2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2" name="Google Shape;1182;p2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83" name="Google Shape;1183;p2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p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8" name="Google Shape;1188;p2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89" name="Google Shape;1189;p2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4" name="Google Shape;1194;p2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95" name="Google Shape;1195;p2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p2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01" name="Google Shape;1201;p2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2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p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07" name="Google Shape;1207;p2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2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2" name="Google Shape;1212;p2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13" name="Google Shape;1213;p2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8" name="Google Shape;1218;p2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19" name="Google Shape;1219;p2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4" name="Google Shape;1224;p2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25" name="Google Shape;1225;p2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p2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0" name="Google Shape;1230;p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2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7" name="Google Shape;1237;p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2" name="Google Shape;1242;p2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43" name="Google Shape;1243;p2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8" name="Google Shape;1248;p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49" name="Google Shape;1249;p2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p2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4" name="Google Shape;1254;p2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55" name="Google Shape;1255;p2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p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0" name="Google Shape;1260;p2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61" name="Google Shape;1261;p2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6" name="Google Shape;1266;p2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67" name="Google Shape;1267;p2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p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2" name="Google Shape;1272;p2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73" name="Google Shape;1273;p2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8" name="Google Shape;1278;p2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79" name="Google Shape;1279;p2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4" name="Google Shape;1284;p2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85" name="Google Shape;1285;p2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2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0" name="Google Shape;1290;p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2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2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24"/>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4"/>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22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7"/>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7"/>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8"/>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28"/>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2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9"/>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9"/>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9"/>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9"/>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3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32"/>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32"/>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32"/>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3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33"/>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3"/>
          <p:cNvSpPr/>
          <p:nvPr>
            <p:ph idx="2" type="pic"/>
          </p:nvPr>
        </p:nvSpPr>
        <p:spPr>
          <a:xfrm>
            <a:off x="1792288" y="459581"/>
            <a:ext cx="5486400" cy="3086100"/>
          </a:xfrm>
          <a:prstGeom prst="rect">
            <a:avLst/>
          </a:prstGeom>
          <a:noFill/>
          <a:ln>
            <a:noFill/>
          </a:ln>
        </p:spPr>
      </p:sp>
      <p:sp>
        <p:nvSpPr>
          <p:cNvPr id="68" name="Google Shape;68;p233"/>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3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34"/>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3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5"/>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35"/>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3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22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22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93" name="Google Shape;93;p22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2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2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2"/>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2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2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2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22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4400"/>
              <a:buFont typeface="Arial"/>
              <a:buNone/>
              <a:defRPr b="0" i="0" sz="4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22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lt1"/>
              </a:buClr>
              <a:buSzPts val="3200"/>
              <a:buFont typeface="Arial"/>
              <a:buChar char="•"/>
              <a:defRPr b="0" i="0" sz="3200" u="none" cap="none" strike="noStrike">
                <a:solidFill>
                  <a:schemeClr val="lt1"/>
                </a:solidFill>
                <a:latin typeface="Arial"/>
                <a:ea typeface="Arial"/>
                <a:cs typeface="Arial"/>
                <a:sym typeface="Arial"/>
              </a:defRPr>
            </a:lvl1pPr>
            <a:lvl2pPr indent="-406400" lvl="1" marL="914400" marR="0" rtl="0" algn="l">
              <a:spcBef>
                <a:spcPts val="56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2pPr>
            <a:lvl3pPr indent="-381000" lvl="2" marL="1371600" marR="0" rtl="0" algn="l">
              <a:spcBef>
                <a:spcPts val="48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3pPr>
            <a:lvl4pPr indent="-355600" lvl="3" marL="18288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4pPr>
            <a:lvl5pPr indent="-355600" lvl="4" marL="22860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87" name="Google Shape;87;p22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88" name="Google Shape;88;p22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89" name="Google Shape;89;p22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Arial"/>
                <a:ea typeface="Arial"/>
                <a:cs typeface="Arial"/>
                <a:sym typeface="Arial"/>
              </a:defRPr>
            </a:lvl1pPr>
            <a:lvl2pPr indent="0" lvl="1" marL="0" marR="0" rtl="0" algn="r">
              <a:spcBef>
                <a:spcPts val="0"/>
              </a:spcBef>
              <a:buNone/>
              <a:defRPr b="0" i="0" sz="1200" u="none" cap="none" strike="noStrike">
                <a:solidFill>
                  <a:schemeClr val="lt1"/>
                </a:solidFill>
                <a:latin typeface="Arial"/>
                <a:ea typeface="Arial"/>
                <a:cs typeface="Arial"/>
                <a:sym typeface="Arial"/>
              </a:defRPr>
            </a:lvl2pPr>
            <a:lvl3pPr indent="0" lvl="2" marL="0" marR="0" rtl="0" algn="r">
              <a:spcBef>
                <a:spcPts val="0"/>
              </a:spcBef>
              <a:buNone/>
              <a:defRPr b="0" i="0" sz="1200" u="none" cap="none" strike="noStrike">
                <a:solidFill>
                  <a:schemeClr val="lt1"/>
                </a:solidFill>
                <a:latin typeface="Arial"/>
                <a:ea typeface="Arial"/>
                <a:cs typeface="Arial"/>
                <a:sym typeface="Arial"/>
              </a:defRPr>
            </a:lvl3pPr>
            <a:lvl4pPr indent="0" lvl="3" marL="0" marR="0" rtl="0" algn="r">
              <a:spcBef>
                <a:spcPts val="0"/>
              </a:spcBef>
              <a:buNone/>
              <a:defRPr b="0" i="0" sz="1200" u="none" cap="none" strike="noStrike">
                <a:solidFill>
                  <a:schemeClr val="lt1"/>
                </a:solidFill>
                <a:latin typeface="Arial"/>
                <a:ea typeface="Arial"/>
                <a:cs typeface="Arial"/>
                <a:sym typeface="Arial"/>
              </a:defRPr>
            </a:lvl4pPr>
            <a:lvl5pPr indent="0" lvl="4" marL="0" marR="0" rtl="0" algn="r">
              <a:spcBef>
                <a:spcPts val="0"/>
              </a:spcBef>
              <a:buNone/>
              <a:defRPr b="0" i="0" sz="1200" u="none" cap="none" strike="noStrike">
                <a:solidFill>
                  <a:schemeClr val="lt1"/>
                </a:solidFill>
                <a:latin typeface="Arial"/>
                <a:ea typeface="Arial"/>
                <a:cs typeface="Arial"/>
                <a:sym typeface="Arial"/>
              </a:defRPr>
            </a:lvl5pPr>
            <a:lvl6pPr indent="0" lvl="5" marL="0" marR="0" rtl="0" algn="r">
              <a:spcBef>
                <a:spcPts val="0"/>
              </a:spcBef>
              <a:buNone/>
              <a:defRPr b="0" i="0" sz="1200" u="none" cap="none" strike="noStrike">
                <a:solidFill>
                  <a:schemeClr val="lt1"/>
                </a:solidFill>
                <a:latin typeface="Arial"/>
                <a:ea typeface="Arial"/>
                <a:cs typeface="Arial"/>
                <a:sym typeface="Arial"/>
              </a:defRPr>
            </a:lvl6pPr>
            <a:lvl7pPr indent="0" lvl="6" marL="0" marR="0" rtl="0" algn="r">
              <a:spcBef>
                <a:spcPts val="0"/>
              </a:spcBef>
              <a:buNone/>
              <a:defRPr b="0" i="0" sz="1200" u="none" cap="none" strike="noStrike">
                <a:solidFill>
                  <a:schemeClr val="lt1"/>
                </a:solidFill>
                <a:latin typeface="Arial"/>
                <a:ea typeface="Arial"/>
                <a:cs typeface="Arial"/>
                <a:sym typeface="Arial"/>
              </a:defRPr>
            </a:lvl7pPr>
            <a:lvl8pPr indent="0" lvl="7" marL="0" marR="0" rtl="0" algn="r">
              <a:spcBef>
                <a:spcPts val="0"/>
              </a:spcBef>
              <a:buNone/>
              <a:defRPr b="0" i="0" sz="1200" u="none" cap="none" strike="noStrike">
                <a:solidFill>
                  <a:schemeClr val="lt1"/>
                </a:solidFill>
                <a:latin typeface="Arial"/>
                <a:ea typeface="Arial"/>
                <a:cs typeface="Arial"/>
                <a:sym typeface="Arial"/>
              </a:defRPr>
            </a:lvl8pPr>
            <a:lvl9pPr indent="0" lvl="8" marL="0" marR="0" rtl="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6.xml"/><Relationship Id="rId3" Type="http://schemas.openxmlformats.org/officeDocument/2006/relationships/image" Target="../media/image3.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1.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1.jp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1.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jp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jp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1.jp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101" name="Google Shape;101;p1"/>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Có thể là hình ảnh về 7 người và văn bản cho biết 'CChúa nhật CHỦA THĂNG THIÊN &quot; Đang khi Người chúc phúc cho các ông, Người rời khôi các ông ma lên trời. Các ông tho lạy Người, và trở về Giérusalem lòng đầy vui mừng. &quot; [LC 24, 46 53 CHÚA NHẬT 7 PHỤC SINH NĂM c'" id="102" name="Google Shape;102;p1"/>
          <p:cNvPicPr preferRelativeResize="0"/>
          <p:nvPr/>
        </p:nvPicPr>
        <p:blipFill rotWithShape="1">
          <a:blip r:embed="rId3">
            <a:alphaModFix/>
          </a:blip>
          <a:srcRect b="0" l="0" r="0" t="0"/>
          <a:stretch/>
        </p:blipFill>
        <p:spPr>
          <a:xfrm>
            <a:off x="0" y="0"/>
            <a:ext cx="9144000" cy="51482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KINH CHÚA THÁNH THẦN</a:t>
            </a:r>
            <a:endParaRPr b="1" sz="4000">
              <a:solidFill>
                <a:srgbClr val="FF0000"/>
              </a:solidFill>
              <a:latin typeface="Times New Roman"/>
              <a:ea typeface="Times New Roman"/>
              <a:cs typeface="Times New Roman"/>
              <a:sym typeface="Times New Roman"/>
            </a:endParaRPr>
          </a:p>
          <a:p>
            <a:pPr indent="0" lvl="0" marL="0" rtl="0" algn="just">
              <a:spcBef>
                <a:spcPts val="60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lạy ơn Đức Chúa Thánh Thần, thiêng liêng sáng láng vô cùng, </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182875">
            <a:normAutofit lnSpcReduction="10000"/>
          </a:bodyPr>
          <a:lstStyle/>
          <a:p>
            <a:pPr indent="0" lvl="0" marL="0" rtl="0" algn="just">
              <a:spcBef>
                <a:spcPts val="0"/>
              </a:spcBef>
              <a:spcAft>
                <a:spcPts val="0"/>
              </a:spcAft>
              <a:buClr>
                <a:schemeClr val="dk1"/>
              </a:buClr>
              <a:buSzPts val="8800"/>
              <a:buNone/>
            </a:pPr>
            <a:r>
              <a:rPr b="1" lang="en-US" sz="8800">
                <a:solidFill>
                  <a:schemeClr val="dk1"/>
                </a:solidFill>
                <a:latin typeface="Times New Roman"/>
                <a:ea typeface="Times New Roman"/>
                <a:cs typeface="Times New Roman"/>
                <a:sym typeface="Times New Roman"/>
              </a:rPr>
              <a:t>Và đốt lửa kính mến Đức Chúa Trời trong lòng chúng con;</a:t>
            </a:r>
            <a:endParaRPr sz="8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chúng con xin Đức Chúa Trời cho Đức Chúa Thánh Thần xuống.</a:t>
            </a:r>
            <a:endParaRPr sz="8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Sửa lại mọi sự trong ngoài chúng con. Chúng con cầu cùng Đức Chúa Trời,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xưa đã cho Đức Chúa Thánh Thần xuống soi lòng dạy dỗ các Thánh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Tông Đồ thì rày chúng con cũng xin Đức Chúa Trời cho Đức Chúa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Thánh Thần lại xuống an ủi dạy dỗ chúng con làm những việc lành,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0"/>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idx="1" type="subTitle"/>
          </p:nvPr>
        </p:nvSpPr>
        <p:spPr>
          <a:xfrm>
            <a:off x="0" y="526381"/>
            <a:ext cx="9144000" cy="4617119"/>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accent1"/>
              </a:buClr>
              <a:buSzPts val="8000"/>
              <a:buNone/>
            </a:pPr>
            <a:r>
              <a:rPr b="1" i="1" lang="en-US" sz="8000" u="sng">
                <a:solidFill>
                  <a:schemeClr val="accent1"/>
                </a:solidFill>
                <a:latin typeface="Times New Roman"/>
                <a:ea typeface="Times New Roman"/>
                <a:cs typeface="Times New Roman"/>
                <a:sym typeface="Times New Roman"/>
              </a:rPr>
              <a:t>Xướng:</a:t>
            </a:r>
            <a:r>
              <a:rPr b="1" lang="en-US" sz="8000">
                <a:solidFill>
                  <a:schemeClr val="accent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Lạy Nữ Vương Thiên Đàng hãy vui mừng – Alleluia</a:t>
            </a:r>
            <a:endParaRPr b="1" sz="8000">
              <a:solidFill>
                <a:schemeClr val="dk1"/>
              </a:solidFill>
              <a:latin typeface="Times New Roman"/>
              <a:ea typeface="Times New Roman"/>
              <a:cs typeface="Times New Roman"/>
              <a:sym typeface="Times New Roman"/>
            </a:endParaRPr>
          </a:p>
          <a:p>
            <a:pPr indent="0" lvl="0" marL="0" rtl="0" algn="just">
              <a:lnSpc>
                <a:spcPct val="120000"/>
              </a:lnSpc>
              <a:spcBef>
                <a:spcPts val="1600"/>
              </a:spcBef>
              <a:spcAft>
                <a:spcPts val="0"/>
              </a:spcAft>
              <a:buClr>
                <a:srgbClr val="888888"/>
              </a:buClr>
              <a:buSzPts val="8000"/>
              <a:buNone/>
            </a:pPr>
            <a:r>
              <a:t/>
            </a:r>
            <a:endParaRPr sz="8000">
              <a:solidFill>
                <a:schemeClr val="lt1"/>
              </a:solidFill>
              <a:latin typeface="Times New Roman"/>
              <a:ea typeface="Times New Roman"/>
              <a:cs typeface="Times New Roman"/>
              <a:sym typeface="Times New Roman"/>
            </a:endParaRPr>
          </a:p>
        </p:txBody>
      </p:sp>
      <p:sp>
        <p:nvSpPr>
          <p:cNvPr id="153" name="Google Shape;153;p11"/>
          <p:cNvSpPr txBox="1"/>
          <p:nvPr/>
        </p:nvSpPr>
        <p:spPr>
          <a:xfrm>
            <a:off x="0" y="-1"/>
            <a:ext cx="9142494"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FF0000"/>
                </a:solidFill>
                <a:latin typeface="Times New Roman"/>
                <a:ea typeface="Times New Roman"/>
                <a:cs typeface="Times New Roman"/>
                <a:sym typeface="Times New Roman"/>
              </a:rPr>
              <a:t>KINH NỮ VƯƠNG THIÊN ĐÀNG</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Đáp:</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Vì đấng Mẹ đã đáng cưu mang trong lòng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Xướng:</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Người đã sống lại thật như lời đã phán hứa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Đáp:</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Xin cầu cùng Chúa cho chúng con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Xướng:</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Lạy Nữ Đồng Trinh Maria hãy hỉ hoan khoái lạc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8500"/>
              <a:buNone/>
            </a:pPr>
            <a:r>
              <a:rPr b="1" i="1" lang="en-US" sz="8500" u="sng">
                <a:solidFill>
                  <a:schemeClr val="accent1"/>
                </a:solidFill>
                <a:latin typeface="Times New Roman"/>
                <a:ea typeface="Times New Roman"/>
                <a:cs typeface="Times New Roman"/>
                <a:sym typeface="Times New Roman"/>
              </a:rPr>
              <a:t>Đáp:</a:t>
            </a:r>
            <a:r>
              <a:rPr b="1" i="1" lang="en-US" sz="8500">
                <a:solidFill>
                  <a:schemeClr val="accent1"/>
                </a:solidFill>
                <a:latin typeface="Times New Roman"/>
                <a:ea typeface="Times New Roman"/>
                <a:cs typeface="Times New Roman"/>
                <a:sym typeface="Times New Roman"/>
              </a:rPr>
              <a:t> </a:t>
            </a:r>
            <a:r>
              <a:rPr b="1" lang="en-US" sz="8500">
                <a:solidFill>
                  <a:schemeClr val="dk1"/>
                </a:solidFill>
                <a:latin typeface="Times New Roman"/>
                <a:ea typeface="Times New Roman"/>
                <a:cs typeface="Times New Roman"/>
                <a:sym typeface="Times New Roman"/>
              </a:rPr>
              <a:t>Vì Chúa đã sống lại thật – Alleluia</a:t>
            </a:r>
            <a:endParaRPr b="1" sz="85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ctr">
              <a:spcBef>
                <a:spcPts val="0"/>
              </a:spcBef>
              <a:spcAft>
                <a:spcPts val="0"/>
              </a:spcAft>
              <a:buClr>
                <a:srgbClr val="FF0000"/>
              </a:buClr>
              <a:buSzPts val="4800"/>
              <a:buNone/>
            </a:pPr>
            <a:r>
              <a:rPr b="1" lang="en-US" sz="4800">
                <a:solidFill>
                  <a:srgbClr val="FF0000"/>
                </a:solidFill>
                <a:latin typeface="Times New Roman"/>
                <a:ea typeface="Times New Roman"/>
                <a:cs typeface="Times New Roman"/>
                <a:sym typeface="Times New Roman"/>
              </a:rPr>
              <a:t>LỜI NGUYỆN:</a:t>
            </a:r>
            <a:r>
              <a:rPr b="1" lang="en-US" sz="4950">
                <a:solidFill>
                  <a:srgbClr val="FF0000"/>
                </a:solidFill>
                <a:latin typeface="Times New Roman"/>
                <a:ea typeface="Times New Roman"/>
                <a:cs typeface="Times New Roman"/>
                <a:sym typeface="Times New Roman"/>
              </a:rPr>
              <a:t> </a:t>
            </a:r>
            <a:endParaRPr/>
          </a:p>
          <a:p>
            <a:pPr indent="0" lvl="0" marL="0" rtl="0" algn="just">
              <a:spcBef>
                <a:spcPts val="1720"/>
              </a:spcBef>
              <a:spcAft>
                <a:spcPts val="0"/>
              </a:spcAft>
              <a:buClr>
                <a:schemeClr val="dk1"/>
              </a:buClr>
              <a:buSzPts val="8600"/>
              <a:buNone/>
            </a:pPr>
            <a:r>
              <a:rPr b="1" lang="en-US" sz="8600">
                <a:solidFill>
                  <a:schemeClr val="dk1"/>
                </a:solidFill>
                <a:latin typeface="Times New Roman"/>
                <a:ea typeface="Times New Roman"/>
                <a:cs typeface="Times New Roman"/>
                <a:sym typeface="Times New Roman"/>
              </a:rPr>
              <a:t>Lạy Chúa, là đấng đã làm cho thiên hạ vui mừng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quá bội bởi Đức Chúa Giêsu Kitô là Con Chúa cùng là Chúa chúng con đã</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sống lại; xin vì Đức Nữ Đồng Trinh Maria là Thánh Mẫu Người nguyện</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cầu cho chúng con được hưởng phúc vui vẻ hằng sống đời đời. Vì công nghiệp</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1800"/>
              <a:buNone/>
            </a:pPr>
            <a:r>
              <a:t/>
            </a:r>
            <a:endParaRPr b="1"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Chúa Kitô là Chúa chúng con. </a:t>
            </a:r>
            <a:r>
              <a:rPr b="1" lang="en-US" sz="7000">
                <a:solidFill>
                  <a:srgbClr val="FF0000"/>
                </a:solidFill>
                <a:latin typeface="Times New Roman"/>
                <a:ea typeface="Times New Roman"/>
                <a:cs typeface="Times New Roman"/>
                <a:sym typeface="Times New Roman"/>
              </a:rPr>
              <a:t>Amen</a:t>
            </a:r>
            <a:r>
              <a:rPr b="1" lang="en-US" sz="7000">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TIN</a:t>
            </a:r>
            <a:endParaRPr b="1" sz="4950">
              <a:solidFill>
                <a:schemeClr val="dk1"/>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tin thật có một Đức Chúa Trời là Đấng thưởng phạt vô cùng.</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lại tin thật Đức Chúa Trời có Ba Ngôi, mà Ngôi Thứ Hai đã xuống thế</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làm Người, chịu nạn chịu chết mà chuộc tội cho thiên hạ</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600"/>
              <a:buNone/>
            </a:pPr>
            <a:r>
              <a:rPr b="1" lang="en-US" sz="9600">
                <a:solidFill>
                  <a:schemeClr val="dk1"/>
                </a:solidFill>
                <a:latin typeface="Times New Roman"/>
                <a:ea typeface="Times New Roman"/>
                <a:cs typeface="Times New Roman"/>
                <a:sym typeface="Times New Roman"/>
              </a:rPr>
              <a:t>Bấy nhiêu điều ấy cùng các điều Hội Thánh dạy</a:t>
            </a:r>
            <a:endParaRPr b="1" sz="96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thì con tin vững vàng, vì Chúa là</a:t>
            </a:r>
            <a:br>
              <a:rPr b="1" lang="en-US" sz="9000">
                <a:solidFill>
                  <a:schemeClr val="dk1"/>
                </a:solidFill>
                <a:latin typeface="Times New Roman"/>
                <a:ea typeface="Times New Roman"/>
                <a:cs typeface="Times New Roman"/>
                <a:sym typeface="Times New Roman"/>
              </a:rPr>
            </a:br>
            <a:r>
              <a:rPr b="1" lang="en-US" sz="9000">
                <a:solidFill>
                  <a:schemeClr val="dk1"/>
                </a:solidFill>
                <a:latin typeface="Times New Roman"/>
                <a:ea typeface="Times New Roman"/>
                <a:cs typeface="Times New Roman"/>
                <a:sym typeface="Times New Roman"/>
              </a:rPr>
              <a:t>Đấng thông minh</a:t>
            </a:r>
            <a:endParaRPr b="1" sz="90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chân thật vô cùng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đã</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phán truyền cho</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Hội</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Thánh.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CẬY</a:t>
            </a:r>
            <a:endParaRPr b="1" sz="4400">
              <a:solidFill>
                <a:srgbClr val="FF0000"/>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trông cậy vững vàng, vì công nghiệp Đức Chúa Giêsu</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thì Chúa sẽ ban ơn cho con giữ đạo nên ở đời này,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ngày sau được lên thiên đàng xem thấy mặt Đức Chúa Trời hưởng phúc đời đời,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vì Chúa là Đấng phép tắt và lòng lành vô cùng đã phán hứa sự ấy chẳng có lẽ nào sai được.  </a:t>
            </a:r>
            <a:r>
              <a:rPr b="1" lang="en-US" sz="6800">
                <a:solidFill>
                  <a:srgbClr val="FF0000"/>
                </a:solidFill>
                <a:latin typeface="Times New Roman"/>
                <a:ea typeface="Times New Roman"/>
                <a:cs typeface="Times New Roman"/>
                <a:sym typeface="Times New Roman"/>
              </a:rPr>
              <a:t>Amen</a:t>
            </a:r>
            <a:r>
              <a:rPr b="1" lang="en-US" sz="6800">
                <a:solidFill>
                  <a:schemeClr val="dk1"/>
                </a:solidFill>
                <a:latin typeface="Times New Roman"/>
                <a:ea typeface="Times New Roman"/>
                <a:cs typeface="Times New Roman"/>
                <a:sym typeface="Times New Roman"/>
              </a:rPr>
              <a:t>.</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37150">
            <a:normAutofit fontScale="85000" lnSpcReduction="2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MẾN</a:t>
            </a:r>
            <a:endParaRPr b="1" sz="4400">
              <a:solidFill>
                <a:srgbClr val="FF0000"/>
              </a:solidFill>
              <a:latin typeface="Times New Roman"/>
              <a:ea typeface="Times New Roman"/>
              <a:cs typeface="Times New Roman"/>
              <a:sym typeface="Times New Roman"/>
            </a:endParaRPr>
          </a:p>
          <a:p>
            <a:pPr indent="0" lvl="0" marL="0" rtl="0" algn="just">
              <a:spcBef>
                <a:spcPts val="1615"/>
              </a:spcBef>
              <a:spcAft>
                <a:spcPts val="0"/>
              </a:spcAft>
              <a:buClr>
                <a:schemeClr val="dk1"/>
              </a:buClr>
              <a:buSzPct val="100000"/>
              <a:buNone/>
            </a:pPr>
            <a:r>
              <a:rPr b="1" lang="en-US" sz="9500">
                <a:solidFill>
                  <a:schemeClr val="dk1"/>
                </a:solidFill>
                <a:latin typeface="Times New Roman"/>
                <a:ea typeface="Times New Roman"/>
                <a:cs typeface="Times New Roman"/>
                <a:sym typeface="Times New Roman"/>
              </a:rPr>
              <a:t>Lạy Chúa, con kính mến Chúa hết lòng hết sức trên hết mọi sự,</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lại vì Chúa, thì con thương yêu người ta như mình con vậy.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rgbClr val="FF0000"/>
              </a:buClr>
              <a:buSzPts val="4400"/>
              <a:buNone/>
            </a:pPr>
            <a:r>
              <a:rPr b="1" lang="en-US" sz="4400">
                <a:solidFill>
                  <a:srgbClr val="FF0000"/>
                </a:solidFill>
                <a:latin typeface="Times New Roman"/>
                <a:ea typeface="Times New Roman"/>
                <a:cs typeface="Times New Roman"/>
                <a:sym typeface="Times New Roman"/>
              </a:rPr>
              <a:t>KINH SẤP MÌNH</a:t>
            </a:r>
            <a:endParaRPr b="1" sz="4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Chúa, con sấp mình xuống trước mặt Chúa. Con tin thật Chúa ở khắp mọi nơi,</a:t>
            </a:r>
            <a:endParaRPr b="1" sz="88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Xin Chúa rất nhân từ  hãy đoái xem sự nghèo ngặt con và nhận lời con nguyện.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Chúa chúng con! Vì dấu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Thánh giá, xin chữa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chúng con, cho khỏi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kẻ thù.</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Con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và Thánh Thần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LẠY NỮ VƯƠNG</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Nữ Vương, Mẹ nhân lành làm cho chúng con đặng sống, đặng vui, đặng cậy.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xin ghé mắt thương xem chúng con đến sau khỏi đày, xin cho chúng con được thấy</a:t>
            </a:r>
            <a:endParaRPr b="1" sz="7500">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Đức Chúa Giêsu con lòng Bà gồm phúc lạ. Ôi khoan thay, nhân thay, diệu thay,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6000"/>
              <a:buNone/>
            </a:pPr>
            <a:r>
              <a:t/>
            </a:r>
            <a:endParaRPr b="1" sz="6000">
              <a:solidFill>
                <a:schemeClr val="dk1"/>
              </a:solidFill>
              <a:latin typeface="Times New Roman"/>
              <a:ea typeface="Times New Roman"/>
              <a:cs typeface="Times New Roman"/>
              <a:sym typeface="Times New Roman"/>
            </a:endParaRPr>
          </a:p>
          <a:p>
            <a:pPr indent="0" lvl="0" marL="0" rtl="0" algn="ctr">
              <a:spcBef>
                <a:spcPts val="150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Thánh Maria trọn đời đồng trinh. </a:t>
            </a:r>
            <a:r>
              <a:rPr b="1" lang="en-US" sz="7500">
                <a:solidFill>
                  <a:srgbClr val="FF0000"/>
                </a:solidFill>
                <a:latin typeface="Times New Roman"/>
                <a:ea typeface="Times New Roman"/>
                <a:cs typeface="Times New Roman"/>
                <a:sym typeface="Times New Roman"/>
              </a:rPr>
              <a:t>Amen</a:t>
            </a:r>
            <a:r>
              <a:rPr b="1" lang="en-US" sz="75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NGHĨA ĐỨC TIN</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Ngày Chúa Nhật hôm nay, chúng con hợp nhau kính lạy thờ phượng Chúa,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không khen cám tạ ơn Chúa về mọi ơn lành Chúa đã ban cho chúng con,</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thì chúng con dám xin Chúa hãy khứng ban những ơn cần kíp cho chúng con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300"/>
              <a:buNone/>
            </a:pPr>
            <a:r>
              <a:rPr b="1" lang="en-US" sz="7300">
                <a:solidFill>
                  <a:schemeClr val="dk1"/>
                </a:solidFill>
                <a:latin typeface="Times New Roman"/>
                <a:ea typeface="Times New Roman"/>
                <a:cs typeface="Times New Roman"/>
                <a:sym typeface="Times New Roman"/>
              </a:rPr>
              <a:t>được rỗi linh hồn. Nên chúng con cả lòng tin vững vàng mọi điều đạo thánh Chúa dạy, </a:t>
            </a:r>
            <a:endParaRPr b="1" sz="73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nhất là những điều cần kíp này là có một Đức Chúa Trời phép tắc vô cùng,</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000"/>
              <a:buNone/>
            </a:pPr>
            <a:r>
              <a:t/>
            </a:r>
            <a:endParaRPr b="1" sz="20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dựng nên trời đất, mà</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Người</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có Ba Ngôi.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Ngôi Thứ Nhất là Cha, Ngôi Thứ Hai là Con, Ngôi Thứ Ba là Thánh Thần;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Chúng con tin Ngôi Thứ Hai ra đời làm người, sinh bởi Bà Maria Đồng Trinh,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đặt tên là Giêsu, ở thế gian ba mươi ba năm, đoạn chịu chết trên cây Thánh giá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mà chuộc tội cho thiên hạ, đến ngày thứ ba Người </a:t>
            </a:r>
            <a:br>
              <a:rPr b="1" lang="en-US" sz="8400">
                <a:solidFill>
                  <a:schemeClr val="dk1"/>
                </a:solidFill>
                <a:latin typeface="Times New Roman"/>
                <a:ea typeface="Times New Roman"/>
                <a:cs typeface="Times New Roman"/>
                <a:sym typeface="Times New Roman"/>
              </a:rPr>
            </a:br>
            <a:r>
              <a:rPr b="1" lang="en-US" sz="8400">
                <a:solidFill>
                  <a:schemeClr val="dk1"/>
                </a:solidFill>
                <a:latin typeface="Times New Roman"/>
                <a:ea typeface="Times New Roman"/>
                <a:cs typeface="Times New Roman"/>
                <a:sym typeface="Times New Roman"/>
              </a:rPr>
              <a:t>sống lại;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khỏi bốn mươi ngày lên trời; đủ mười ngày lại cho Đức Chúa Thánh Thần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mà linh hồn là giống thiêng liêng chẳng hề chết đặng;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đến ngày tận thế  xác loài người ta sẽ sống lại mà chịu phán xét;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kẻ lành lên thiên đàng hưởng phúc đời đời; kẻ dữ sa hỏa ngục chịu phạt vô cùng.</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Mà chúng con tin các sự ấy mà thôi thì chưa đủ cho đặng lên </a:t>
            </a:r>
            <a:br>
              <a:rPr b="1" lang="en-US" sz="7400">
                <a:solidFill>
                  <a:schemeClr val="dk1"/>
                </a:solidFill>
                <a:latin typeface="Times New Roman"/>
                <a:ea typeface="Times New Roman"/>
                <a:cs typeface="Times New Roman"/>
                <a:sym typeface="Times New Roman"/>
              </a:rPr>
            </a:br>
            <a:r>
              <a:rPr b="1" lang="en-US" sz="7400">
                <a:solidFill>
                  <a:schemeClr val="dk1"/>
                </a:solidFill>
                <a:latin typeface="Times New Roman"/>
                <a:ea typeface="Times New Roman"/>
                <a:cs typeface="Times New Roman"/>
                <a:sym typeface="Times New Roman"/>
              </a:rPr>
              <a:t>thiên đàng;</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làm những việc lành phúc đức.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Nhân vì sự ấy, chúng con hằng phải sợ hãi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Chúa</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Giêsu đã truyền</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600"/>
              <a:buNone/>
            </a:pPr>
            <a:r>
              <a:rPr b="1" lang="en-US" sz="8600">
                <a:solidFill>
                  <a:schemeClr val="dk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1050"/>
              <a:buNone/>
            </a:pPr>
            <a:r>
              <a:t/>
            </a:r>
            <a:endParaRPr b="1" sz="1050">
              <a:solidFill>
                <a:schemeClr val="dk1"/>
              </a:solidFill>
              <a:latin typeface="Times New Roman"/>
              <a:ea typeface="Times New Roman"/>
              <a:cs typeface="Times New Roman"/>
              <a:sym typeface="Times New Roman"/>
            </a:endParaRPr>
          </a:p>
          <a:p>
            <a:pPr indent="0" lvl="0" marL="0" rtl="0" algn="just">
              <a:spcBef>
                <a:spcPts val="140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tin thật vững vàng mà giữ cẩn thận các điều trước này,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52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thì mới đặng hưởng  phúc thanh nhàn đời đời kiếp kiếp. </a:t>
            </a:r>
            <a:r>
              <a:rPr b="1" lang="en-US" sz="7600">
                <a:solidFill>
                  <a:srgbClr val="FF0000"/>
                </a:solidFill>
                <a:latin typeface="Times New Roman"/>
                <a:ea typeface="Times New Roman"/>
                <a:cs typeface="Times New Roman"/>
                <a:sym typeface="Times New Roman"/>
              </a:rPr>
              <a:t>Amen</a:t>
            </a:r>
            <a:r>
              <a:rPr b="1" lang="en-US" sz="7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4050"/>
              <a:buNone/>
            </a:pPr>
            <a:r>
              <a:rPr b="1" lang="en-US" sz="4050">
                <a:solidFill>
                  <a:srgbClr val="FF0000"/>
                </a:solidFill>
                <a:latin typeface="Times New Roman"/>
                <a:ea typeface="Times New Roman"/>
                <a:cs typeface="Times New Roman"/>
                <a:sym typeface="Times New Roman"/>
              </a:rPr>
              <a:t>Đạo Đức Chúa Trời có mười điều răn:</a:t>
            </a:r>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Thờ phượng một Đức Chúa Trời và kính mến người trên hết mọi sự</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050"/>
              <a:buNone/>
            </a:pPr>
            <a:r>
              <a:t/>
            </a:r>
            <a:endParaRPr b="1" sz="1050">
              <a:solidFill>
                <a:srgbClr val="FFC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Chớ kêu tên Đức Chúa Trời vô cớ</a:t>
            </a:r>
            <a:endParaRPr b="1" sz="6600">
              <a:solidFill>
                <a:schemeClr val="dk1"/>
              </a:solidFill>
              <a:latin typeface="Times New Roman"/>
              <a:ea typeface="Times New Roman"/>
              <a:cs typeface="Times New Roman"/>
              <a:sym typeface="Times New Roman"/>
            </a:endParaRPr>
          </a:p>
          <a:p>
            <a:pPr indent="0" lvl="0" marL="0" rtl="0" algn="just">
              <a:spcBef>
                <a:spcPts val="56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ba:</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Giữ ngày Chúa Nhật</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ctr">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bốn: </a:t>
            </a:r>
            <a:r>
              <a:rPr b="1" lang="en-US" sz="6600">
                <a:solidFill>
                  <a:schemeClr val="dk1"/>
                </a:solidFill>
                <a:latin typeface="Times New Roman"/>
                <a:ea typeface="Times New Roman"/>
                <a:cs typeface="Times New Roman"/>
                <a:sym typeface="Times New Roman"/>
              </a:rPr>
              <a:t>Thảo kính cha mẹ</a:t>
            </a:r>
            <a:endParaRPr b="1" sz="6000">
              <a:solidFill>
                <a:schemeClr val="dk1"/>
              </a:solidFill>
              <a:latin typeface="Times New Roman"/>
              <a:ea typeface="Times New Roman"/>
              <a:cs typeface="Times New Roman"/>
              <a:sym typeface="Times New Roman"/>
            </a:endParaRPr>
          </a:p>
          <a:p>
            <a:pPr indent="0" lvl="0" marL="0" rtl="0" algn="just">
              <a:spcBef>
                <a:spcPts val="72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600">
                <a:solidFill>
                  <a:schemeClr val="dk1"/>
                </a:solidFill>
                <a:latin typeface="Times New Roman"/>
                <a:ea typeface="Times New Roman"/>
                <a:cs typeface="Times New Roman"/>
                <a:sym typeface="Times New Roman"/>
              </a:rPr>
              <a:t>Chớ giết người</a:t>
            </a:r>
            <a:endParaRPr b="1" sz="6000">
              <a:solidFill>
                <a:schemeClr val="dk1"/>
              </a:solidFill>
              <a:latin typeface="Times New Roman"/>
              <a:ea typeface="Times New Roman"/>
              <a:cs typeface="Times New Roman"/>
              <a:sym typeface="Times New Roman"/>
            </a:endParaRPr>
          </a:p>
          <a:p>
            <a:pPr indent="0" lvl="0" marL="0" rtl="0" algn="just">
              <a:spcBef>
                <a:spcPts val="1080"/>
              </a:spcBef>
              <a:spcAft>
                <a:spcPts val="0"/>
              </a:spcAft>
              <a:buClr>
                <a:srgbClr val="888888"/>
              </a:buClr>
              <a:buSzPts val="5400"/>
              <a:buNone/>
            </a:pPr>
            <a:r>
              <a:t/>
            </a:r>
            <a:endParaRPr b="1" sz="54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sáu:</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làm sự dâm dục</a:t>
            </a:r>
            <a:endParaRPr b="1" sz="6000">
              <a:solidFill>
                <a:schemeClr val="dk1"/>
              </a:solidFill>
              <a:latin typeface="Times New Roman"/>
              <a:ea typeface="Times New Roman"/>
              <a:cs typeface="Times New Roman"/>
              <a:sym typeface="Times New Roman"/>
            </a:endParaRPr>
          </a:p>
          <a:p>
            <a:pPr indent="0" lvl="0" marL="0" rtl="0" algn="just">
              <a:spcBef>
                <a:spcPts val="64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lấy của người</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tám:</a:t>
            </a:r>
            <a:r>
              <a:rPr b="1" lang="en-US" sz="5700">
                <a:solidFill>
                  <a:schemeClr val="dk1"/>
                </a:solidFill>
                <a:latin typeface="Times New Roman"/>
                <a:ea typeface="Times New Roman"/>
                <a:cs typeface="Times New Roman"/>
                <a:sym typeface="Times New Roman"/>
              </a:rPr>
              <a:t> Chớ làm chứng dối</a:t>
            </a:r>
            <a:endParaRPr/>
          </a:p>
          <a:p>
            <a:pPr indent="0" lvl="0" marL="0" rtl="0" algn="just">
              <a:spcBef>
                <a:spcPts val="40"/>
              </a:spcBef>
              <a:spcAft>
                <a:spcPts val="0"/>
              </a:spcAft>
              <a:buClr>
                <a:srgbClr val="888888"/>
              </a:buClr>
              <a:buSzPts val="200"/>
              <a:buNone/>
            </a:pPr>
            <a:r>
              <a:t/>
            </a:r>
            <a:endParaRPr b="1" sz="200">
              <a:solidFill>
                <a:srgbClr val="FF0000"/>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chín:</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muốn vợ</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chồng người</a:t>
            </a:r>
            <a:endParaRPr b="1" sz="5700">
              <a:solidFill>
                <a:schemeClr val="dk1"/>
              </a:solidFill>
              <a:latin typeface="Times New Roman"/>
              <a:ea typeface="Times New Roman"/>
              <a:cs typeface="Times New Roman"/>
              <a:sym typeface="Times New Roman"/>
            </a:endParaRPr>
          </a:p>
          <a:p>
            <a:pPr indent="0" lvl="0" marL="0" rtl="0" algn="just">
              <a:spcBef>
                <a:spcPts val="120"/>
              </a:spcBef>
              <a:spcAft>
                <a:spcPts val="0"/>
              </a:spcAft>
              <a:buClr>
                <a:srgbClr val="888888"/>
              </a:buClr>
              <a:buSzPts val="600"/>
              <a:buNone/>
            </a:pPr>
            <a:r>
              <a:t/>
            </a:r>
            <a:endParaRPr b="1" sz="600">
              <a:solidFill>
                <a:schemeClr val="dk1"/>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mười:</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tham </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của người</a:t>
            </a:r>
            <a:endParaRPr sz="5700">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Mười điều răn ấy tóm về hai này mà chớ: </a:t>
            </a:r>
            <a:r>
              <a:rPr b="1" lang="en-US" sz="6800">
                <a:solidFill>
                  <a:srgbClr val="FF0000"/>
                </a:solidFill>
                <a:latin typeface="Times New Roman"/>
                <a:ea typeface="Times New Roman"/>
                <a:cs typeface="Times New Roman"/>
                <a:sym typeface="Times New Roman"/>
              </a:rPr>
              <a:t>trước</a:t>
            </a:r>
            <a:r>
              <a:rPr b="1" lang="en-US" sz="6800">
                <a:solidFill>
                  <a:schemeClr val="dk1"/>
                </a:solidFill>
                <a:latin typeface="Times New Roman"/>
                <a:ea typeface="Times New Roman"/>
                <a:cs typeface="Times New Roman"/>
                <a:sym typeface="Times New Roman"/>
              </a:rPr>
              <a:t> kính mến một Đức Chúa Trời trên hết mọi sự</a:t>
            </a:r>
            <a:endParaRPr b="1" i="1" sz="6800">
              <a:solidFill>
                <a:schemeClr val="dk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8800"/>
              <a:buNone/>
            </a:pPr>
            <a:r>
              <a:t/>
            </a:r>
            <a:endParaRPr b="1" sz="8800">
              <a:solidFill>
                <a:srgbClr val="FF0000"/>
              </a:solidFill>
              <a:latin typeface="Times New Roman"/>
              <a:ea typeface="Times New Roman"/>
              <a:cs typeface="Times New Roman"/>
              <a:sym typeface="Times New Roman"/>
            </a:endParaRPr>
          </a:p>
          <a:p>
            <a:pPr indent="0" lvl="0" marL="0" rtl="0" algn="just">
              <a:spcBef>
                <a:spcPts val="0"/>
              </a:spcBef>
              <a:spcAft>
                <a:spcPts val="0"/>
              </a:spcAft>
              <a:buClr>
                <a:srgbClr val="FF0000"/>
              </a:buClr>
              <a:buSzPts val="6800"/>
              <a:buNone/>
            </a:pPr>
            <a:r>
              <a:rPr b="1" lang="en-US" sz="6800">
                <a:solidFill>
                  <a:srgbClr val="FF0000"/>
                </a:solidFill>
                <a:latin typeface="Times New Roman"/>
                <a:ea typeface="Times New Roman"/>
                <a:cs typeface="Times New Roman"/>
                <a:sym typeface="Times New Roman"/>
              </a:rPr>
              <a:t>sau</a:t>
            </a:r>
            <a:r>
              <a:rPr b="1" lang="en-US" sz="6800">
                <a:solidFill>
                  <a:schemeClr val="dk1"/>
                </a:solidFill>
                <a:latin typeface="Times New Roman"/>
                <a:ea typeface="Times New Roman"/>
                <a:cs typeface="Times New Roman"/>
                <a:sym typeface="Times New Roman"/>
              </a:rPr>
              <a:t> lại yêu người như mình ta vậy. </a:t>
            </a:r>
            <a:r>
              <a:rPr b="1" i="1" lang="en-US" sz="6800">
                <a:solidFill>
                  <a:srgbClr val="FF0000"/>
                </a:solidFill>
                <a:latin typeface="Times New Roman"/>
                <a:ea typeface="Times New Roman"/>
                <a:cs typeface="Times New Roman"/>
                <a:sym typeface="Times New Roman"/>
              </a:rPr>
              <a:t>Amen</a:t>
            </a:r>
            <a:r>
              <a:rPr b="1" i="1" lang="en-US" sz="68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4500"/>
              <a:buNone/>
            </a:pPr>
            <a:r>
              <a:rPr b="1" lang="en-US" sz="4500">
                <a:solidFill>
                  <a:srgbClr val="FF0000"/>
                </a:solidFill>
                <a:latin typeface="Times New Roman"/>
                <a:ea typeface="Times New Roman"/>
                <a:cs typeface="Times New Roman"/>
                <a:sym typeface="Times New Roman"/>
              </a:rPr>
              <a:t>Hội Thánh có năm điều răn:</a:t>
            </a:r>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Thứ nhất: </a:t>
            </a:r>
            <a:r>
              <a:rPr b="1" lang="en-US" sz="7200">
                <a:solidFill>
                  <a:schemeClr val="dk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xưng tội trong một năm ít là một lần;</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ba: </a:t>
            </a:r>
            <a:r>
              <a:rPr b="1" lang="en-US" sz="6600">
                <a:solidFill>
                  <a:schemeClr val="dk1"/>
                </a:solidFill>
                <a:latin typeface="Times New Roman"/>
                <a:ea typeface="Times New Roman"/>
                <a:cs typeface="Times New Roman"/>
                <a:sym typeface="Times New Roman"/>
              </a:rPr>
              <a:t>rước Mình Thánh Chúa trong mùa Phục Sinh;</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bốn: </a:t>
            </a:r>
            <a:r>
              <a:rPr b="1" lang="en-US" sz="5400">
                <a:solidFill>
                  <a:schemeClr val="dk1"/>
                </a:solidFill>
                <a:latin typeface="Times New Roman"/>
                <a:ea typeface="Times New Roman"/>
                <a:cs typeface="Times New Roman"/>
                <a:sym typeface="Times New Roman"/>
              </a:rPr>
              <a:t>giữ chay và kiêng thịt những ngày Hội Thánh buộc;</a:t>
            </a:r>
            <a:endParaRPr/>
          </a:p>
          <a:p>
            <a:pPr indent="0" lvl="0" marL="0" rtl="0" algn="just">
              <a:spcBef>
                <a:spcPts val="108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năm: </a:t>
            </a:r>
            <a:r>
              <a:rPr b="1" lang="en-US" sz="5400">
                <a:solidFill>
                  <a:schemeClr val="dk1"/>
                </a:solidFill>
                <a:latin typeface="Times New Roman"/>
                <a:ea typeface="Times New Roman"/>
                <a:cs typeface="Times New Roman"/>
                <a:sym typeface="Times New Roman"/>
              </a:rPr>
              <a:t>góp công góp của xây dựng Hội Thánh, tùy theo khả năng của mình.</a:t>
            </a:r>
            <a:endParaRPr sz="5400">
              <a:solidFill>
                <a:schemeClr val="dk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rgbClr val="FF0000"/>
              </a:buClr>
              <a:buSzPct val="100000"/>
              <a:buNone/>
            </a:pPr>
            <a:r>
              <a:rPr b="1" lang="en-US" sz="4800">
                <a:solidFill>
                  <a:srgbClr val="FF0000"/>
                </a:solidFill>
                <a:latin typeface="Times New Roman"/>
                <a:ea typeface="Times New Roman"/>
                <a:cs typeface="Times New Roman"/>
                <a:sym typeface="Times New Roman"/>
              </a:rPr>
              <a:t>Đạo Đức Chúa Trời có bảy phép Bí tích:</a:t>
            </a:r>
            <a:endParaRPr b="1" sz="4800">
              <a:solidFill>
                <a:srgbClr val="FEFEFE"/>
              </a:solidFill>
              <a:latin typeface="Times New Roman"/>
              <a:ea typeface="Times New Roman"/>
              <a:cs typeface="Times New Roman"/>
              <a:sym typeface="Times New Roman"/>
            </a:endParaRPr>
          </a:p>
          <a:p>
            <a:pPr indent="0" lvl="0" marL="0" rtl="0" algn="just">
              <a:spcBef>
                <a:spcPts val="1534"/>
              </a:spcBef>
              <a:spcAft>
                <a:spcPts val="0"/>
              </a:spcAft>
              <a:buClr>
                <a:srgbClr val="FF0000"/>
              </a:buClr>
              <a:buSzPct val="100000"/>
              <a:buNone/>
            </a:pPr>
            <a:r>
              <a:rPr b="1" lang="en-US" sz="9900">
                <a:solidFill>
                  <a:srgbClr val="FF0000"/>
                </a:solidFill>
                <a:latin typeface="Times New Roman"/>
                <a:ea typeface="Times New Roman"/>
                <a:cs typeface="Times New Roman"/>
                <a:sym typeface="Times New Roman"/>
              </a:rPr>
              <a:t>Thứ nhất: </a:t>
            </a:r>
            <a:r>
              <a:rPr b="1" lang="en-US" sz="9900">
                <a:solidFill>
                  <a:schemeClr val="dk1"/>
                </a:solidFill>
                <a:latin typeface="Times New Roman"/>
                <a:ea typeface="Times New Roman"/>
                <a:cs typeface="Times New Roman"/>
                <a:sym typeface="Times New Roman"/>
              </a:rPr>
              <a:t>là phép Rửa tội.</a:t>
            </a:r>
            <a:endParaRPr/>
          </a:p>
          <a:p>
            <a:pPr indent="0" lvl="0" marL="0" rtl="0" algn="just">
              <a:spcBef>
                <a:spcPts val="1534"/>
              </a:spcBef>
              <a:spcAft>
                <a:spcPts val="0"/>
              </a:spcAft>
              <a:buClr>
                <a:srgbClr val="FF0000"/>
              </a:buClr>
              <a:buSzPct val="100000"/>
              <a:buNone/>
            </a:pPr>
            <a:br>
              <a:rPr b="1" lang="en-US" sz="4100">
                <a:solidFill>
                  <a:srgbClr val="FF0000"/>
                </a:solidFill>
                <a:latin typeface="Times New Roman"/>
                <a:ea typeface="Times New Roman"/>
                <a:cs typeface="Times New Roman"/>
                <a:sym typeface="Times New Roman"/>
              </a:rPr>
            </a:br>
            <a:r>
              <a:rPr b="1" lang="en-US" sz="9900">
                <a:solidFill>
                  <a:srgbClr val="FF0000"/>
                </a:solidFill>
                <a:latin typeface="Times New Roman"/>
                <a:ea typeface="Times New Roman"/>
                <a:cs typeface="Times New Roman"/>
                <a:sym typeface="Times New Roman"/>
              </a:rPr>
              <a:t>Thứ hai: </a:t>
            </a:r>
            <a:r>
              <a:rPr b="1" lang="en-US" sz="9900">
                <a:solidFill>
                  <a:schemeClr val="dk1"/>
                </a:solidFill>
                <a:latin typeface="Times New Roman"/>
                <a:ea typeface="Times New Roman"/>
                <a:cs typeface="Times New Roman"/>
                <a:sym typeface="Times New Roman"/>
              </a:rPr>
              <a:t>là phép Thêm sức.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8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rgbClr val="888888"/>
              </a:buClr>
              <a:buSzPct val="100000"/>
              <a:buNone/>
            </a:pPr>
            <a:r>
              <a:t/>
            </a:r>
            <a:endParaRPr b="1" sz="4300">
              <a:solidFill>
                <a:srgbClr val="FF0000"/>
              </a:solidFill>
              <a:latin typeface="Times New Roman"/>
              <a:ea typeface="Times New Roman"/>
              <a:cs typeface="Times New Roman"/>
              <a:sym typeface="Times New Roman"/>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ba: </a:t>
            </a:r>
            <a:r>
              <a:rPr b="1" lang="en-US" sz="8000">
                <a:solidFill>
                  <a:schemeClr val="dk1"/>
                </a:solidFill>
                <a:latin typeface="Times New Roman"/>
                <a:ea typeface="Times New Roman"/>
                <a:cs typeface="Times New Roman"/>
                <a:sym typeface="Times New Roman"/>
              </a:rPr>
              <a:t>là phép Mình Thánh Chúa.</a:t>
            </a:r>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bốn: </a:t>
            </a:r>
            <a:r>
              <a:rPr b="1" lang="en-US" sz="8000">
                <a:solidFill>
                  <a:schemeClr val="dk1"/>
                </a:solidFill>
                <a:latin typeface="Times New Roman"/>
                <a:ea typeface="Times New Roman"/>
                <a:cs typeface="Times New Roman"/>
                <a:sym typeface="Times New Roman"/>
              </a:rPr>
              <a:t>là phép Giải tội.</a:t>
            </a:r>
            <a:endParaRPr b="1" sz="600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năm: </a:t>
            </a:r>
            <a:r>
              <a:rPr b="1" lang="en-US" sz="5800">
                <a:solidFill>
                  <a:srgbClr val="0C0C0C"/>
                </a:solidFill>
                <a:latin typeface="Times New Roman"/>
                <a:ea typeface="Times New Roman"/>
                <a:cs typeface="Times New Roman"/>
                <a:sym typeface="Times New Roman"/>
              </a:rPr>
              <a:t>là phép Xức dầu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sáu: </a:t>
            </a:r>
            <a:r>
              <a:rPr b="1" lang="en-US" sz="5800">
                <a:solidFill>
                  <a:srgbClr val="0C0C0C"/>
                </a:solidFill>
                <a:latin typeface="Times New Roman"/>
                <a:ea typeface="Times New Roman"/>
                <a:cs typeface="Times New Roman"/>
                <a:sym typeface="Times New Roman"/>
              </a:rPr>
              <a:t>là phép Truyền chức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bảy: </a:t>
            </a:r>
            <a:r>
              <a:rPr b="1" lang="en-US" sz="5800">
                <a:solidFill>
                  <a:srgbClr val="0C0C0C"/>
                </a:solidFill>
                <a:latin typeface="Times New Roman"/>
                <a:ea typeface="Times New Roman"/>
                <a:cs typeface="Times New Roman"/>
                <a:sym typeface="Times New Roman"/>
              </a:rPr>
              <a:t>là phép Hôn phối.</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8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rgbClr val="FFC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lang="en-US" sz="4950">
                <a:solidFill>
                  <a:srgbClr val="FF0000"/>
                </a:solidFill>
                <a:latin typeface="Times New Roman"/>
                <a:ea typeface="Times New Roman"/>
                <a:cs typeface="Times New Roman"/>
                <a:sym typeface="Times New Roman"/>
              </a:rPr>
              <a:t>Thương người có mười bốn mối</a:t>
            </a:r>
            <a:endParaRPr b="1" sz="4950">
              <a:solidFill>
                <a:srgbClr val="FF0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i="1" lang="en-US" sz="4950">
                <a:solidFill>
                  <a:srgbClr val="FF0000"/>
                </a:solidFill>
                <a:latin typeface="Times New Roman"/>
                <a:ea typeface="Times New Roman"/>
                <a:cs typeface="Times New Roman"/>
                <a:sym typeface="Times New Roman"/>
              </a:rPr>
              <a:t>Thương xác bảy mối:</a:t>
            </a:r>
            <a:endParaRPr b="1" sz="49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nhất: </a:t>
            </a:r>
            <a:r>
              <a:rPr b="1" lang="en-US" sz="6450">
                <a:solidFill>
                  <a:schemeClr val="dk1"/>
                </a:solidFill>
                <a:latin typeface="Times New Roman"/>
                <a:ea typeface="Times New Roman"/>
                <a:cs typeface="Times New Roman"/>
                <a:sym typeface="Times New Roman"/>
              </a:rPr>
              <a:t>Cho kẻ đói ăn</a:t>
            </a:r>
            <a:endParaRPr b="1" sz="64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hai: </a:t>
            </a:r>
            <a:r>
              <a:rPr b="1" lang="en-US" sz="6450">
                <a:solidFill>
                  <a:schemeClr val="dk1"/>
                </a:solidFill>
                <a:latin typeface="Times New Roman"/>
                <a:ea typeface="Times New Roman"/>
                <a:cs typeface="Times New Roman"/>
                <a:sym typeface="Times New Roman"/>
              </a:rPr>
              <a:t>Cho kẻ khát uống</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Cho kẻ rách rưới ăn mặc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Viếng kẻ liệt cùng kẻ tù rạc</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1400"/>
              <a:buNone/>
            </a:pPr>
            <a:r>
              <a:t/>
            </a:r>
            <a:endParaRPr b="1" sz="1400">
              <a:solidFill>
                <a:srgbClr val="FF0000"/>
              </a:solidFill>
              <a:latin typeface="Times New Roman"/>
              <a:ea typeface="Times New Roman"/>
              <a:cs typeface="Times New Roman"/>
              <a:sym typeface="Times New Roman"/>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Cho khách đỗ nhà</a:t>
            </a:r>
            <a:endParaRPr/>
          </a:p>
          <a:p>
            <a:pPr indent="0" lvl="0" marL="0" rtl="0" algn="l">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Chuộc kẻ làm tôi</a:t>
            </a:r>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5400">
                <a:solidFill>
                  <a:srgbClr val="FF0000"/>
                </a:solidFill>
                <a:latin typeface="Times New Roman"/>
                <a:ea typeface="Times New Roman"/>
                <a:cs typeface="Times New Roman"/>
                <a:sym typeface="Times New Roman"/>
              </a:rPr>
              <a:t> </a:t>
            </a:r>
            <a:r>
              <a:rPr b="1" lang="en-US" sz="6200">
                <a:solidFill>
                  <a:schemeClr val="dk1"/>
                </a:solidFill>
                <a:latin typeface="Times New Roman"/>
                <a:ea typeface="Times New Roman"/>
                <a:cs typeface="Times New Roman"/>
                <a:sym typeface="Times New Roman"/>
              </a:rPr>
              <a:t>Chôn xác kẻ chết</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825"/>
              <a:buNone/>
            </a:pPr>
            <a:r>
              <a:t/>
            </a:r>
            <a:endParaRPr b="1" sz="825">
              <a:solidFill>
                <a:srgbClr val="FEFEFE"/>
              </a:solidFill>
              <a:latin typeface="Times New Roman"/>
              <a:ea typeface="Times New Roman"/>
              <a:cs typeface="Times New Roman"/>
              <a:sym typeface="Times New Roman"/>
            </a:endParaRPr>
          </a:p>
          <a:p>
            <a:pPr indent="0" lvl="0" marL="0" rtl="0" algn="just">
              <a:spcBef>
                <a:spcPts val="1080"/>
              </a:spcBef>
              <a:spcAft>
                <a:spcPts val="0"/>
              </a:spcAft>
              <a:buClr>
                <a:srgbClr val="FEFEFE"/>
              </a:buClr>
              <a:buSzPts val="5400"/>
              <a:buNone/>
            </a:pPr>
            <a:r>
              <a:rPr b="1" i="1" lang="en-US" sz="5400">
                <a:solidFill>
                  <a:srgbClr val="FEFEFE"/>
                </a:solidFill>
                <a:latin typeface="Times New Roman"/>
                <a:ea typeface="Times New Roman"/>
                <a:cs typeface="Times New Roman"/>
                <a:sym typeface="Times New Roman"/>
              </a:rPr>
              <a:t>	</a:t>
            </a:r>
            <a:r>
              <a:rPr b="1" i="1" lang="en-US" sz="5400">
                <a:solidFill>
                  <a:srgbClr val="FF0000"/>
                </a:solidFill>
                <a:latin typeface="Times New Roman"/>
                <a:ea typeface="Times New Roman"/>
                <a:cs typeface="Times New Roman"/>
                <a:sym typeface="Times New Roman"/>
              </a:rPr>
              <a:t>Thương linh hồn bảy mối:</a:t>
            </a:r>
            <a:endParaRPr b="1" i="1" sz="5400">
              <a:solidFill>
                <a:srgbClr val="FF0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Lấy lời lành khuyên người</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hai: </a:t>
            </a:r>
            <a:r>
              <a:rPr b="1" lang="en-US" sz="6600">
                <a:solidFill>
                  <a:schemeClr val="dk1"/>
                </a:solidFill>
                <a:latin typeface="Times New Roman"/>
                <a:ea typeface="Times New Roman"/>
                <a:cs typeface="Times New Roman"/>
                <a:sym typeface="Times New Roman"/>
              </a:rPr>
              <a:t>Mở dạy kẻ mê muội</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2400"/>
              <a:buNone/>
            </a:pPr>
            <a:r>
              <a:t/>
            </a:r>
            <a:endParaRPr b="1" sz="2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An ủi kẻ âu lo</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br>
              <a:rPr b="1" lang="en-US" sz="7200">
                <a:solidFill>
                  <a:srgbClr val="FF0000"/>
                </a:solidFill>
                <a:latin typeface="Times New Roman"/>
                <a:ea typeface="Times New Roman"/>
                <a:cs typeface="Times New Roman"/>
                <a:sym typeface="Times New Roman"/>
              </a:rPr>
            </a:b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Răn bảo kẻ có tội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Tha kẻ dể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Nhịn kẻ mất lòng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bảy: </a:t>
            </a:r>
            <a:r>
              <a:rPr b="1" lang="en-US" sz="6200">
                <a:solidFill>
                  <a:schemeClr val="dk1"/>
                </a:solidFill>
                <a:latin typeface="Times New Roman"/>
                <a:ea typeface="Times New Roman"/>
                <a:cs typeface="Times New Roman"/>
                <a:sym typeface="Times New Roman"/>
              </a:rPr>
              <a:t>Cầu cho kẻ sống và kẻ chết</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just">
              <a:spcBef>
                <a:spcPts val="0"/>
              </a:spcBef>
              <a:spcAft>
                <a:spcPts val="0"/>
              </a:spcAft>
              <a:buClr>
                <a:srgbClr val="FEFEFE"/>
              </a:buClr>
              <a:buSzPct val="100000"/>
              <a:buNone/>
            </a:pPr>
            <a:r>
              <a:rPr b="1" lang="en-US" sz="4950">
                <a:solidFill>
                  <a:srgbClr val="FEFEFE"/>
                </a:solidFill>
                <a:latin typeface="Times New Roman"/>
                <a:ea typeface="Times New Roman"/>
                <a:cs typeface="Times New Roman"/>
                <a:sym typeface="Times New Roman"/>
              </a:rPr>
              <a:t>	</a:t>
            </a:r>
            <a:r>
              <a:rPr b="1" lang="en-US" sz="4950">
                <a:solidFill>
                  <a:srgbClr val="FF0000"/>
                </a:solidFill>
                <a:latin typeface="Times New Roman"/>
                <a:ea typeface="Times New Roman"/>
                <a:cs typeface="Times New Roman"/>
                <a:sym typeface="Times New Roman"/>
              </a:rPr>
              <a:t>Cải tội bảy mối có bảy đức</a:t>
            </a:r>
            <a:endParaRPr/>
          </a:p>
          <a:p>
            <a:pPr indent="0" lvl="0" marL="0" rtl="0" algn="l">
              <a:spcBef>
                <a:spcPts val="1445"/>
              </a:spcBef>
              <a:spcAft>
                <a:spcPts val="0"/>
              </a:spcAft>
              <a:buClr>
                <a:srgbClr val="FF0000"/>
              </a:buClr>
              <a:buSzPct val="100000"/>
              <a:buNone/>
            </a:pPr>
            <a:r>
              <a:rPr b="1" lang="en-US" sz="8500">
                <a:solidFill>
                  <a:srgbClr val="FF0000"/>
                </a:solidFill>
                <a:latin typeface="Times New Roman"/>
                <a:ea typeface="Times New Roman"/>
                <a:cs typeface="Times New Roman"/>
                <a:sym typeface="Times New Roman"/>
              </a:rPr>
              <a:t>Thứ nhất: </a:t>
            </a:r>
            <a:r>
              <a:rPr b="1" lang="en-US" sz="8500">
                <a:solidFill>
                  <a:schemeClr val="dk1"/>
                </a:solidFill>
                <a:latin typeface="Times New Roman"/>
                <a:ea typeface="Times New Roman"/>
                <a:cs typeface="Times New Roman"/>
                <a:sym typeface="Times New Roman"/>
              </a:rPr>
              <a:t>Khiêm nhượng, chớ kiêu ngạo</a:t>
            </a:r>
            <a:endParaRPr/>
          </a:p>
          <a:p>
            <a:pPr indent="0" lvl="0" marL="0" rtl="0" algn="l">
              <a:spcBef>
                <a:spcPts val="1445"/>
              </a:spcBef>
              <a:spcAft>
                <a:spcPts val="0"/>
              </a:spcAft>
              <a:buClr>
                <a:srgbClr val="FF0000"/>
              </a:buClr>
              <a:buSzPct val="100000"/>
              <a:buNone/>
            </a:pPr>
            <a:r>
              <a:rPr b="1" lang="en-US" sz="8500">
                <a:solidFill>
                  <a:srgbClr val="FF0000"/>
                </a:solidFill>
                <a:latin typeface="Times New Roman"/>
                <a:ea typeface="Times New Roman"/>
                <a:cs typeface="Times New Roman"/>
                <a:sym typeface="Times New Roman"/>
              </a:rPr>
              <a:t>Thứ hai: </a:t>
            </a:r>
            <a:r>
              <a:rPr b="1" lang="en-US" sz="8500">
                <a:solidFill>
                  <a:schemeClr val="dk1"/>
                </a:solidFill>
                <a:latin typeface="Times New Roman"/>
                <a:ea typeface="Times New Roman"/>
                <a:cs typeface="Times New Roman"/>
                <a:sym typeface="Times New Roman"/>
              </a:rPr>
              <a:t>Rộng rãi, chớ hà tiện</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ba: </a:t>
            </a:r>
            <a:r>
              <a:rPr b="1" lang="en-US" sz="6500">
                <a:solidFill>
                  <a:schemeClr val="dk1"/>
                </a:solidFill>
                <a:latin typeface="Times New Roman"/>
                <a:ea typeface="Times New Roman"/>
                <a:cs typeface="Times New Roman"/>
                <a:sym typeface="Times New Roman"/>
              </a:rPr>
              <a:t>Giữ mình sạch sẽ, chớ mê dâm dục</a:t>
            </a:r>
            <a:endParaRPr b="1" sz="6500">
              <a:solidFill>
                <a:schemeClr val="dk1"/>
              </a:solidFill>
              <a:latin typeface="Times New Roman"/>
              <a:ea typeface="Times New Roman"/>
              <a:cs typeface="Times New Roman"/>
              <a:sym typeface="Times New Roman"/>
            </a:endParaRPr>
          </a:p>
          <a:p>
            <a:pPr indent="0" lvl="0" marL="0" rtl="0" algn="just">
              <a:spcBef>
                <a:spcPts val="1202"/>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bốn: </a:t>
            </a:r>
            <a:r>
              <a:rPr b="1" lang="en-US" sz="6500">
                <a:solidFill>
                  <a:schemeClr val="dk1"/>
                </a:solidFill>
                <a:latin typeface="Times New Roman"/>
                <a:ea typeface="Times New Roman"/>
                <a:cs typeface="Times New Roman"/>
                <a:sym typeface="Times New Roman"/>
              </a:rPr>
              <a:t>Hay nhịn, Chớ hờn giận</a:t>
            </a:r>
            <a:endParaRPr b="1" sz="6500">
              <a:solidFill>
                <a:schemeClr val="dk1"/>
              </a:solidFill>
              <a:latin typeface="Times New Roman"/>
              <a:ea typeface="Times New Roman"/>
              <a:cs typeface="Times New Roman"/>
              <a:sym typeface="Times New Roman"/>
            </a:endParaRPr>
          </a:p>
          <a:p>
            <a:pPr indent="0" lvl="0" marL="0" rtl="0" algn="just">
              <a:spcBef>
                <a:spcPts val="1202"/>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năm: </a:t>
            </a:r>
            <a:r>
              <a:rPr b="1" lang="en-US" sz="6500">
                <a:solidFill>
                  <a:schemeClr val="dk1"/>
                </a:solidFill>
                <a:latin typeface="Times New Roman"/>
                <a:ea typeface="Times New Roman"/>
                <a:cs typeface="Times New Roman"/>
                <a:sym typeface="Times New Roman"/>
              </a:rPr>
              <a:t>Kiêng bớt, chớ mê ăn uống</a:t>
            </a:r>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9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sáu: </a:t>
            </a:r>
            <a:r>
              <a:rPr b="1" lang="en-US" sz="6600">
                <a:solidFill>
                  <a:schemeClr val="dk1"/>
                </a:solidFill>
                <a:latin typeface="Times New Roman"/>
                <a:ea typeface="Times New Roman"/>
                <a:cs typeface="Times New Roman"/>
                <a:sym typeface="Times New Roman"/>
              </a:rPr>
              <a:t>Yêu người, chớ ghen ghét</a:t>
            </a:r>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 </a:t>
            </a:r>
            <a:r>
              <a:rPr b="1" lang="en-US" sz="6600">
                <a:solidFill>
                  <a:schemeClr val="dk1"/>
                </a:solidFill>
                <a:latin typeface="Times New Roman"/>
                <a:ea typeface="Times New Roman"/>
                <a:cs typeface="Times New Roman"/>
                <a:sym typeface="Times New Roman"/>
              </a:rPr>
              <a:t>Siêng năng việc Đức Chúa Trời, chớ làm biếng</a:t>
            </a:r>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EFEFE"/>
              </a:buClr>
              <a:buSzPts val="4950"/>
              <a:buNone/>
            </a:pPr>
            <a:r>
              <a:rPr b="1" lang="en-US" sz="4950">
                <a:solidFill>
                  <a:srgbClr val="FEFEFE"/>
                </a:solidFill>
                <a:latin typeface="Times New Roman"/>
                <a:ea typeface="Times New Roman"/>
                <a:cs typeface="Times New Roman"/>
                <a:sym typeface="Times New Roman"/>
              </a:rPr>
              <a:t>		</a:t>
            </a:r>
            <a:r>
              <a:rPr b="1" lang="en-US" sz="5400">
                <a:solidFill>
                  <a:srgbClr val="FF0000"/>
                </a:solidFill>
                <a:latin typeface="Times New Roman"/>
                <a:ea typeface="Times New Roman"/>
                <a:cs typeface="Times New Roman"/>
                <a:sym typeface="Times New Roman"/>
              </a:rPr>
              <a:t>Phước Thật Tám Mối</a:t>
            </a:r>
            <a:endParaRPr b="1">
              <a:solidFill>
                <a:srgbClr val="FF0000"/>
              </a:solidFill>
              <a:latin typeface="Times New Roman"/>
              <a:ea typeface="Times New Roman"/>
              <a:cs typeface="Times New Roman"/>
              <a:sym typeface="Times New Roman"/>
            </a:endParaRPr>
          </a:p>
          <a:p>
            <a:pPr indent="0" lvl="0" marL="0" rtl="0" algn="just">
              <a:spcBef>
                <a:spcPts val="120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a:t>
            </a:r>
            <a:r>
              <a:rPr b="1" lang="en-US" sz="6000">
                <a:solidFill>
                  <a:srgbClr val="FEFEFE"/>
                </a:solidFill>
                <a:latin typeface="Times New Roman"/>
                <a:ea typeface="Times New Roman"/>
                <a:cs typeface="Times New Roman"/>
                <a:sym typeface="Times New Roman"/>
              </a:rPr>
              <a:t>	</a:t>
            </a:r>
            <a:r>
              <a:rPr b="1" lang="en-US" sz="6000">
                <a:solidFill>
                  <a:schemeClr val="dk1"/>
                </a:solidFill>
                <a:latin typeface="Times New Roman"/>
                <a:ea typeface="Times New Roman"/>
                <a:cs typeface="Times New Roman"/>
                <a:sym typeface="Times New Roman"/>
              </a:rPr>
              <a:t>Ai có lòng khó khăn, ấy là phúc thật, vì chưng nước Đức Chúa Trời là của mình vậy.</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9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hai:</a:t>
            </a:r>
            <a:r>
              <a:rPr b="1" lang="en-US" sz="7200">
                <a:solidFill>
                  <a:schemeClr val="dk1"/>
                </a:solidFill>
                <a:latin typeface="Times New Roman"/>
                <a:ea typeface="Times New Roman"/>
                <a:cs typeface="Times New Roman"/>
                <a:sym typeface="Times New Roman"/>
              </a:rPr>
              <a:t> Ai hiền lành, ấy là phúc thật, vì chưng sẽ được đất Đức Chúa Trời làm của mình vậy.</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8000"/>
              <a:buNone/>
            </a:pPr>
            <a:r>
              <a:rPr b="1" lang="en-US" sz="8000">
                <a:solidFill>
                  <a:srgbClr val="FF0000"/>
                </a:solidFill>
                <a:latin typeface="Times New Roman"/>
                <a:ea typeface="Times New Roman"/>
                <a:cs typeface="Times New Roman"/>
                <a:sym typeface="Times New Roman"/>
              </a:rPr>
              <a:t>Thứ ba:</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khóc lóc, ấy là phúc thật, vì chưng sẽ được yên ủi vậy.</a:t>
            </a:r>
            <a:endParaRPr sz="1800">
              <a:solidFill>
                <a:srgbClr val="FFC000"/>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khao khát nhân đức trọn lành, ấy là phúc thật, vì chưng sẽ được no đủ vậy.</a:t>
            </a:r>
            <a:endParaRPr sz="1600">
              <a:solidFill>
                <a:srgbClr val="FFC000"/>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a:bodyPr>
          <a:lstStyle/>
          <a:p>
            <a:pPr indent="0" lvl="0" marL="0" rtl="0" algn="just">
              <a:spcBef>
                <a:spcPts val="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Thứ năm:</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thương xót người, ấy là phúc thật, vì chưng mình sẽ được thương xót vậy.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sáu:</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giữ lòng sạch sẽ, ấy là phúc thật, vì chưng sẽ được thấy mặt Đức Chúa Trời vậy.</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bảy:</a:t>
            </a:r>
            <a:r>
              <a:rPr b="1" lang="en-US" sz="6600">
                <a:solidFill>
                  <a:schemeClr val="dk1"/>
                </a:solidFill>
                <a:latin typeface="Times New Roman"/>
                <a:ea typeface="Times New Roman"/>
                <a:cs typeface="Times New Roman"/>
                <a:sym typeface="Times New Roman"/>
              </a:rPr>
              <a:t>	Ai làm cho người hòa thuận, ấy là phúc thật, vì chưng sẽ được gọi là con Đức Chúa Trời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tám:</a:t>
            </a:r>
            <a:r>
              <a:rPr b="1" lang="en-US" sz="6600">
                <a:solidFill>
                  <a:srgbClr val="FFC000"/>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Ai chịu khốn nạn vì đạo ngay, ấy là phúc thật, vì chưng nước Đức Chúa Trời là của mình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500">
                <a:solidFill>
                  <a:srgbClr val="FF0000"/>
                </a:solidFill>
                <a:latin typeface="Times New Roman"/>
                <a:ea typeface="Times New Roman"/>
                <a:cs typeface="Times New Roman"/>
                <a:sym typeface="Times New Roman"/>
              </a:rPr>
              <a:t>KINH NĂM THÁNH 2025</a:t>
            </a:r>
            <a:endParaRPr b="1" sz="1650">
              <a:solidFill>
                <a:srgbClr val="FFC000"/>
              </a:solidFill>
              <a:latin typeface="Times New Roman"/>
              <a:ea typeface="Times New Roman"/>
              <a:cs typeface="Times New Roman"/>
              <a:sym typeface="Times New Roman"/>
            </a:endParaRPr>
          </a:p>
          <a:p>
            <a:pPr indent="0" lvl="0" marL="0" rtl="0" algn="l">
              <a:spcBef>
                <a:spcPts val="1406"/>
              </a:spcBef>
              <a:spcAft>
                <a:spcPts val="0"/>
              </a:spcAft>
              <a:buClr>
                <a:schemeClr val="dk1"/>
              </a:buClr>
              <a:buSzPct val="100000"/>
              <a:buNone/>
            </a:pPr>
            <a:r>
              <a:rPr b="1" lang="en-US" sz="7600">
                <a:solidFill>
                  <a:schemeClr val="dk1"/>
                </a:solidFill>
                <a:latin typeface="Times New Roman"/>
                <a:ea typeface="Times New Roman"/>
                <a:cs typeface="Times New Roman"/>
                <a:sym typeface="Times New Roman"/>
              </a:rPr>
              <a:t>Lạy Cha trên trời, Xin cho ơn đức tin mà Cha ban tặng chúng con/ trong Chúa Giêsu Kitô,</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0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Con Cha và Anh của chúng con, cùng ngọn lửa đức ái được thắp lên trong tâm hồn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0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bởi Chúa Thánh Thần, khơi dậy trong chúng con/ niềm hy vọng hồng phúc hướng về Nước Cha trị đến.</a:t>
            </a:r>
            <a:endParaRPr b="1" sz="7000">
              <a:solidFill>
                <a:schemeClr val="dk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0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Xin ân sủng Cha biến đổi chúng con/ thành những người miệt mài vun trồng hạt giống Tin Mừng.</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0"/>
          <p:cNvSpPr txBox="1"/>
          <p:nvPr>
            <p:ph idx="1" type="subTitle"/>
          </p:nvPr>
        </p:nvSpPr>
        <p:spPr>
          <a:xfrm>
            <a:off x="0" y="246742"/>
            <a:ext cx="9144000" cy="4896757"/>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300"/>
              <a:buNone/>
            </a:pPr>
            <a:r>
              <a:rPr b="1" lang="en-US" sz="7300">
                <a:solidFill>
                  <a:schemeClr val="dk1"/>
                </a:solidFill>
                <a:latin typeface="Times New Roman"/>
                <a:ea typeface="Times New Roman"/>
                <a:cs typeface="Times New Roman"/>
                <a:sym typeface="Times New Roman"/>
              </a:rPr>
              <a:t>Ước gì những hạt giống ấy/ biến đổi từ bên trong nhân loại và toàn thể vũ trụ này,</a:t>
            </a:r>
            <a:endParaRPr b="1" sz="7300">
              <a:solidFill>
                <a:schemeClr val="dk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trong khi vững lòng mong đợi trời mới đất mới, lúc mà quyền lực Sự Dữ sẽ bị đánh bại,</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vinh quang Cha sẽ chiếu sáng muôn đời. Xin cho ân sủng của Năm Thánh này/ khơi dậy trong chúng con,</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là </a:t>
            </a:r>
            <a:r>
              <a:rPr b="1" lang="en-US" sz="7500">
                <a:solidFill>
                  <a:srgbClr val="FF0000"/>
                </a:solidFill>
                <a:latin typeface="Times New Roman"/>
                <a:ea typeface="Times New Roman"/>
                <a:cs typeface="Times New Roman"/>
                <a:sym typeface="Times New Roman"/>
              </a:rPr>
              <a:t>Những Người Lữ Hành Hy Vọng</a:t>
            </a:r>
            <a:r>
              <a:rPr b="1" lang="en-US" sz="7500">
                <a:solidFill>
                  <a:schemeClr val="dk1"/>
                </a:solidFill>
                <a:latin typeface="Times New Roman"/>
                <a:ea typeface="Times New Roman"/>
                <a:cs typeface="Times New Roman"/>
                <a:sym typeface="Times New Roman"/>
              </a:rPr>
              <a:t>, niềm khao khát kho tàng ở trên trời.</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Đồng thời cũng làm lan tỏa trên khắp thế giới/ niềm vui và sự bình an của Đấng Cứu Chuộc chúng con.</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Xin tôn vinh và ngợi khen Cha là Thiên Chúa chúng con, Cha đáng chúc tụng mãi muôn đời. </a:t>
            </a:r>
            <a:r>
              <a:rPr b="1" i="1" lang="en-US" sz="6600">
                <a:solidFill>
                  <a:srgbClr val="FF0000"/>
                </a:solidFill>
                <a:latin typeface="Times New Roman"/>
                <a:ea typeface="Times New Roman"/>
                <a:cs typeface="Times New Roman"/>
                <a:sym typeface="Times New Roman"/>
              </a:rPr>
              <a:t>Amen</a:t>
            </a:r>
            <a:r>
              <a:rPr b="1" i="1" lang="en-US" sz="6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77" name="Shape 677"/>
        <p:cNvGrpSpPr/>
        <p:nvPr/>
      </p:nvGrpSpPr>
      <p:grpSpPr>
        <a:xfrm>
          <a:off x="0" y="0"/>
          <a:ext cx="0" cy="0"/>
          <a:chOff x="0" y="0"/>
          <a:chExt cx="0" cy="0"/>
        </a:xfrm>
      </p:grpSpPr>
      <p:sp>
        <p:nvSpPr>
          <p:cNvPr id="678" name="Google Shape;678;p116"/>
          <p:cNvSpPr/>
          <p:nvPr/>
        </p:nvSpPr>
        <p:spPr>
          <a:xfrm>
            <a:off x="0" y="0"/>
            <a:ext cx="9144000" cy="51434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ainting of a person in a robe with a person in the sky&#10;&#10;AI-generated content may be incorrect." id="679" name="Google Shape;679;p116"/>
          <p:cNvPicPr preferRelativeResize="0"/>
          <p:nvPr>
            <p:ph idx="1" type="body"/>
          </p:nvPr>
        </p:nvPicPr>
        <p:blipFill rotWithShape="1">
          <a:blip r:embed="rId3">
            <a:alphaModFix amt="50000"/>
          </a:blip>
          <a:srcRect b="0" l="1" r="81" t="0"/>
          <a:stretch/>
        </p:blipFill>
        <p:spPr>
          <a:xfrm>
            <a:off x="-142876" y="0"/>
            <a:ext cx="9429729" cy="5143490"/>
          </a:xfrm>
          <a:prstGeom prst="rect">
            <a:avLst/>
          </a:prstGeom>
          <a:noFill/>
          <a:ln>
            <a:noFill/>
          </a:ln>
        </p:spPr>
      </p:pic>
      <p:sp>
        <p:nvSpPr>
          <p:cNvPr id="680" name="Google Shape;680;p116"/>
          <p:cNvSpPr txBox="1"/>
          <p:nvPr/>
        </p:nvSpPr>
        <p:spPr>
          <a:xfrm>
            <a:off x="1143001" y="2978405"/>
            <a:ext cx="6858000" cy="1979355"/>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000" u="none" cap="none" strike="noStrike">
                <a:solidFill>
                  <a:srgbClr val="FFFF00"/>
                </a:solidFill>
                <a:latin typeface="Arial"/>
                <a:ea typeface="Arial"/>
                <a:cs typeface="Arial"/>
                <a:sym typeface="Arial"/>
              </a:rPr>
              <a:t>“Ðể chúng được hoàn toàn nên một”.</a:t>
            </a:r>
            <a:endParaRPr/>
          </a:p>
        </p:txBody>
      </p:sp>
      <p:sp>
        <p:nvSpPr>
          <p:cNvPr id="681" name="Google Shape;681;p116"/>
          <p:cNvSpPr txBox="1"/>
          <p:nvPr/>
        </p:nvSpPr>
        <p:spPr>
          <a:xfrm>
            <a:off x="0" y="4865431"/>
            <a:ext cx="9143979" cy="278069"/>
          </a:xfrm>
          <a:prstGeom prst="rect">
            <a:avLst/>
          </a:prstGeom>
          <a:noFill/>
          <a:ln>
            <a:noFill/>
          </a:ln>
        </p:spPr>
        <p:txBody>
          <a:bodyPr anchorCtr="0" anchor="t" bIns="45700" lIns="91425" spcFirstLastPara="1" rIns="91425" wrap="square" tIns="45700">
            <a:normAutofit fontScale="62500" lnSpcReduction="20000"/>
          </a:bodyPr>
          <a:lstStyle/>
          <a:p>
            <a:pPr indent="0" lvl="0" marL="0" marR="0" rtl="0" algn="ctr">
              <a:lnSpc>
                <a:spcPct val="90000"/>
              </a:lnSpc>
              <a:spcBef>
                <a:spcPts val="0"/>
              </a:spcBef>
              <a:spcAft>
                <a:spcPts val="0"/>
              </a:spcAft>
              <a:buNone/>
            </a:pPr>
            <a:r>
              <a:rPr b="1" i="0" lang="en-US" sz="2400" u="none" cap="none" strike="noStrike">
                <a:solidFill>
                  <a:srgbClr val="FFFFFF"/>
                </a:solidFill>
                <a:latin typeface="Arial"/>
                <a:ea typeface="Arial"/>
                <a:cs typeface="Arial"/>
                <a:sym typeface="Arial"/>
              </a:rPr>
              <a:t>Ga 17, 20-26</a:t>
            </a:r>
            <a:endParaRPr/>
          </a:p>
        </p:txBody>
      </p:sp>
      <p:sp>
        <p:nvSpPr>
          <p:cNvPr id="682" name="Google Shape;682;p116"/>
          <p:cNvSpPr txBox="1"/>
          <p:nvPr/>
        </p:nvSpPr>
        <p:spPr>
          <a:xfrm>
            <a:off x="466713" y="510498"/>
            <a:ext cx="8210549" cy="2467897"/>
          </a:xfrm>
          <a:prstGeom prst="rect">
            <a:avLst/>
          </a:prstGeom>
          <a:noFill/>
          <a:ln>
            <a:noFill/>
          </a:ln>
        </p:spPr>
        <p:txBody>
          <a:bodyPr anchorCtr="0" anchor="b" bIns="45700" lIns="91425" spcFirstLastPara="1" rIns="91425" wrap="square" tIns="45700">
            <a:normAutofit fontScale="92500" lnSpcReduction="20000"/>
          </a:bodyPr>
          <a:lstStyle/>
          <a:p>
            <a:pPr indent="0" lvl="0" marL="0" marR="0" rtl="0" algn="ctr">
              <a:lnSpc>
                <a:spcPct val="90000"/>
              </a:lnSpc>
              <a:spcBef>
                <a:spcPts val="0"/>
              </a:spcBef>
              <a:spcAft>
                <a:spcPts val="0"/>
              </a:spcAft>
              <a:buNone/>
            </a:pPr>
            <a:r>
              <a:rPr b="1" i="0" lang="en-US" sz="6000" u="none" cap="none" strike="noStrike">
                <a:solidFill>
                  <a:schemeClr val="lt1"/>
                </a:solidFill>
                <a:latin typeface="Arial"/>
                <a:ea typeface="Arial"/>
                <a:cs typeface="Arial"/>
                <a:sym typeface="Arial"/>
              </a:rPr>
              <a:t>CHÚA NHẬT VII</a:t>
            </a:r>
            <a:endParaRPr/>
          </a:p>
          <a:p>
            <a:pPr indent="0" lvl="0" marL="0" marR="0" rtl="0" algn="ctr">
              <a:lnSpc>
                <a:spcPct val="90000"/>
              </a:lnSpc>
              <a:spcBef>
                <a:spcPts val="600"/>
              </a:spcBef>
              <a:spcAft>
                <a:spcPts val="0"/>
              </a:spcAft>
              <a:buNone/>
            </a:pPr>
            <a:r>
              <a:rPr b="1" i="0" lang="en-US" sz="6000" u="none" cap="none" strike="noStrike">
                <a:solidFill>
                  <a:schemeClr val="lt1"/>
                </a:solidFill>
                <a:latin typeface="Arial"/>
                <a:ea typeface="Arial"/>
                <a:cs typeface="Arial"/>
                <a:sym typeface="Arial"/>
              </a:rPr>
              <a:t>PHỤC SINH – NĂM C</a:t>
            </a:r>
            <a:endParaRPr/>
          </a:p>
          <a:p>
            <a:pPr indent="0" lvl="0" marL="0" marR="0" rtl="0" algn="ctr">
              <a:lnSpc>
                <a:spcPct val="90000"/>
              </a:lnSpc>
              <a:spcBef>
                <a:spcPts val="600"/>
              </a:spcBef>
              <a:spcAft>
                <a:spcPts val="0"/>
              </a:spcAft>
              <a:buNone/>
            </a:pPr>
            <a:r>
              <a:t/>
            </a:r>
            <a:endParaRPr b="1" i="0" sz="1100" u="none" cap="none" strike="noStrike">
              <a:solidFill>
                <a:schemeClr val="lt1"/>
              </a:solidFill>
              <a:latin typeface="Arial"/>
              <a:ea typeface="Arial"/>
              <a:cs typeface="Arial"/>
              <a:sym typeface="Arial"/>
            </a:endParaRPr>
          </a:p>
          <a:p>
            <a:pPr indent="0" lvl="0" marL="0" marR="0" rtl="0" algn="ctr">
              <a:lnSpc>
                <a:spcPct val="90000"/>
              </a:lnSpc>
              <a:spcBef>
                <a:spcPts val="600"/>
              </a:spcBef>
              <a:spcAft>
                <a:spcPts val="0"/>
              </a:spcAft>
              <a:buNone/>
            </a:pPr>
            <a:r>
              <a:rPr b="1" i="0" lang="en-US" sz="6000" u="none" cap="none" strike="noStrike">
                <a:solidFill>
                  <a:srgbClr val="FF0000"/>
                </a:solidFill>
                <a:latin typeface="Arial"/>
                <a:ea typeface="Arial"/>
                <a:cs typeface="Arial"/>
                <a:sym typeface="Arial"/>
              </a:rPr>
              <a:t>CHÚA THĂNG THIÊN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117"/>
          <p:cNvSpPr txBox="1"/>
          <p:nvPr>
            <p:ph type="ctrTitle"/>
          </p:nvPr>
        </p:nvSpPr>
        <p:spPr>
          <a:xfrm>
            <a:off x="647700" y="1022198"/>
            <a:ext cx="7848600" cy="3099104"/>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THẦY SẼ Ở </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CÙNG CÁC CON</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(Mi Trầm)</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1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Trước khi Chúa lên trời Ngài đã phán những lời cuối cùng để an ủi những</a:t>
            </a:r>
            <a:endParaRPr b="1" sz="8000">
              <a:latin typeface="Times"/>
              <a:ea typeface="Times"/>
              <a:cs typeface="Times"/>
              <a:sym typeface="Times"/>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1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ở lại giữa cuộc đời sóng vỗ bèo trôi.</a:t>
            </a:r>
            <a:endParaRPr b="1" sz="8000">
              <a:latin typeface="Times"/>
              <a:ea typeface="Times"/>
              <a:cs typeface="Times"/>
              <a:sym typeface="Times"/>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2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Này đây Thầy sẽ ở cùng các con mọi ngày cho đến tận thế và này đây</a:t>
            </a:r>
            <a:endParaRPr b="1" sz="8000">
              <a:latin typeface="Times"/>
              <a:ea typeface="Times"/>
              <a:cs typeface="Times"/>
              <a:sym typeface="Times"/>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2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Thầy sẽ ở cùng các con mọi ngày cho đến trọn đời.</a:t>
            </a:r>
            <a:endParaRPr b="1" sz="8000">
              <a:latin typeface="Times"/>
              <a:ea typeface="Times"/>
              <a:cs typeface="Times"/>
              <a:sym typeface="Times"/>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12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2. Hãy đi bốn phương trời Lời của Chúa giảng rao giữa đời, ngày mai đó ta</a:t>
            </a:r>
            <a:endParaRPr b="1" sz="8000">
              <a:latin typeface="Times"/>
              <a:ea typeface="Times"/>
              <a:cs typeface="Times"/>
              <a:sym typeface="Time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2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sẽ sống lại ở bên Ngài sáng tươi cuộc đời.</a:t>
            </a:r>
            <a:endParaRPr b="1" sz="8000">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2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Này đây Thầy sẽ ở cùng các con mọi ngày cho đến tận thế và này đây</a:t>
            </a:r>
            <a:endParaRPr b="1" sz="8000">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2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Thầy sẽ ở cùng các con mọi ngày cho đến trọn đời.</a:t>
            </a:r>
            <a:endParaRPr b="1" sz="8000">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2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741" name="Google Shape;741;p12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Có thể là hình ảnh về 7 người và văn bản cho biết 'CChúa nhật CHỦA THĂNG THIÊN &quot; Đang khi Người chúc phúc cho các ông, Người rời khôi các ông ma lên trời. Các ông tho lạy Người, và trở về Giérusalem lòng đầy vui mừng. &quot; [LC 24, 46 53 CHÚA NHẬT 7 PHỤC SINH NĂM c'" id="742" name="Google Shape;742;p126"/>
          <p:cNvPicPr preferRelativeResize="0"/>
          <p:nvPr/>
        </p:nvPicPr>
        <p:blipFill rotWithShape="1">
          <a:blip r:embed="rId3">
            <a:alphaModFix/>
          </a:blip>
          <a:srcRect b="0" l="0" r="0" t="0"/>
          <a:stretch/>
        </p:blipFill>
        <p:spPr>
          <a:xfrm>
            <a:off x="0" y="0"/>
            <a:ext cx="9144000" cy="5148263"/>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27"/>
          <p:cNvSpPr txBox="1"/>
          <p:nvPr>
            <p:ph type="ctrTitle"/>
          </p:nvPr>
        </p:nvSpPr>
        <p:spPr>
          <a:xfrm>
            <a:off x="647700" y="0"/>
            <a:ext cx="7848600" cy="595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rgbClr val="FF0000"/>
              </a:buClr>
              <a:buSzPct val="137500"/>
              <a:buFont typeface="Times New Roman"/>
              <a:buNone/>
            </a:pPr>
            <a:r>
              <a:rPr b="1" lang="en-US">
                <a:solidFill>
                  <a:srgbClr val="FF0000"/>
                </a:solidFill>
                <a:latin typeface="Times New Roman"/>
                <a:ea typeface="Times New Roman"/>
                <a:cs typeface="Times New Roman"/>
                <a:sym typeface="Times New Roman"/>
              </a:rPr>
              <a:t>KINH VINH DANH</a:t>
            </a:r>
            <a:endParaRPr b="1" sz="3200">
              <a:solidFill>
                <a:srgbClr val="7F7F7F"/>
              </a:solidFill>
              <a:latin typeface="Times New Roman"/>
              <a:ea typeface="Times New Roman"/>
              <a:cs typeface="Times New Roman"/>
              <a:sym typeface="Times New Roman"/>
            </a:endParaRPr>
          </a:p>
        </p:txBody>
      </p:sp>
      <p:sp>
        <p:nvSpPr>
          <p:cNvPr id="748" name="Google Shape;748;p127"/>
          <p:cNvSpPr txBox="1"/>
          <p:nvPr/>
        </p:nvSpPr>
        <p:spPr>
          <a:xfrm>
            <a:off x="0" y="514350"/>
            <a:ext cx="9144000" cy="4629150"/>
          </a:xfrm>
          <a:prstGeom prst="rect">
            <a:avLst/>
          </a:prstGeom>
          <a:solidFill>
            <a:schemeClr val="lt1"/>
          </a:solidFill>
          <a:ln>
            <a:noFill/>
          </a:ln>
        </p:spPr>
        <p:txBody>
          <a:bodyPr anchorCtr="0" anchor="ctr" bIns="0" lIns="91425" spcFirstLastPara="1" rIns="91425" wrap="square" tIns="0">
            <a:noAutofit/>
          </a:bodyPr>
          <a:lstStyle/>
          <a:p>
            <a:pPr indent="0" lvl="0" marL="0" marR="0" rtl="0" algn="just">
              <a:spcBef>
                <a:spcPts val="0"/>
              </a:spcBef>
              <a:spcAft>
                <a:spcPts val="0"/>
              </a:spcAft>
              <a:buClr>
                <a:srgbClr val="C00000"/>
              </a:buClr>
              <a:buSzPts val="9600"/>
              <a:buFont typeface="Times"/>
              <a:buNone/>
            </a:pPr>
            <a:r>
              <a:rPr b="1" i="1" lang="en-US" sz="9600" u="none" cap="none" strike="noStrike">
                <a:solidFill>
                  <a:srgbClr val="C00000"/>
                </a:solidFill>
                <a:latin typeface="Times"/>
                <a:ea typeface="Times"/>
                <a:cs typeface="Times"/>
                <a:sym typeface="Times"/>
              </a:rPr>
              <a:t>Vinh danh Thiên Chúa trên các tầng trời</a:t>
            </a:r>
            <a:endParaRPr b="1" i="1" sz="9600" u="none" cap="none" strike="noStrike">
              <a:solidFill>
                <a:srgbClr val="C00000"/>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2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và bình an dưới thế cho người thiện tâm.</a:t>
            </a:r>
            <a:endParaRPr b="1" sz="9600">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2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ca ngợi Chúa,</a:t>
            </a:r>
            <a:endParaRPr b="1" sz="9600">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3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chúc tụng Chúa,</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3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thờ lạy Chúa,</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tôn vinh Chúa,</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chúng con cảm tạ Chúa vì vinh quang cao cả Chúa,</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200"/>
              <a:buFont typeface="Times"/>
              <a:buNone/>
            </a:pPr>
            <a:r>
              <a:rPr b="1" lang="en-US" sz="8200">
                <a:latin typeface="Times"/>
                <a:ea typeface="Times"/>
                <a:cs typeface="Times"/>
                <a:sym typeface="Times"/>
              </a:rPr>
              <a:t>lạy Chúa là Thiên Chúa, là Vua trên trời, là Chúa Cha toàn năng.</a:t>
            </a:r>
            <a:endParaRPr b="1" sz="8200">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Lạy Con một Thiên Chúa, Chúa Giêsu Kitô.</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3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Lạy Chúa là Thiên Chúa, là Chiên Thiên Chúa, là Con Ðức Chúa Cha,</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xóa tội trần gian, xin thương xót chúng con,</a:t>
            </a:r>
            <a:endParaRPr b="1" sz="8000">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13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xóa tội trần gian, xin nhậm lời chúng con cầu khẩn.</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3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ngự bên hữu Ðức Chúa Cha, xin thương xót chúng con.</a:t>
            </a:r>
            <a:endParaRPr b="1" sz="8000">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4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lạy Chúa Giêsu Kitô, chỉ có Chúa là Ðấng Thánh,</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4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chỉ có Chúa là Chúa, chỉ có Chúa là Ðấng Tối Cao,</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14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cùng Ðức Chúa Thánh Thần trong vinh quang Ðức Chúa Cha.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4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844" name="Google Shape;844;p14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Có thể là hình ảnh về 7 người và văn bản cho biết 'CChúa nhật CHỦA THĂNG THIÊN &quot; Đang khi Người chúc phúc cho các ông, Người rời khôi các ông ma lên trời. Các ông tho lạy Người, và trở về Giérusalem lòng đầy vui mừng. &quot; [LC 24, 46 53 CHÚA NHẬT 7 PHỤC SINH NĂM c'" id="845" name="Google Shape;845;p143"/>
          <p:cNvPicPr preferRelativeResize="0"/>
          <p:nvPr/>
        </p:nvPicPr>
        <p:blipFill rotWithShape="1">
          <a:blip r:embed="rId3">
            <a:alphaModFix/>
          </a:blip>
          <a:srcRect b="0" l="0" r="0" t="0"/>
          <a:stretch/>
        </p:blipFill>
        <p:spPr>
          <a:xfrm>
            <a:off x="0" y="0"/>
            <a:ext cx="9144000" cy="5148263"/>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44"/>
          <p:cNvSpPr/>
          <p:nvPr/>
        </p:nvSpPr>
        <p:spPr>
          <a:xfrm>
            <a:off x="0" y="0"/>
            <a:ext cx="9144000"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800" u="sng" cap="none" strike="noStrike">
                <a:solidFill>
                  <a:srgbClr val="FF0000"/>
                </a:solidFill>
                <a:latin typeface="Arial"/>
                <a:ea typeface="Arial"/>
                <a:cs typeface="Arial"/>
                <a:sym typeface="Arial"/>
              </a:rPr>
              <a:t>Bài đọc 1:</a:t>
            </a:r>
            <a:r>
              <a:rPr b="1" i="0" lang="en-US" sz="3800" u="none" cap="none" strike="noStrike">
                <a:solidFill>
                  <a:srgbClr val="FF0000"/>
                </a:solidFill>
                <a:latin typeface="Arial"/>
                <a:ea typeface="Arial"/>
                <a:cs typeface="Arial"/>
                <a:sym typeface="Arial"/>
              </a:rPr>
              <a:t> </a:t>
            </a:r>
            <a:r>
              <a:rPr b="1" i="0" lang="en-US" sz="3800" u="none" cap="none" strike="noStrike">
                <a:solidFill>
                  <a:schemeClr val="dk1"/>
                </a:solidFill>
                <a:latin typeface="Arial"/>
                <a:ea typeface="Arial"/>
                <a:cs typeface="Arial"/>
                <a:sym typeface="Arial"/>
              </a:rPr>
              <a:t>Cv 7, 55-59ab </a:t>
            </a:r>
            <a:endParaRPr/>
          </a:p>
        </p:txBody>
      </p:sp>
      <p:sp>
        <p:nvSpPr>
          <p:cNvPr id="851" name="Google Shape;851;p144"/>
          <p:cNvSpPr txBox="1"/>
          <p:nvPr/>
        </p:nvSpPr>
        <p:spPr>
          <a:xfrm>
            <a:off x="0" y="1048255"/>
            <a:ext cx="9144000" cy="31393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6600">
                <a:solidFill>
                  <a:srgbClr val="FF0000"/>
                </a:solidFill>
                <a:latin typeface="Arial"/>
                <a:ea typeface="Arial"/>
                <a:cs typeface="Arial"/>
                <a:sym typeface="Arial"/>
              </a:rPr>
              <a:t>“Tôi thấy Con Người đứng bên hữu Thiên Chúa”</a:t>
            </a:r>
            <a:endParaRPr b="1" i="1" sz="6600">
              <a:solidFill>
                <a:srgbClr val="FF0000"/>
              </a:solidFill>
              <a:latin typeface="Arial"/>
              <a:ea typeface="Arial"/>
              <a:cs typeface="Arial"/>
              <a:sym typeface="Arial"/>
            </a:endParaRPr>
          </a:p>
        </p:txBody>
      </p:sp>
      <p:sp>
        <p:nvSpPr>
          <p:cNvPr id="852" name="Google Shape;852;p144"/>
          <p:cNvSpPr txBox="1"/>
          <p:nvPr/>
        </p:nvSpPr>
        <p:spPr>
          <a:xfrm>
            <a:off x="0" y="4558724"/>
            <a:ext cx="9144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Arial"/>
                <a:ea typeface="Arial"/>
                <a:cs typeface="Arial"/>
                <a:sym typeface="Arial"/>
              </a:rPr>
              <a:t>Trích sách Tông đồ Công vụ.</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45"/>
          <p:cNvSpPr txBox="1"/>
          <p:nvPr>
            <p:ph type="ctrTitle"/>
          </p:nvPr>
        </p:nvSpPr>
        <p:spPr>
          <a:xfrm>
            <a:off x="647700" y="1130847"/>
            <a:ext cx="7848600" cy="2881806"/>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46</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46"/>
          <p:cNvSpPr txBox="1"/>
          <p:nvPr>
            <p:ph type="ctrTitle"/>
          </p:nvPr>
        </p:nvSpPr>
        <p:spPr>
          <a:xfrm>
            <a:off x="0" y="-130629"/>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Chúa ngự lên giữa tiếng tưng bừng, Chúa ngự lên giữa tiếng kèn vang.</a:t>
            </a:r>
            <a:endParaRPr b="1" sz="8000">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47"/>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Vỗ tay đi nào ngàn muôn dân hỡi! Tán tụng Chúa Trời nào hãy hò reo.</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4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Chúa Đấng Tối Cao khả úy, Ngài là Đại Đế Đấng thống trị trần gian. </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149"/>
          <p:cNvSpPr txBox="1"/>
          <p:nvPr>
            <p:ph type="ctrTitle"/>
          </p:nvPr>
        </p:nvSpPr>
        <p:spPr>
          <a:xfrm>
            <a:off x="0" y="-130629"/>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Chúa ngự lên giữa tiếng tưng bừng, Chúa ngự lên giữa tiếng kèn vang.</a:t>
            </a:r>
            <a:endParaRPr b="1" sz="8000">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50"/>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400"/>
              <a:buFont typeface="Times"/>
              <a:buNone/>
            </a:pPr>
            <a:r>
              <a:rPr b="1" lang="en-US" sz="7400">
                <a:latin typeface="Times"/>
                <a:ea typeface="Times"/>
                <a:cs typeface="Times"/>
                <a:sym typeface="Times"/>
              </a:rPr>
              <a:t>2. Chúa tiến lên trong ngàn câu hoan chúc. Chúa ngự lên ngàn vạn tiếng kèn vang.</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5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Nào ta hãy ca mừng Thiên Chúa, mừng Ngài là Chúa khắp các vua trần ai.</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52"/>
          <p:cNvSpPr txBox="1"/>
          <p:nvPr>
            <p:ph type="ctrTitle"/>
          </p:nvPr>
        </p:nvSpPr>
        <p:spPr>
          <a:xfrm>
            <a:off x="0" y="-130629"/>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Chúa ngự lên giữa tiếng tưng bừng, Chúa ngự lên giữa tiếng kèn vang.</a:t>
            </a:r>
            <a:endParaRPr b="1" sz="8000">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53"/>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3. Đức Vua cai trị toàn cả thế giới, xướng lên ca vịnh mừng Chúa là Vua.</a:t>
            </a:r>
            <a:endParaRPr b="1" sz="8000">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5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400"/>
              <a:buFont typeface="Times"/>
              <a:buNone/>
            </a:pPr>
            <a:r>
              <a:rPr b="1" lang="en-US" sz="7400">
                <a:latin typeface="Times"/>
                <a:ea typeface="Times"/>
                <a:cs typeface="Times"/>
                <a:sym typeface="Times"/>
              </a:rPr>
              <a:t>Này Chúa Đấng thống trị vạn quốc, ngàn đời rực rỡ Chúa hiển trị ngàn thu.</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55"/>
          <p:cNvSpPr txBox="1"/>
          <p:nvPr>
            <p:ph type="ctrTitle"/>
          </p:nvPr>
        </p:nvSpPr>
        <p:spPr>
          <a:xfrm>
            <a:off x="0" y="-130629"/>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Chúa ngự lên giữa tiếng tưng bừng, Chúa ngự lên giữa tiếng kèn vang.</a:t>
            </a:r>
            <a:endParaRPr b="1" sz="8000">
              <a:latin typeface="Times"/>
              <a:ea typeface="Times"/>
              <a:cs typeface="Times"/>
              <a:sym typeface="Time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56"/>
          <p:cNvSpPr/>
          <p:nvPr/>
        </p:nvSpPr>
        <p:spPr>
          <a:xfrm>
            <a:off x="0" y="0"/>
            <a:ext cx="9144000"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800" u="sng">
                <a:solidFill>
                  <a:srgbClr val="FF0000"/>
                </a:solidFill>
                <a:latin typeface="Arial"/>
                <a:ea typeface="Arial"/>
                <a:cs typeface="Arial"/>
                <a:sym typeface="Arial"/>
              </a:rPr>
              <a:t>Bài đọc 2:</a:t>
            </a:r>
            <a:r>
              <a:rPr b="1" lang="en-US" sz="3800">
                <a:solidFill>
                  <a:srgbClr val="FF0000"/>
                </a:solidFill>
                <a:latin typeface="Arial"/>
                <a:ea typeface="Arial"/>
                <a:cs typeface="Arial"/>
                <a:sym typeface="Arial"/>
              </a:rPr>
              <a:t> </a:t>
            </a:r>
            <a:r>
              <a:rPr b="1" lang="en-US" sz="3800">
                <a:solidFill>
                  <a:schemeClr val="dk1"/>
                </a:solidFill>
                <a:latin typeface="Arial"/>
                <a:ea typeface="Arial"/>
                <a:cs typeface="Arial"/>
                <a:sym typeface="Arial"/>
              </a:rPr>
              <a:t>Kh 22, 12-14. 16-17. 20 </a:t>
            </a:r>
            <a:endParaRPr/>
          </a:p>
        </p:txBody>
      </p:sp>
      <p:sp>
        <p:nvSpPr>
          <p:cNvPr id="923" name="Google Shape;923;p156"/>
          <p:cNvSpPr txBox="1"/>
          <p:nvPr/>
        </p:nvSpPr>
        <p:spPr>
          <a:xfrm>
            <a:off x="0" y="1509921"/>
            <a:ext cx="9144000" cy="212365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6600">
                <a:solidFill>
                  <a:srgbClr val="FF0000"/>
                </a:solidFill>
                <a:latin typeface="Arial"/>
                <a:ea typeface="Arial"/>
                <a:cs typeface="Arial"/>
                <a:sym typeface="Arial"/>
              </a:rPr>
              <a:t>“Lạy Chúa Giêsu, xin hãy ngự đến”.</a:t>
            </a:r>
            <a:endParaRPr/>
          </a:p>
        </p:txBody>
      </p:sp>
      <p:sp>
        <p:nvSpPr>
          <p:cNvPr id="924" name="Google Shape;924;p156"/>
          <p:cNvSpPr txBox="1"/>
          <p:nvPr/>
        </p:nvSpPr>
        <p:spPr>
          <a:xfrm>
            <a:off x="0" y="4539675"/>
            <a:ext cx="878378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Trích sách Khải Huyền của Thánh Gioan</a:t>
            </a:r>
            <a:endParaRPr sz="2800">
              <a:solidFill>
                <a:schemeClr val="dk1"/>
              </a:solidFill>
              <a:latin typeface="Arial"/>
              <a:ea typeface="Arial"/>
              <a:cs typeface="Arial"/>
              <a:sym typeface="Arial"/>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5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930" name="Google Shape;930;p157"/>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Có thể là hình ảnh về 7 người và văn bản cho biết 'CChúa nhật CHỦA THĂNG THIÊN &quot; Đang khi Người chúc phúc cho các ông, Người rời khôi các ông ma lên trời. Các ông tho lạy Người, và trở về Giérusalem lòng đầy vui mừng. &quot; [LC 24, 46 53 CHÚA NHẬT 7 PHỤC SINH NĂM c'" id="931" name="Google Shape;931;p157"/>
          <p:cNvPicPr preferRelativeResize="0"/>
          <p:nvPr/>
        </p:nvPicPr>
        <p:blipFill rotWithShape="1">
          <a:blip r:embed="rId3">
            <a:alphaModFix/>
          </a:blip>
          <a:srcRect b="0" l="0" r="0" t="0"/>
          <a:stretch/>
        </p:blipFill>
        <p:spPr>
          <a:xfrm>
            <a:off x="0" y="0"/>
            <a:ext cx="9144000" cy="5148263"/>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58"/>
          <p:cNvSpPr txBox="1"/>
          <p:nvPr>
            <p:ph type="ctrTitle"/>
          </p:nvPr>
        </p:nvSpPr>
        <p:spPr>
          <a:xfrm>
            <a:off x="0" y="727710"/>
            <a:ext cx="9144000" cy="41910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7200"/>
              <a:buFont typeface="Times"/>
              <a:buNone/>
            </a:pPr>
            <a:r>
              <a:rPr b="1" lang="en-US" sz="7200">
                <a:latin typeface="Times"/>
                <a:ea typeface="Times"/>
                <a:cs typeface="Times"/>
                <a:sym typeface="Times"/>
              </a:rPr>
              <a:t>Alleluia, Alleluia. Này đây Chúa phán: "Các con hãy đi giảng dạy muôn dân:</a:t>
            </a:r>
            <a:endParaRPr/>
          </a:p>
        </p:txBody>
      </p:sp>
      <p:sp>
        <p:nvSpPr>
          <p:cNvPr id="937" name="Google Shape;937;p158"/>
          <p:cNvSpPr txBox="1"/>
          <p:nvPr/>
        </p:nvSpPr>
        <p:spPr>
          <a:xfrm>
            <a:off x="0" y="0"/>
            <a:ext cx="9144000" cy="81915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0000"/>
              </a:buClr>
              <a:buSzPts val="3200"/>
              <a:buFont typeface="Arial"/>
              <a:buNone/>
            </a:pPr>
            <a:r>
              <a:rPr b="1" lang="en-US" sz="3200" u="sng">
                <a:solidFill>
                  <a:srgbClr val="FF0000"/>
                </a:solidFill>
                <a:latin typeface="Arial"/>
                <a:ea typeface="Arial"/>
                <a:cs typeface="Arial"/>
                <a:sym typeface="Arial"/>
              </a:rPr>
              <a:t>CÂU XƯỚNG TRƯỚC PHÚC ÂM</a:t>
            </a:r>
            <a:endParaRPr b="1" sz="3200">
              <a:solidFill>
                <a:srgbClr val="00B050"/>
              </a:solidFill>
              <a:latin typeface="Arial"/>
              <a:ea typeface="Arial"/>
              <a:cs typeface="Arial"/>
              <a:sym typeface="Arial"/>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5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Thầy sẽ ở cùng các con mọi ngày cho đến tận thế". Alleluia, Alleluia.</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948" name="Google Shape;948;p160"/>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Có thể là hình ảnh về 7 người và văn bản cho biết 'CChúa nhật CHỦA THĂNG THIÊN &quot; Đang khi Người chúc phúc cho các ông, Người rời khôi các ông ma lên trời. Các ông tho lạy Người, và trở về Giérusalem lòng đầy vui mừng. &quot; [LC 24, 46 53 CHÚA NHẬT 7 PHỤC SINH NĂM c'" id="949" name="Google Shape;949;p160"/>
          <p:cNvPicPr preferRelativeResize="0"/>
          <p:nvPr/>
        </p:nvPicPr>
        <p:blipFill rotWithShape="1">
          <a:blip r:embed="rId3">
            <a:alphaModFix/>
          </a:blip>
          <a:srcRect b="0" l="0" r="0" t="0"/>
          <a:stretch/>
        </p:blipFill>
        <p:spPr>
          <a:xfrm>
            <a:off x="0" y="0"/>
            <a:ext cx="9144000" cy="5148263"/>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61"/>
          <p:cNvSpPr txBox="1"/>
          <p:nvPr>
            <p:ph type="ctrTitle"/>
          </p:nvPr>
        </p:nvSpPr>
        <p:spPr>
          <a:xfrm>
            <a:off x="0" y="514351"/>
            <a:ext cx="9144000" cy="4629148"/>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200"/>
              <a:buFont typeface="Times"/>
              <a:buNone/>
            </a:pPr>
            <a:r>
              <a:rPr b="1" lang="en-US" sz="8200">
                <a:latin typeface="Times"/>
                <a:ea typeface="Times"/>
                <a:cs typeface="Times"/>
                <a:sym typeface="Times"/>
              </a:rPr>
              <a:t>Tôi tin kính một Thiên Chúa là Cha toàn năng.</a:t>
            </a:r>
            <a:endParaRPr/>
          </a:p>
        </p:txBody>
      </p:sp>
      <p:sp>
        <p:nvSpPr>
          <p:cNvPr id="955" name="Google Shape;955;p161"/>
          <p:cNvSpPr txBox="1"/>
          <p:nvPr/>
        </p:nvSpPr>
        <p:spPr>
          <a:xfrm>
            <a:off x="0" y="83125"/>
            <a:ext cx="9144000" cy="5143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KINH TIN KÍNH</a:t>
            </a:r>
            <a:endParaRPr b="1" sz="3600">
              <a:solidFill>
                <a:srgbClr val="00B050"/>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6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Đấng tạo thành trời đất muôn vật hữu hình và vô hình.</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6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kính một Chúa Giê-su Ki-tô Con Một Thiên Chúa,</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6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sinh bởi Đức Chúa Cha từ trước muôn đời.</a:t>
            </a:r>
            <a:endParaRPr b="1" sz="8000">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6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là Thiên Chúa bởi Thiên Chúa, Ánh Sáng bởi Ánh Sáng,</a:t>
            </a:r>
            <a:endParaRPr b="1" sz="8000">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6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Thiên Chúa thật bởi Thiên Chúa thật.</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6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Được sinh ra mà không phải được tạo thành đồng bản thể với Đức Chúa Cha:</a:t>
            </a:r>
            <a:endParaRPr b="1" sz="8000">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6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nhờ Người mà muôn vật được tạo thành.</a:t>
            </a:r>
            <a:endParaRPr b="1" sz="8000">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6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loài người chúng ta và để cứu độ chúng ta, Người đã từ trời xuống thế.</a:t>
            </a:r>
            <a:endParaRPr b="1" sz="8000">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7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6500"/>
              <a:buFont typeface="Times"/>
              <a:buNone/>
            </a:pPr>
            <a:r>
              <a:rPr b="1" lang="en-US" sz="6500">
                <a:latin typeface="Times"/>
                <a:ea typeface="Times"/>
                <a:cs typeface="Times"/>
                <a:sym typeface="Times"/>
              </a:rPr>
              <a:t>Bởi phép Đức Chúa Thánh Thần, Người đã nhập thể trong lòng Trinh Nữ Ma-ri-a, và đã làm người.</a:t>
            </a:r>
            <a:endParaRPr b="1" sz="6500">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7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chịu đóng đinh vào thập giá vì chúng ta,</a:t>
            </a:r>
            <a:endParaRPr b="1" sz="8000">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7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thời quan Phong-xi-ô Phi-la-tô; Người chịu khổ hình và mai táng.</a:t>
            </a:r>
            <a:endParaRPr b="1" sz="8000">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7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Ngày thứ ba Người sống lại như lời Thánh kinh.</a:t>
            </a:r>
            <a:endParaRPr b="1" sz="8000">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7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lên trời, ngự bên hữu Đức Chúa Cha.</a:t>
            </a:r>
            <a:endParaRPr b="1" sz="8000">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7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Và Người sẽ lại đến trong vinh quang để phán xét kẻ sống và kẻ chết,</a:t>
            </a:r>
            <a:endParaRPr b="1" sz="8000">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7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Nước Người sẽ không bao giờ cùng.</a:t>
            </a:r>
            <a:endParaRPr b="1" sz="8000">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7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tinh kính Đức Chúa Thánh Thần là Thiên Chúa, và là Đấng ban sự sống,</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17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bởi Đức Chúa Cha và Đức Chúa Con mà ra.</a:t>
            </a:r>
            <a:endParaRPr b="1" sz="8000">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7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được phụng thờ và tôn vinh cùng với Đức Chúa Cha và Đức Chúa Con</a:t>
            </a:r>
            <a:endParaRPr b="1" sz="8000">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8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đã dùng các Tiên tri mà phán dạy.</a:t>
            </a:r>
            <a:endParaRPr b="1" sz="8000">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8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Hội Thánh duy nhất, thánh thiện, công giáo và tông truyền.</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18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tuyên xưng có một Phép Rửa để tha tội.</a:t>
            </a:r>
            <a:endParaRPr b="1" sz="8000">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8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trông đợi kẻ chết sống lại và sự sống đời sau.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8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1071" name="Google Shape;1071;p184"/>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Có thể là hình ảnh về 7 người và văn bản cho biết 'CChúa nhật CHỦA THĂNG THIÊN &quot; Đang khi Người chúc phúc cho các ông, Người rời khôi các ông ma lên trời. Các ông tho lạy Người, và trở về Giérusalem lòng đầy vui mừng. &quot; [LC 24, 46 53 CHÚA NHẬT 7 PHỤC SINH NĂM c'" id="1072" name="Google Shape;1072;p184"/>
          <p:cNvPicPr preferRelativeResize="0"/>
          <p:nvPr/>
        </p:nvPicPr>
        <p:blipFill rotWithShape="1">
          <a:blip r:embed="rId3">
            <a:alphaModFix/>
          </a:blip>
          <a:srcRect b="0" l="0" r="0" t="0"/>
          <a:stretch/>
        </p:blipFill>
        <p:spPr>
          <a:xfrm>
            <a:off x="0" y="0"/>
            <a:ext cx="9144000" cy="5148263"/>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85"/>
          <p:cNvSpPr txBox="1"/>
          <p:nvPr>
            <p:ph type="ctrTitle"/>
          </p:nvPr>
        </p:nvSpPr>
        <p:spPr>
          <a:xfrm>
            <a:off x="647700" y="1674169"/>
            <a:ext cx="7848600" cy="1795161"/>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TẤM LÒNG</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8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Xin dâng Người đôi bàn tay này, ngày mưa nắng kiếp nhân sinh.</a:t>
            </a:r>
            <a:endParaRPr b="1" sz="8000">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8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Xin dâng Người nặng gánh đôi vai cho đàn em bé nhỏ môi cười,</a:t>
            </a:r>
            <a:endParaRPr b="1" sz="8000">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18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tìm thấy trong đời niềm hạnh phúc cho ngày mai</a:t>
            </a:r>
            <a:endParaRPr b="1" sz="8000">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8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Tấm bánh này chứa chan nỗi niềm, là của lễ cuộc đời con dâng Ngài.</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9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Chén Thánh này chất cả tâm tư, tuy đơn nghèo nhưng mang trọn tình yêu.</a:t>
            </a:r>
            <a:endParaRPr b="1" sz="8000">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9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2. Xin dâng Người những ngày qua rồi niềm vui lẫn với thương đau.</a:t>
            </a:r>
            <a:endParaRPr b="1" sz="8000">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9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Xin dâng Người mộng ước tương lai, mong ngày mai sẽ thắm tươi màu,</a:t>
            </a:r>
            <a:endParaRPr b="1" sz="8000">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9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và xin dâng Người từng giây phút trong đời con. </a:t>
            </a:r>
            <a:endParaRPr b="1" sz="8000">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9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Tấm bánh này chứa chan nỗi niềm, là của lễ cuộc đời con dâng Ngài.</a:t>
            </a:r>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19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Chén Thánh này chất cả tâm tư, tuy đơn nghèo nhưng mang trọn tình yêu.</a:t>
            </a:r>
            <a:endParaRPr b="1" sz="8000">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9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1143" name="Google Shape;1143;p19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Có thể là hình ảnh về 7 người và văn bản cho biết 'CChúa nhật CHỦA THĂNG THIÊN &quot; Đang khi Người chúc phúc cho các ông, Người rời khôi các ông ma lên trời. Các ông tho lạy Người, và trở về Giérusalem lòng đầy vui mừng. &quot; [LC 24, 46 53 CHÚA NHẬT 7 PHỤC SINH NĂM c'" id="1144" name="Google Shape;1144;p196"/>
          <p:cNvPicPr preferRelativeResize="0"/>
          <p:nvPr/>
        </p:nvPicPr>
        <p:blipFill rotWithShape="1">
          <a:blip r:embed="rId3">
            <a:alphaModFix/>
          </a:blip>
          <a:srcRect b="0" l="0" r="0" t="0"/>
          <a:stretch/>
        </p:blipFill>
        <p:spPr>
          <a:xfrm>
            <a:off x="0" y="0"/>
            <a:ext cx="9144000" cy="5148263"/>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197"/>
          <p:cNvSpPr txBox="1"/>
          <p:nvPr>
            <p:ph type="ctrTitle"/>
          </p:nvPr>
        </p:nvSpPr>
        <p:spPr>
          <a:xfrm>
            <a:off x="0" y="581891"/>
            <a:ext cx="9144000" cy="4561608"/>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nói: “Thầy ở cừng anh em mọi ngày cho đến tận thế. Alleluia!</a:t>
            </a:r>
            <a:endParaRPr b="1" sz="8000">
              <a:latin typeface="Times"/>
              <a:ea typeface="Times"/>
              <a:cs typeface="Times"/>
              <a:sym typeface="Times"/>
            </a:endParaRPr>
          </a:p>
        </p:txBody>
      </p:sp>
      <p:sp>
        <p:nvSpPr>
          <p:cNvPr id="1150" name="Google Shape;1150;p197"/>
          <p:cNvSpPr txBox="1"/>
          <p:nvPr/>
        </p:nvSpPr>
        <p:spPr>
          <a:xfrm>
            <a:off x="0" y="106681"/>
            <a:ext cx="9144000" cy="5143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CA HIỆP LỄ</a:t>
            </a:r>
            <a:endParaRPr b="1" sz="3600">
              <a:solidFill>
                <a:srgbClr val="00B050"/>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98"/>
          <p:cNvSpPr txBox="1"/>
          <p:nvPr>
            <p:ph type="ctrTitle"/>
          </p:nvPr>
        </p:nvSpPr>
        <p:spPr>
          <a:xfrm>
            <a:off x="647700" y="1405438"/>
            <a:ext cx="7848600" cy="2332624"/>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CHÚA LÊN TRỜI</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(Phanxicô)</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19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1. Chúa đã lên trời, núi đồi đưa mắt nhìn theo. Chia ly đôi ngã ngàn dâu xanh ngắt một màu.</a:t>
            </a:r>
            <a:endParaRPr b="1" sz="7000">
              <a:latin typeface="Times"/>
              <a:ea typeface="Times"/>
              <a:cs typeface="Times"/>
              <a:sym typeface="Times"/>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20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Thầy về quê hương xa vời ôi xa vời cuộc đời. Nhưng bao tình mến ơn trời mãi ở với Người.</a:t>
            </a:r>
            <a:endParaRPr b="1" sz="7000">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20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Con nhìn lên cao thao thức với ngàn vì sao.</a:t>
            </a:r>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20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Khấn xin Người dìu đưa con bền tâm bước lên trời cao.</a:t>
            </a:r>
            <a:endParaRPr b="1" sz="8000">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20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2. Chúa đã xuống đời với người chung kiếp khổ đau. Lang thang muôn nẻo tìm đâu một chỗ tựa đầu.</a:t>
            </a:r>
            <a:endParaRPr b="1" sz="7000">
              <a:latin typeface="Times"/>
              <a:ea typeface="Times"/>
              <a:cs typeface="Times"/>
              <a:sym typeface="Times"/>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20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Người về thiên cung nhưng chẳng quên cát bụi cuộc đời. Ta đi dọn chỗ cho ngươi ở nhà Chúa Trời.</a:t>
            </a:r>
            <a:endParaRPr b="1" sz="7000">
              <a:latin typeface="Times"/>
              <a:ea typeface="Times"/>
              <a:cs typeface="Times"/>
              <a:sym typeface="Times"/>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20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Con nhìn lên cao thao thức với ngàn vì sao.</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20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Khấn xin Người dìu đưa con bền tâm bước lên trời cao.</a:t>
            </a:r>
            <a:endParaRPr b="1" sz="8000">
              <a:latin typeface="Times"/>
              <a:ea typeface="Times"/>
              <a:cs typeface="Times"/>
              <a:sym typeface="Times"/>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20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3. Chúa sống trong đời khóc cười bao nỗi nhục vinh. Cô đơn đau khổ tử sinh oan trái tội tình.</a:t>
            </a:r>
            <a:endParaRPr b="1" sz="7000">
              <a:latin typeface="Times"/>
              <a:ea typeface="Times"/>
              <a:cs typeface="Times"/>
              <a:sym typeface="Times"/>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20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Người về an vui nhưng lòng thường gian trần đọa đày. Trên cao gởi xuống Thánh Thần an ủi tháng ngày.</a:t>
            </a:r>
            <a:endParaRPr b="1" sz="7000">
              <a:latin typeface="Times"/>
              <a:ea typeface="Times"/>
              <a:cs typeface="Times"/>
              <a:sym typeface="Times"/>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20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Con nhìn lên cao thao thức với ngàn vì sao.</a:t>
            </a:r>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21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Khấn xin Người dìu đưa con bền tâm bước lên trời cao.</a:t>
            </a:r>
            <a:endParaRPr b="1" sz="8000">
              <a:latin typeface="Times"/>
              <a:ea typeface="Times"/>
              <a:cs typeface="Times"/>
              <a:sym typeface="Times"/>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21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1233" name="Google Shape;1233;p211"/>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Có thể là hình ảnh về 7 người và văn bản cho biết 'CChúa nhật CHỦA THĂNG THIÊN &quot; Đang khi Người chúc phúc cho các ông, Người rời khôi các ông ma lên trời. Các ông tho lạy Người, và trở về Giérusalem lòng đầy vui mừng. &quot; [LC 24, 46 53 CHÚA NHẬT 7 PHỤC SINH NĂM c'" id="1234" name="Google Shape;1234;p211"/>
          <p:cNvPicPr preferRelativeResize="0"/>
          <p:nvPr/>
        </p:nvPicPr>
        <p:blipFill rotWithShape="1">
          <a:blip r:embed="rId3">
            <a:alphaModFix/>
          </a:blip>
          <a:srcRect b="0" l="0" r="0" t="0"/>
          <a:stretch/>
        </p:blipFill>
        <p:spPr>
          <a:xfrm>
            <a:off x="0" y="0"/>
            <a:ext cx="9144000" cy="5148263"/>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212"/>
          <p:cNvSpPr txBox="1"/>
          <p:nvPr>
            <p:ph type="ctrTitle"/>
          </p:nvPr>
        </p:nvSpPr>
        <p:spPr>
          <a:xfrm>
            <a:off x="647700" y="1117039"/>
            <a:ext cx="7848600" cy="2909422"/>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VỀ NƠI ĐÂY</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(Mi Trầm)</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21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Về nơi đây nơi Thánh Tâm Chúa nhân từ vì yêu thương Ngài đã chết</a:t>
            </a:r>
            <a:endParaRPr b="1" sz="8000">
              <a:latin typeface="Times"/>
              <a:ea typeface="Times"/>
              <a:cs typeface="Times"/>
              <a:sym typeface="Times"/>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21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treo Thánh giá. Từ cạnh sườn thâu qua, Người đổ máu nước ra,</a:t>
            </a:r>
            <a:endParaRPr b="1" sz="8000">
              <a:latin typeface="Times"/>
              <a:ea typeface="Times"/>
              <a:cs typeface="Times"/>
              <a:sym typeface="Times"/>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21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qua bí tích lãnh nhận ơn Thánh Chúa ban chan hoà.</a:t>
            </a:r>
            <a:endParaRPr b="1" sz="8000">
              <a:latin typeface="Times"/>
              <a:ea typeface="Times"/>
              <a:cs typeface="Times"/>
              <a:sym typeface="Times"/>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21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Tình yêu đã trao tặng, tình nào lớn cho bằng, bằng tình Chúa thương ta,</a:t>
            </a:r>
            <a:endParaRPr b="1" sz="8000">
              <a:latin typeface="Times"/>
              <a:ea typeface="Times"/>
              <a:cs typeface="Times"/>
              <a:sym typeface="Times"/>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21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đã chết vì ta, để xoá hết tội ta. </a:t>
            </a:r>
            <a:endParaRPr b="1" sz="8000">
              <a:latin typeface="Times"/>
              <a:ea typeface="Times"/>
              <a:cs typeface="Times"/>
              <a:sym typeface="Times"/>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21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Về nơi đây nơi Thánh Tâm Chúa nhân từ vì yêu thương Ngài đã chết</a:t>
            </a:r>
            <a:endParaRPr b="1" sz="8000">
              <a:latin typeface="Times"/>
              <a:ea typeface="Times"/>
              <a:cs typeface="Times"/>
              <a:sym typeface="Times"/>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21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treo Thánh giá. Từ cạnh sườn thâu qua, Người đổ máu nước ra,</a:t>
            </a:r>
            <a:endParaRPr b="1" sz="8000">
              <a:latin typeface="Times"/>
              <a:ea typeface="Times"/>
              <a:cs typeface="Times"/>
              <a:sym typeface="Times"/>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22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qua bí tích lãnh nhận ơn Thánh Chúa ban chan hoà.</a:t>
            </a:r>
            <a:endParaRPr b="1" sz="8000">
              <a:latin typeface="Times"/>
              <a:ea typeface="Times"/>
              <a:cs typeface="Times"/>
              <a:sym typeface="Times"/>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22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1293" name="Google Shape;1293;p221"/>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Có thể là hình ảnh về 7 người và văn bản cho biết 'CChúa nhật CHỦA THĂNG THIÊN &quot; Đang khi Người chúc phúc cho các ông, Người rời khôi các ông ma lên trời. Các ông tho lạy Người, và trở về Giérusalem lòng đầy vui mừng. &quot; [LC 24, 46 53 CHÚA NHẬT 7 PHỤC SINH NĂM c'" id="1294" name="Google Shape;1294;p221"/>
          <p:cNvPicPr preferRelativeResize="0"/>
          <p:nvPr/>
        </p:nvPicPr>
        <p:blipFill rotWithShape="1">
          <a:blip r:embed="rId3">
            <a:alphaModFix/>
          </a:blip>
          <a:srcRect b="0" l="0" r="0" t="0"/>
          <a:stretch/>
        </p:blipFill>
        <p:spPr>
          <a:xfrm>
            <a:off x="0" y="0"/>
            <a:ext cx="9144000" cy="514826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dc:creator>Hung Nam</dc:creator>
</cp:coreProperties>
</file>