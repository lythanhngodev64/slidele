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9" roundtripDataSignature="AMtx7miTmUSexizvfVlyy1gBDVagICHp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customschemas.google.com/relationships/presentationmetadata" Target="metadata"/><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5c12958b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a5c12958b4_0_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26357b4a1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26357b4a1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b26357b4a1_0_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b26357b4a1_0_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b26357b4a1_0_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b26357b4a1_0_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b26357b4a1_0_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b26357b4a1_0_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b26357b4a1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b26357b4a1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53" name="Google Shape;55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59" name="Google Shape;55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5" name="Google Shape;56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1" name="Google Shape;57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7" name="Google Shape;57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3" name="Google Shape;58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9" name="Google Shape;58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5" name="Google Shape;59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1" name="Google Shape;60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7" name="Google Shape;60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3" name="Google Shape;61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9" name="Google Shape;61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5" name="Google Shape;62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b26357b4a1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g3b26357b4a1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4" name="Google Shape;644;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4" name="Google Shape;654;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b26357b4a1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9" name="Google Shape;659;g3b26357b4a1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b26357b4a1_0_3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4" name="Google Shape;664;g3b26357b4a1_0_35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9" name="Google Shape;669;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b26357b4a1_0_3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4" name="Google Shape;674;g3b26357b4a1_0_3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b26357b4a1_0_3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g3b26357b4a1_0_3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b26357b4a1_0_3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4" name="Google Shape;684;g3b26357b4a1_0_3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b26357b4a1_0_3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9" name="Google Shape;689;g3b26357b4a1_0_36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b26357b4a1_0_3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4" name="Google Shape;694;g3b26357b4a1_0_3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b26357b4a1_0_3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9" name="Google Shape;699;g3b26357b4a1_0_3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b26357b4a1_0_3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4" name="Google Shape;704;g3b26357b4a1_0_3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b26357b4a1_0_3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9" name="Google Shape;709;g3b26357b4a1_0_3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b26357b4a1_0_3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4" name="Google Shape;714;g3b26357b4a1_0_37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b26357b4a1_0_3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g3b26357b4a1_0_38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b26357b4a1_0_3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4" name="Google Shape;724;g3b26357b4a1_0_3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b26357b4a1_0_3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g3b26357b4a1_0_3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b26357b4a1_0_3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g3b26357b4a1_0_3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b26357b4a1_0_3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g3b26357b4a1_0_3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b26357b4a1_0_4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g3b26357b4a1_0_4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6" name="Google Shape;756;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2" name="Google Shape;762;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b26357b4a1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7" name="Google Shape;767;g3b26357b4a1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2" name="Google Shape;772;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8" name="Google Shape;778;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3" name="Google Shape;783;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8" name="Google Shape;788;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3" name="Google Shape;793;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8" name="Google Shape;798;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3" name="Google Shape;803;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8" name="Google Shape;808;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3" name="Google Shape;813;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8" name="Google Shape;818;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3" name="Google Shape;823;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8" name="Google Shape;828;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3" name="Google Shape;833;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8" name="Google Shape;838;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3" name="Google Shape;843;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8" name="Google Shape;848;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3" name="Google Shape;853;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8" name="Google Shape;858;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3" name="Google Shape;863;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8" name="Google Shape;868;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b26357b4a1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3" name="Google Shape;873;g3b26357b4a1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8" name="Google Shape;878;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3" name="Google Shape;883;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8" name="Google Shape;888;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1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3" name="Google Shape;893;p1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8" name="Google Shape;898;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3" name="Google Shape;903;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b26357b4a1_0_2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8" name="Google Shape;908;g3b26357b4a1_0_2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b26357b4a1_0_2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3" name="Google Shape;913;g3b26357b4a1_0_2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b26357b4a1_0_3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g3b26357b4a1_0_3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b26357b4a1_0_3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g3b26357b4a1_0_3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b26357b4a1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g3b26357b4a1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b26357b4a1_0_3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3" name="Google Shape;933;g3b26357b4a1_0_3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b26357b4a1_0_3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g3b26357b4a1_0_3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b26357b4a1_0_3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3" name="Google Shape;943;g3b26357b4a1_0_3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3b26357b4a1_0_3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8" name="Google Shape;948;g3b26357b4a1_0_3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b26357b4a1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g3b26357b4a1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3" name="Google Shape;963;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3" name="Google Shape;973;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3" name="Google Shape;983;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8" name="Google Shape;988;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3" name="Google Shape;993;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8" name="Google Shape;998;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3" name="Google Shape;1003;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b26357b4a1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9" name="Google Shape;1009;g3b26357b4a1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4" name="Google Shape;1014;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9" name="Google Shape;1019;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4" name="Google Shape;1024;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ab13fdb44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9" name="Google Shape;1029;g3ab13fdb44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b26357b4a1_0_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4" name="Google Shape;1034;g3b26357b4a1_0_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b26357b4a1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9" name="Google Shape;1039;g3b26357b4a1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b26357b4a1_0_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4" name="Google Shape;1044;g3b26357b4a1_0_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3b26357b4a1_0_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9" name="Google Shape;1049;g3b26357b4a1_0_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b26357b4a1_0_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4" name="Google Shape;1054;g3b26357b4a1_0_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3b26357b4a1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9" name="Google Shape;1059;g3b26357b4a1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b26357b4a1_0_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4" name="Google Shape;1064;g3b26357b4a1_0_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3b26357b4a1_0_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9" name="Google Shape;1069;g3b26357b4a1_0_1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b26357b4a1_0_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4" name="Google Shape;1074;g3b26357b4a1_0_1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b26357b4a1_0_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9" name="Google Shape;1079;g3b26357b4a1_0_1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b26357b4a1_0_1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4" name="Google Shape;1084;g3b26357b4a1_0_1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3b26357b4a1_0_1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9" name="Google Shape;1089;g3b26357b4a1_0_1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b26357b4a1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4" name="Google Shape;1094;g3b26357b4a1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3b26357b4a1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9" name="Google Shape;1099;g3b26357b4a1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3b26357b4a1_0_1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4" name="Google Shape;1104;g3b26357b4a1_0_1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3b26357b4a1_0_1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9" name="Google Shape;1109;g3b26357b4a1_0_1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3b26357b4a1_0_1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4" name="Google Shape;1114;g3b26357b4a1_0_1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3b26357b4a1_0_1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9" name="Google Shape;1119;g3b26357b4a1_0_1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3b26357b4a1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4" name="Google Shape;1124;g3b26357b4a1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9" name="Google Shape;1129;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4" name="Google Shape;1134;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9" name="Google Shape;1139;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b26357b4a1_0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4" name="Google Shape;1144;g3b26357b4a1_0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3b26357b4a1_0_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9" name="Google Shape;1149;g3b26357b4a1_0_1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3b26357b4a1_0_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4" name="Google Shape;1154;g3b26357b4a1_0_1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b26357b4a1_0_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9" name="Google Shape;1159;g3b26357b4a1_0_1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b26357b4a1_0_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4" name="Google Shape;1164;g3b26357b4a1_0_1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3b26357b4a1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9" name="Google Shape;1169;g3b26357b4a1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4" name="Google Shape;1174;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3b26357b4a1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9" name="Google Shape;1179;g3b26357b4a1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b26357b4a1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4" name="Google Shape;1184;g3b26357b4a1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3b26357b4a1_0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9" name="Google Shape;1189;g3b26357b4a1_0_1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b26357b4a1_0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4" name="Google Shape;1194;g3b26357b4a1_0_1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3b26357b4a1_0_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9" name="Google Shape;1199;g3b26357b4a1_0_2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b26357b4a1_0_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4" name="Google Shape;1204;g3b26357b4a1_0_2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b26357b4a1_0_2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9" name="Google Shape;1209;g3b26357b4a1_0_2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3b26357b4a1_0_2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4" name="Google Shape;1214;g3b26357b4a1_0_2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b26357b4a1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9" name="Google Shape;1219;g3b26357b4a1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 Id="rId3" Type="http://schemas.openxmlformats.org/officeDocument/2006/relationships/image" Target="../media/image7.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4.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4.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3.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3.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3.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1.jp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4.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a5c12958b4_0_0"/>
          <p:cNvPicPr preferRelativeResize="0"/>
          <p:nvPr/>
        </p:nvPicPr>
        <p:blipFill rotWithShape="1">
          <a:blip r:embed="rId3">
            <a:alphaModFix/>
          </a:blip>
          <a:srcRect b="0" l="0" r="0" t="0"/>
          <a:stretch/>
        </p:blipFill>
        <p:spPr>
          <a:xfrm>
            <a:off x="0" y="0"/>
            <a:ext cx="9159910"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b26357b4a1_0_1"/>
          <p:cNvPicPr preferRelativeResize="0"/>
          <p:nvPr/>
        </p:nvPicPr>
        <p:blipFill rotWithShape="1">
          <a:blip r:embed="rId3">
            <a:alphaModFix/>
          </a:blip>
          <a:srcRect b="0" l="0" r="0" t="0"/>
          <a:stretch/>
        </p:blipFill>
        <p:spPr>
          <a:xfrm>
            <a:off x="0" y="0"/>
            <a:ext cx="9159910" cy="5143499"/>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BA VUA</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ĐĂNG TRÌNH</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(Ngọc Linh)</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Trên trời cao đây ánh tinh tú rạng chiếu trần gian bừng sáng vinh quang huy hoàng tỏa lan soi đêm tối.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b26357b4a1_0_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Trên trời cao đây ánh tinh tú rạng chiếu nầy đây Con Chúa giáng sinh giữa chốn đơn nghèo.</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b26357b4a1_0_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Vui lên Con Chúa Vua Bình An đã đến trần gian giá lạnh được sưởi ấm trong đêm Ngôi Hai ra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b26357b4a1_0_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Vui lên Con Chúa Vua Bình An đã đến trần gian mau tới tôn vinh Ngôi Hai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pic>
        <p:nvPicPr>
          <p:cNvPr id="543" name="Google Shape;543;g3b26357b4a1_0_5"/>
          <p:cNvPicPr preferRelativeResize="0"/>
          <p:nvPr/>
        </p:nvPicPr>
        <p:blipFill rotWithShape="1">
          <a:blip r:embed="rId3">
            <a:alphaModFix/>
          </a:blip>
          <a:srcRect b="0" l="0" r="0" t="0"/>
          <a:stretch/>
        </p:blipFill>
        <p:spPr>
          <a:xfrm>
            <a:off x="0" y="0"/>
            <a:ext cx="9159910" cy="5143499"/>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49" name="Google Shape;54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0" name="Shape 560"/>
        <p:cNvGrpSpPr/>
        <p:nvPr/>
      </p:nvGrpSpPr>
      <p:grpSpPr>
        <a:xfrm>
          <a:off x="0" y="0"/>
          <a:ext cx="0" cy="0"/>
          <a:chOff x="0" y="0"/>
          <a:chExt cx="0" cy="0"/>
        </a:xfrm>
      </p:grpSpPr>
      <p:sp>
        <p:nvSpPr>
          <p:cNvPr id="561" name="Google Shape;56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500">
                <a:solidFill>
                  <a:srgbClr val="FF3399"/>
                </a:solidFill>
                <a:latin typeface="Times"/>
                <a:ea typeface="Times"/>
                <a:cs typeface="Times"/>
                <a:sym typeface="Times"/>
              </a:rPr>
              <a:t>A+B: </a:t>
            </a:r>
            <a:r>
              <a:rPr b="1" lang="en-US" sz="7500">
                <a:solidFill>
                  <a:schemeClr val="lt1"/>
                </a:solidFill>
                <a:latin typeface="Times"/>
                <a:ea typeface="Times"/>
                <a:cs typeface="Times"/>
                <a:sym typeface="Times"/>
              </a:rPr>
              <a:t>Cùng Ðức Chúa Thánh Thần trong vinh quang Ðức Chúa Cha.</a:t>
            </a:r>
            <a:r>
              <a:rPr b="1" lang="en-US" sz="7500">
                <a:latin typeface="Times"/>
                <a:ea typeface="Times"/>
                <a:cs typeface="Times"/>
                <a:sym typeface="Times"/>
              </a:rPr>
              <a:t> </a:t>
            </a:r>
            <a:r>
              <a:rPr b="1" lang="en-US" sz="7500">
                <a:solidFill>
                  <a:schemeClr val="lt1"/>
                </a:solidFill>
                <a:latin typeface="Times"/>
                <a:ea typeface="Times"/>
                <a:cs typeface="Times"/>
                <a:sym typeface="Times"/>
              </a:rPr>
              <a:t>Amen.</a:t>
            </a:r>
            <a:endParaRPr sz="75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pic>
        <p:nvPicPr>
          <p:cNvPr id="632" name="Google Shape;632;g3b26357b4a1_0_9"/>
          <p:cNvPicPr preferRelativeResize="0"/>
          <p:nvPr/>
        </p:nvPicPr>
        <p:blipFill rotWithShape="1">
          <a:blip r:embed="rId3">
            <a:alphaModFix/>
          </a:blip>
          <a:srcRect b="0" l="0" r="0" t="0"/>
          <a:stretch/>
        </p:blipFill>
        <p:spPr>
          <a:xfrm>
            <a:off x="0" y="0"/>
            <a:ext cx="9159910" cy="5143499"/>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6" name="Shape 636"/>
        <p:cNvGrpSpPr/>
        <p:nvPr/>
      </p:nvGrpSpPr>
      <p:grpSpPr>
        <a:xfrm>
          <a:off x="0" y="0"/>
          <a:ext cx="0" cy="0"/>
          <a:chOff x="0" y="0"/>
          <a:chExt cx="0" cy="0"/>
        </a:xfrm>
      </p:grpSpPr>
      <p:sp>
        <p:nvSpPr>
          <p:cNvPr id="637" name="Google Shape;637;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38" name="Google Shape;638;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39" name="Google Shape;639;p133"/>
          <p:cNvSpPr/>
          <p:nvPr/>
        </p:nvSpPr>
        <p:spPr>
          <a:xfrm flipH="1" rot="10800000">
            <a:off x="-1733" y="0"/>
            <a:ext cx="6803134" cy="5143179"/>
          </a:xfrm>
          <a:prstGeom prst="rect">
            <a:avLst/>
          </a:prstGeom>
          <a:gradFill>
            <a:gsLst>
              <a:gs pos="0">
                <a:srgbClr val="000000">
                  <a:alpha val="49411"/>
                </a:srgbClr>
              </a:gs>
              <a:gs pos="8000">
                <a:srgbClr val="000000">
                  <a:alpha val="49411"/>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40" name="Google Shape;640;p133"/>
          <p:cNvSpPr/>
          <p:nvPr/>
        </p:nvSpPr>
        <p:spPr>
          <a:xfrm flipH="1" rot="-5400000">
            <a:off x="2737118" y="-1264380"/>
            <a:ext cx="3670923" cy="9145160"/>
          </a:xfrm>
          <a:prstGeom prst="rect">
            <a:avLst/>
          </a:prstGeom>
          <a:gradFill>
            <a:gsLst>
              <a:gs pos="0">
                <a:srgbClr val="9CC2E5">
                  <a:alpha val="0"/>
                </a:srgbClr>
              </a:gs>
              <a:gs pos="100000">
                <a:srgbClr val="000000">
                  <a:alpha val="43529"/>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41" name="Google Shape;641;p133"/>
          <p:cNvPicPr preferRelativeResize="0"/>
          <p:nvPr/>
        </p:nvPicPr>
        <p:blipFill rotWithShape="1">
          <a:blip r:embed="rId3">
            <a:alphaModFix/>
          </a:blip>
          <a:srcRect b="0" l="0" r="0" t="0"/>
          <a:stretch/>
        </p:blipFill>
        <p:spPr>
          <a:xfrm>
            <a:off x="0" y="4465"/>
            <a:ext cx="9144003" cy="5134572"/>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71</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Thân lạy Chúa xin ban quyền bính cho Tân Vương,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trao công lý trong tay Hoàng Tử.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g3b26357b4a1_0_3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Tân Vương theo công lý xét xử dân riêng,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b26357b4a1_0_35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bênh vực quyền lợi kẻ khó nghèo.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khắp trên địa cầu mọi dân tộc đều thờ lạy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g3b26357b4a1_0_3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Vương triều sẽ luôn đua nở thắm hoa công minh,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g3b26357b4a1_0_3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thiên thu mãi an ninh thịnh trị.</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g3b26357b4a1_0_3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trông coi từ biển Đông qua biển phương Tây,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g3b26357b4a1_0_36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khắp sông rộng và cả vũ hoàn.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g3b26357b4a1_0_3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khắp trên địa cầu mọi dân tộc đều thờ lạy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g3b26357b4a1_0_3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Ai nghèo khó khấn xin Người sẽ luôn thương nghe,</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g3b26357b4a1_0_3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ra tay cứu con dân cùng khổ.</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g3b26357b4a1_0_3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Chạnh lòng thương ai nguy khốn, bé nhỏ đơn côi,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g3b26357b4a1_0_3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ai cơ cùng Người giải thoát cho.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g3b26357b4a1_0_3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khắp trên địa cầu mọi dân tộc đều thờ lạy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g3b26357b4a1_0_3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4. </a:t>
            </a:r>
            <a:r>
              <a:rPr b="1" lang="en-US" sz="8000">
                <a:solidFill>
                  <a:schemeClr val="lt1"/>
                </a:solidFill>
                <a:latin typeface="Times New Roman"/>
                <a:ea typeface="Times New Roman"/>
                <a:cs typeface="Times New Roman"/>
                <a:sym typeface="Times New Roman"/>
              </a:rPr>
              <a:t>Danh Người sẽ chói sáng cùng thái dương lan xa,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g3b26357b4a1_0_3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qua muôn kiếp muôn năm trường cửu.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g3b26357b4a1_0_3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Nhờ Danh Chúa muôn dân nước sẽ được chúc phúc,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b26357b4a1_0_3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thiên hạ cùng ngợi khen chúc tụng.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b26357b4a1_0_4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khắp trên địa cầu mọi dân tộc đều thờ lạy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0" name="Shape 750"/>
        <p:cNvGrpSpPr/>
        <p:nvPr/>
      </p:nvGrpSpPr>
      <p:grpSpPr>
        <a:xfrm>
          <a:off x="0" y="0"/>
          <a:ext cx="0" cy="0"/>
          <a:chOff x="0" y="0"/>
          <a:chExt cx="0" cy="0"/>
        </a:xfrm>
      </p:grpSpPr>
      <p:sp>
        <p:nvSpPr>
          <p:cNvPr id="751" name="Google Shape;751;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52" name="Google Shape;752;p155"/>
          <p:cNvPicPr preferRelativeResize="0"/>
          <p:nvPr/>
        </p:nvPicPr>
        <p:blipFill rotWithShape="1">
          <a:blip r:embed="rId3">
            <a:alphaModFix/>
          </a:blip>
          <a:srcRect b="0" l="0" r="0" t="0"/>
          <a:stretch/>
        </p:blipFill>
        <p:spPr>
          <a:xfrm>
            <a:off x="0" y="-4475"/>
            <a:ext cx="9144003" cy="5179974"/>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156"/>
          <p:cNvSpPr txBox="1"/>
          <p:nvPr>
            <p:ph type="ctrTitle"/>
          </p:nvPr>
        </p:nvSpPr>
        <p:spPr>
          <a:xfrm>
            <a:off x="0" y="584200"/>
            <a:ext cx="9144000" cy="4559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7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7700">
                <a:solidFill>
                  <a:schemeClr val="lt1"/>
                </a:solidFill>
                <a:latin typeface="Times"/>
                <a:ea typeface="Times"/>
                <a:cs typeface="Times"/>
                <a:sym typeface="Times"/>
              </a:rPr>
              <a:t>Chúng tôi đã nhận thấy ngôi sao của Ngài ở Đông phương. </a:t>
            </a:r>
            <a:endParaRPr b="1" i="1" sz="7700">
              <a:solidFill>
                <a:schemeClr val="lt1"/>
              </a:solidFill>
              <a:latin typeface="Times"/>
              <a:ea typeface="Times"/>
              <a:cs typeface="Times"/>
              <a:sym typeface="Times"/>
            </a:endParaRPr>
          </a:p>
        </p:txBody>
      </p:sp>
      <p:sp>
        <p:nvSpPr>
          <p:cNvPr id="759" name="Google Shape;759;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Và chúng tôi đã đến để triều bái Ngài.</a:t>
            </a:r>
            <a:br>
              <a:rPr b="1" i="1" lang="en-US" sz="8000">
                <a:latin typeface="Times"/>
                <a:ea typeface="Times"/>
                <a:cs typeface="Times"/>
                <a:sym typeface="Times"/>
              </a:rPr>
            </a:br>
            <a:r>
              <a:rPr b="1" i="1" lang="en-US" sz="8000">
                <a:solidFill>
                  <a:srgbClr val="FFFF00"/>
                </a:solidFill>
                <a:latin typeface="Times"/>
                <a:ea typeface="Times"/>
                <a:cs typeface="Times"/>
                <a:sym typeface="Times"/>
              </a:rPr>
              <a:t>All..</a:t>
            </a:r>
            <a:endParaRPr b="1" sz="8000">
              <a:solidFill>
                <a:srgbClr val="FFFF00"/>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pic>
        <p:nvPicPr>
          <p:cNvPr id="769" name="Google Shape;769;g3b26357b4a1_0_13"/>
          <p:cNvPicPr preferRelativeResize="0"/>
          <p:nvPr/>
        </p:nvPicPr>
        <p:blipFill rotWithShape="1">
          <a:blip r:embed="rId3">
            <a:alphaModFix/>
          </a:blip>
          <a:srcRect b="0" l="0" r="0" t="0"/>
          <a:stretch/>
        </p:blipFill>
        <p:spPr>
          <a:xfrm>
            <a:off x="0" y="0"/>
            <a:ext cx="9159910" cy="5143499"/>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75" name="Google Shape;775;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pic>
        <p:nvPicPr>
          <p:cNvPr id="875" name="Google Shape;875;g3b26357b4a1_0_17"/>
          <p:cNvPicPr preferRelativeResize="0"/>
          <p:nvPr/>
        </p:nvPicPr>
        <p:blipFill rotWithShape="1">
          <a:blip r:embed="rId3">
            <a:alphaModFix/>
          </a:blip>
          <a:srcRect b="0" l="0" r="0" t="0"/>
          <a:stretch/>
        </p:blipFill>
        <p:spPr>
          <a:xfrm>
            <a:off x="0" y="0"/>
            <a:ext cx="9159910" cy="5143499"/>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TIẾN DÂNG CHA</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Này giờ đoàn con tiến dâng lên Ngài. Này là của lễ từ muôn lao công con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Với bao khó nhọc sớm chiều vất vả ngày đêm.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1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thương đón nhận lễ vật chân thành hiệp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Kính tiến lên Cha này bánh rượu thơm nồng.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tiến dâng lên Cha đoàn con cùng hiệp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g3b26357b4a1_0_2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Này đoàn con cùng dâng tiến Cha nhân lành Này ngàn mộng ước tình yêu tâm tư</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g3b26357b4a1_0_2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người Xin thương đón nhận chân thành tâm tình đầy vơi.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g3b26357b4a1_0_3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Đoái thương chúc lành khối tình con người hiệp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g3b26357b4a1_0_3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Kính tiến lên Cha này bánh rượu thơm nồng.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g3b26357b4a1_0_3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tiến dâng lên Cha đoàn con cùng hiệp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g3b26357b4a1_0_3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Này giờ đoàn con tiến dâng lên Ngài. Này là của lễ từ muôn lao công con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g3b26357b4a1_0_3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Với bao khó nhọc sớm chiều vất vả ngày đêm.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g3b26357b4a1_0_3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thương đón nhận lễ vật chân thành hiệp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g3b26357b4a1_0_3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Kính tiến lên Cha này bánh rượu thơm nồng.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g3b26357b4a1_0_3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tiến dâng lên Cha đoàn con cùng hiệp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pic>
        <p:nvPicPr>
          <p:cNvPr descr="A golden chalice and a cross next to a book&#10;&#10;AI-generated content may be incorrect." id="960" name="Google Shape;960;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pic>
        <p:nvPicPr>
          <p:cNvPr descr="A golden chalice and a cross next to a book&#10;&#10;AI-generated content may be incorrect." id="980" name="Google Shape;980;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pic>
        <p:nvPicPr>
          <p:cNvPr descr="A golden chalice and a cross next to a book&#10;&#10;AI-generated content may be incorrect." id="1000" name="Google Shape;1000;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300">
                <a:solidFill>
                  <a:schemeClr val="lt1"/>
                </a:solidFill>
                <a:latin typeface="Times"/>
                <a:ea typeface="Times"/>
                <a:cs typeface="Times"/>
                <a:sym typeface="Times"/>
              </a:rPr>
              <a:t>Chúng tôi đã thấy ngôi sao của Người xuất hiện ở Phương Đông,</a:t>
            </a:r>
            <a:endParaRPr b="1" sz="6500">
              <a:solidFill>
                <a:schemeClr val="lt1"/>
              </a:solidFill>
              <a:latin typeface="Times"/>
              <a:ea typeface="Times"/>
              <a:cs typeface="Times"/>
              <a:sym typeface="Times"/>
            </a:endParaRPr>
          </a:p>
        </p:txBody>
      </p:sp>
      <p:sp>
        <p:nvSpPr>
          <p:cNvPr id="1006" name="Google Shape;1006;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g3b26357b4a1_0_33"/>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300">
                <a:solidFill>
                  <a:schemeClr val="lt1"/>
                </a:solidFill>
                <a:latin typeface="Times"/>
                <a:ea typeface="Times"/>
                <a:cs typeface="Times"/>
                <a:sym typeface="Times"/>
              </a:rPr>
              <a:t>và chúng tôi mang của lễ đến bái thờ Người.</a:t>
            </a:r>
            <a:endParaRPr b="1" sz="6500">
              <a:solidFill>
                <a:schemeClr val="lt1"/>
              </a:solidFill>
              <a:latin typeface="Times"/>
              <a:ea typeface="Times"/>
              <a:cs typeface="Times"/>
              <a:sym typeface="Times"/>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pic>
        <p:nvPicPr>
          <p:cNvPr descr="A gold chalice and two round objects on a plate&#10;&#10;AI-generated content may be incorrect." id="1016" name="Google Shape;1016;p212"/>
          <p:cNvPicPr preferRelativeResize="0"/>
          <p:nvPr/>
        </p:nvPicPr>
        <p:blipFill rotWithShape="1">
          <a:blip r:embed="rId3">
            <a:alphaModFix/>
          </a:blip>
          <a:srcRect b="0" l="0" r="0" t="0"/>
          <a:stretch/>
        </p:blipFill>
        <p:spPr>
          <a:xfrm>
            <a:off x="0" y="921"/>
            <a:ext cx="9144000" cy="5141658"/>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LỄ HIỂN LINH</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(Phanxiô Nguyễn Đình Diễn)</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Kìa trông bầu trời cao cao, có ánh sao soi rạng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g3ab13fdb44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ta đi, nào ta đi tìm Hài Nhi đã sinh cho ta. Tìm Hài Nhi đã sinh cho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g3b26357b4a1_0_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Kìa Ba Vua từ phương Đông đến quỳ đây nơi hang đá này.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g3b26357b4a1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Người bao vật quý và hương ngát thơm.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g3b26357b4a1_0_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Kìa Ba Vua tìm Bê-lem, đến mà xem nơi hang đá hèn.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g3b26357b4a1_0_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Trời nay sinh xuống giữa cảnh lầm than.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g3b26357b4a1_0_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Kìa trông bầu trời cao cao, có ánh sao soi rạng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g3b26357b4a1_0_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ta đi, nào ta đi tìm Hài Nhi đã sinh cho ta. Tìm Hài Nhi đã sinh cho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g3b26357b4a1_0_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Kìa muôn dân từ muôn nơi đã nhìn xem vinh quang Chúa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g3b26357b4a1_0_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Trên đời nay đã thấy Nhành Hoa thắm tươi.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g3b26357b4a1_0_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Này muôn dân ngàn năm sau sẽ còn luôn yêu thương thắm màu.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g3b26357b4a1_0_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Muôn đời luôn ghi nhớ mối tình thẳm sâu.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g3b26357b4a1_0_1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Kìa trông bầu trời cao cao, có ánh sao soi rạng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g3b26357b4a1_0_1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ta đi, nào ta đi tìm Hài Nhi đã sinh cho ta. Tìm Hài Nhi đã sinh cho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g3b26357b4a1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Người mang vương quyền trên vai, đến trần ai mang ơn thái hòa.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g3b26357b4a1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Muôn nhà luôn năm tháng triền miên hát ca.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g3b26357b4a1_0_1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Kìa trăng sao còn lên ngôi, mãi đẹp tươi Đức Công Chính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g3b26357b4a1_0_1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Trời trên ngai báu vững bền ngàn năm.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g3b26357b4a1_0_1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Kìa trông bầu trời cao cao, có ánh sao soi rạng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g3b26357b4a1_0_1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ta đi, nào ta đi tìm Hài Nhi đã sinh cho ta. Tìm Hài Nhi đã sinh cho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pic>
        <p:nvPicPr>
          <p:cNvPr id="1126" name="Google Shape;1126;g3b26357b4a1_0_21"/>
          <p:cNvPicPr preferRelativeResize="0"/>
          <p:nvPr/>
        </p:nvPicPr>
        <p:blipFill rotWithShape="1">
          <a:blip r:embed="rId3">
            <a:alphaModFix/>
          </a:blip>
          <a:srcRect b="0" l="0" r="0" t="0"/>
          <a:stretch/>
        </p:blipFill>
        <p:spPr>
          <a:xfrm>
            <a:off x="0" y="0"/>
            <a:ext cx="9159910" cy="5143499"/>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HANG BÊ-LEM</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(Hải Linh - Minh Châu)</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ĐK:</a:t>
            </a:r>
            <a:r>
              <a:rPr b="1" lang="en-US" sz="8000">
                <a:solidFill>
                  <a:srgbClr val="FF00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Hát khen, mừng Chúa giáng sinh ra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sinh ra đời, nằm trong hang đá nơi máng lừa.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g3b26357b4a1_0_1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Trong hang Bê-lem, ánh sáng toả lan tưng bừng,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g3b26357b4a1_0_1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nghe trên không trung tiếng hát thiên thần vang lừng: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g3b26357b4a1_0_1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Đàn hát </a:t>
            </a:r>
            <a:r>
              <a:rPr b="1" i="1" lang="en-US" sz="8000">
                <a:solidFill>
                  <a:schemeClr val="lt1"/>
                </a:solidFill>
                <a:latin typeface="Times New Roman"/>
                <a:ea typeface="Times New Roman"/>
                <a:cs typeface="Times New Roman"/>
                <a:sym typeface="Times New Roman"/>
              </a:rPr>
              <a:t>(réo rắt tiếng hát)</a:t>
            </a:r>
            <a:r>
              <a:rPr b="1" lang="en-US" sz="8000">
                <a:solidFill>
                  <a:schemeClr val="lt1"/>
                </a:solidFill>
                <a:latin typeface="Times New Roman"/>
                <a:ea typeface="Times New Roman"/>
                <a:cs typeface="Times New Roman"/>
                <a:sym typeface="Times New Roman"/>
              </a:rPr>
              <a:t> Xướng ca </a:t>
            </a:r>
            <a:r>
              <a:rPr b="1" i="1" lang="en-US" sz="8000">
                <a:solidFill>
                  <a:schemeClr val="lt1"/>
                </a:solidFill>
                <a:latin typeface="Times New Roman"/>
                <a:ea typeface="Times New Roman"/>
                <a:cs typeface="Times New Roman"/>
                <a:sym typeface="Times New Roman"/>
              </a:rPr>
              <a:t>(dư âm vang xa)</a:t>
            </a:r>
            <a:endParaRPr b="1" i="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g3b26357b4a1_0_1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Đây Chúa thiên toà giáng sinh vì ta.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g3b26357b4a1_0_1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Người hỡi </a:t>
            </a:r>
            <a:r>
              <a:rPr b="1" i="1" lang="en-US" sz="8000">
                <a:solidFill>
                  <a:schemeClr val="lt1"/>
                </a:solidFill>
                <a:latin typeface="Times New Roman"/>
                <a:ea typeface="Times New Roman"/>
                <a:cs typeface="Times New Roman"/>
                <a:sym typeface="Times New Roman"/>
              </a:rPr>
              <a:t>(hãy kíp bước tới)</a:t>
            </a:r>
            <a:r>
              <a:rPr b="1" lang="en-US" sz="8000">
                <a:solidFill>
                  <a:schemeClr val="lt1"/>
                </a:solidFill>
                <a:latin typeface="Times New Roman"/>
                <a:ea typeface="Times New Roman"/>
                <a:cs typeface="Times New Roman"/>
                <a:sym typeface="Times New Roman"/>
              </a:rPr>
              <a:t> Đến xem </a:t>
            </a:r>
            <a:r>
              <a:rPr b="1" i="1" lang="en-US" sz="8000">
                <a:solidFill>
                  <a:schemeClr val="lt1"/>
                </a:solidFill>
                <a:latin typeface="Times New Roman"/>
                <a:ea typeface="Times New Roman"/>
                <a:cs typeface="Times New Roman"/>
                <a:sym typeface="Times New Roman"/>
              </a:rPr>
              <a:t>(nơi hang Bê-lem)</a:t>
            </a:r>
            <a:r>
              <a:rPr b="1" lang="en-US" sz="8000">
                <a:solidFill>
                  <a:schemeClr val="lt1"/>
                </a:solidFill>
                <a:latin typeface="Times New Roman"/>
                <a:ea typeface="Times New Roman"/>
                <a:cs typeface="Times New Roman"/>
                <a:sym typeface="Times New Roman"/>
              </a:rPr>
              <a: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g3b26357b4a1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Ôi Chúa giáng sinh khó khăn thấp hèn.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1.</a:t>
            </a:r>
            <a:r>
              <a:rPr b="1" lang="en-US" sz="8000">
                <a:solidFill>
                  <a:schemeClr val="lt1"/>
                </a:solidFill>
                <a:latin typeface="Times New Roman"/>
                <a:ea typeface="Times New Roman"/>
                <a:cs typeface="Times New Roman"/>
                <a:sym typeface="Times New Roman"/>
              </a:rPr>
              <a:t> Nửa đêm mừng Chúa giáng sinh ra chốn gian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g3b26357b4a1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Người đem ơn phúc xuống cho muôn dân lầm than.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g3b26357b4a1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7300">
                <a:solidFill>
                  <a:schemeClr val="lt1"/>
                </a:solidFill>
                <a:latin typeface="Times New Roman"/>
                <a:ea typeface="Times New Roman"/>
                <a:cs typeface="Times New Roman"/>
                <a:sym typeface="Times New Roman"/>
              </a:rPr>
              <a:t>Nơi hang Bê-lem Thiên thần xướng ca. Thiên Chúa vinh danh chúng nhân an hòa.</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g3b26357b4a1_0_1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Trong hang Bê-lem, ánh sáng toả lan tưng bừng,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g3b26357b4a1_0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nghe trên không trung tiếng hát thiên thần vang lừng: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g3b26357b4a1_0_2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Đàn hát </a:t>
            </a:r>
            <a:r>
              <a:rPr b="1" i="1" lang="en-US" sz="8000">
                <a:solidFill>
                  <a:schemeClr val="lt1"/>
                </a:solidFill>
                <a:latin typeface="Times New Roman"/>
                <a:ea typeface="Times New Roman"/>
                <a:cs typeface="Times New Roman"/>
                <a:sym typeface="Times New Roman"/>
              </a:rPr>
              <a:t>(réo rắt tiếng hát)</a:t>
            </a:r>
            <a:r>
              <a:rPr b="1" lang="en-US" sz="8000">
                <a:solidFill>
                  <a:schemeClr val="lt1"/>
                </a:solidFill>
                <a:latin typeface="Times New Roman"/>
                <a:ea typeface="Times New Roman"/>
                <a:cs typeface="Times New Roman"/>
                <a:sym typeface="Times New Roman"/>
              </a:rPr>
              <a:t> Xướng ca </a:t>
            </a:r>
            <a:r>
              <a:rPr b="1" i="1" lang="en-US" sz="8000">
                <a:solidFill>
                  <a:schemeClr val="lt1"/>
                </a:solidFill>
                <a:latin typeface="Times New Roman"/>
                <a:ea typeface="Times New Roman"/>
                <a:cs typeface="Times New Roman"/>
                <a:sym typeface="Times New Roman"/>
              </a:rPr>
              <a:t>(dư âm vang xa)</a:t>
            </a:r>
            <a:endParaRPr b="1" i="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g3b26357b4a1_0_2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Đây Chúa thiên toà giáng sinh vì ta.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g3b26357b4a1_0_2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Người hỡi </a:t>
            </a:r>
            <a:r>
              <a:rPr b="1" i="1" lang="en-US" sz="8000">
                <a:solidFill>
                  <a:schemeClr val="lt1"/>
                </a:solidFill>
                <a:latin typeface="Times New Roman"/>
                <a:ea typeface="Times New Roman"/>
                <a:cs typeface="Times New Roman"/>
                <a:sym typeface="Times New Roman"/>
              </a:rPr>
              <a:t>(hãy kíp bước tới)</a:t>
            </a:r>
            <a:r>
              <a:rPr b="1" lang="en-US" sz="8000">
                <a:solidFill>
                  <a:schemeClr val="lt1"/>
                </a:solidFill>
                <a:latin typeface="Times New Roman"/>
                <a:ea typeface="Times New Roman"/>
                <a:cs typeface="Times New Roman"/>
                <a:sym typeface="Times New Roman"/>
              </a:rPr>
              <a:t> Đến xem </a:t>
            </a:r>
            <a:r>
              <a:rPr b="1" i="1" lang="en-US" sz="8000">
                <a:solidFill>
                  <a:schemeClr val="lt1"/>
                </a:solidFill>
                <a:latin typeface="Times New Roman"/>
                <a:ea typeface="Times New Roman"/>
                <a:cs typeface="Times New Roman"/>
                <a:sym typeface="Times New Roman"/>
              </a:rPr>
              <a:t>(nơi hang Bê-lem)</a:t>
            </a:r>
            <a:r>
              <a:rPr b="1" lang="en-US" sz="8000">
                <a:solidFill>
                  <a:schemeClr val="lt1"/>
                </a:solidFill>
                <a:latin typeface="Times New Roman"/>
                <a:ea typeface="Times New Roman"/>
                <a:cs typeface="Times New Roman"/>
                <a:sym typeface="Times New Roman"/>
              </a:rPr>
              <a: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g3b26357b4a1_0_2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Ôi Chúa giáng sinh khó khăn thấp hèn.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pic>
        <p:nvPicPr>
          <p:cNvPr id="1221" name="Google Shape;1221;g3b26357b4a1_0_25"/>
          <p:cNvPicPr preferRelativeResize="0"/>
          <p:nvPr/>
        </p:nvPicPr>
        <p:blipFill rotWithShape="1">
          <a:blip r:embed="rId3">
            <a:alphaModFix/>
          </a:blip>
          <a:srcRect b="0" l="0" r="0" t="0"/>
          <a:stretch/>
        </p:blipFill>
        <p:spPr>
          <a:xfrm>
            <a:off x="0" y="0"/>
            <a:ext cx="9159910"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