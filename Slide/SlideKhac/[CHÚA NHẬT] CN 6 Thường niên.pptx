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29" roundtripDataSignature="AMtx7miQ+3EKYYqhr2DPKY7wYJzMkOeT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customschemas.google.com/relationships/presentationmetadata" Target="metadata"/><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be9254b0cc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be9254b0cc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b5c728cec8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b5c728cec8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bbbf7d17f7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bbbf7d17f7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bbbf7d17f7_0_1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bbbf7d17f7_0_1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be9254b0cc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be9254b0cc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be9254b0cc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be9254b0cc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be9254b0cc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be9254b0cc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 name="Google Shape;70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03" name="Google Shape;70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09" name="Google Shape;70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4" name="Google Shape;71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15" name="Google Shape;71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0" name="Google Shape;72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1" name="Google Shape;72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7" name="Google Shape;72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3" name="Google Shape;73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9" name="Google Shape;73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5" name="Google Shape;74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1" name="Google Shape;75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7" name="Google Shape;75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3" name="Google Shape;76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9" name="Google Shape;76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5" name="Google Shape;77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be9254b0cc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g3be9254b0cc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g3a42a8b53c1_2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4" name="Google Shape;794;g3a42a8b53c1_2_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3a42a8b53c1_2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9" name="Google Shape;799;g3a42a8b53c1_2_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b26357b4a1_0_3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4" name="Google Shape;804;g3b26357b4a1_0_3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3bc6b650b34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9" name="Google Shape;809;g3bc6b650b34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3a42a8b53c1_2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4" name="Google Shape;814;g3a42a8b53c1_2_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b26357b4a1_0_3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9" name="Google Shape;819;g3b26357b4a1_0_3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b26357b4a1_0_3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4" name="Google Shape;824;g3b26357b4a1_0_3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3b26357b4a1_0_3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9" name="Google Shape;829;g3b26357b4a1_0_3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3be9254b0cc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4" name="Google Shape;834;g3be9254b0cc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b26357b4a1_0_3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9" name="Google Shape;839;g3b26357b4a1_0_3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3b26357b4a1_0_3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4" name="Google Shape;844;g3b26357b4a1_0_3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3b26357b4a1_0_3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9" name="Google Shape;849;g3b26357b4a1_0_3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be9254b0cc_0_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4" name="Google Shape;854;g3be9254b0cc_0_9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p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9" name="Google Shape;859;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5" name="Google Shape;865;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6" name="Google Shape;866;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2" name="Google Shape;872;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7" name="Google Shape;877;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g3be9254b0cc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2" name="Google Shape;882;g3be9254b0cc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7" name="Google Shape;887;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3" name="Google Shape;893;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8" name="Google Shape;898;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3" name="Google Shape;903;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8" name="Google Shape;908;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3" name="Google Shape;913;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8" name="Google Shape;918;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3" name="Google Shape;923;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8" name="Google Shape;928;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3" name="Google Shape;933;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8" name="Google Shape;938;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3" name="Google Shape;943;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8" name="Google Shape;948;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3" name="Google Shape;953;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8" name="Google Shape;958;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3" name="Google Shape;963;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8" name="Google Shape;968;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3" name="Google Shape;973;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8" name="Google Shape;978;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3" name="Google Shape;983;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g3be9254b0cc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8" name="Google Shape;988;g3be9254b0cc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g3a42a8b53c1_2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3" name="Google Shape;993;g3a42a8b53c1_2_1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3a42a8b53c1_2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8" name="Google Shape;998;g3a42a8b53c1_2_1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g3a42a8b53c1_2_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3" name="Google Shape;1003;g3a42a8b53c1_2_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3bc6b650b3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8" name="Google Shape;1008;g3bc6b650b34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3a42a8b53c1_2_2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3" name="Google Shape;1013;g3a42a8b53c1_2_2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g3b224b7d20a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8" name="Google Shape;1018;g3b224b7d20a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3be9254b0cc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3" name="Google Shape;1023;g3be9254b0cc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3be9254b0cc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8" name="Google Shape;1028;g3be9254b0cc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g3be9254b0cc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3" name="Google Shape;1033;g3be9254b0cc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3be9254b0cc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8" name="Google Shape;1038;g3be9254b0cc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g3be9254b0cc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3" name="Google Shape;1043;g3be9254b0cc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3be9254b0cc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8" name="Google Shape;1048;g3be9254b0cc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3" name="Google Shape;1053;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8" name="Google Shape;1058;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3" name="Google Shape;1063;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8" name="Google Shape;1068;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p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3" name="Google Shape;1073;p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8" name="Google Shape;1078;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3" name="Google Shape;1083;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8" name="Google Shape;1088;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p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3" name="Google Shape;1093;p2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8" name="Google Shape;1098;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g3bc6b650b34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4" name="Google Shape;1104;g3bc6b650b34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p2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9" name="Google Shape;1109;p2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g3a42a8b53c1_2_2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4" name="Google Shape;1114;g3a42a8b53c1_2_2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3a42a8b53c1_2_2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9" name="Google Shape;1119;g3a42a8b53c1_2_2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g3ab13fdb44f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4" name="Google Shape;1124;g3ab13fdb44f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3b26357b4a1_0_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9" name="Google Shape;1129;g3b26357b4a1_0_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g3b26357b4a1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4" name="Google Shape;1134;g3b26357b4a1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3bbbf7d17f7_0_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9" name="Google Shape;1139;g3bbbf7d17f7_0_8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g3bbbf7d17f7_0_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4" name="Google Shape;1144;g3bbbf7d17f7_0_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g3bbbf7d17f7_0_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9" name="Google Shape;1149;g3bbbf7d17f7_0_9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3bbbf7d17f7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4" name="Google Shape;1154;g3bbbf7d17f7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g3be9254b0cc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9" name="Google Shape;1159;g3be9254b0cc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g3be9254b0cc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4" name="Google Shape;1164;g3be9254b0cc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g3be9254b0cc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9" name="Google Shape;1169;g3be9254b0cc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3be9254b0cc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4" name="Google Shape;1174;g3be9254b0cc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7" name="Shape 1177"/>
        <p:cNvGrpSpPr/>
        <p:nvPr/>
      </p:nvGrpSpPr>
      <p:grpSpPr>
        <a:xfrm>
          <a:off x="0" y="0"/>
          <a:ext cx="0" cy="0"/>
          <a:chOff x="0" y="0"/>
          <a:chExt cx="0" cy="0"/>
        </a:xfrm>
      </p:grpSpPr>
      <p:sp>
        <p:nvSpPr>
          <p:cNvPr id="1178" name="Google Shape;1178;g3be9254b0cc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9" name="Google Shape;1179;g3be9254b0cc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3b26357b4a1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4" name="Google Shape;1184;g3b26357b4a1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3b26357b4a1_0_1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9" name="Google Shape;1189;g3b26357b4a1_0_1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3b26357b4a1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4" name="Google Shape;1194;g3b26357b4a1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g3b26357b4a1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9" name="Google Shape;1199;g3b26357b4a1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g3bd41fd8710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4" name="Google Shape;1204;g3bd41fd8710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3bd41fd8710_0_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9" name="Google Shape;1209;g3bd41fd8710_0_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g3be9254b0cc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4" name="Google Shape;1214;g3be9254b0cc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3be9254b0cc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9" name="Google Shape;1219;g3be9254b0cc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 Id="rId3" Type="http://schemas.openxmlformats.org/officeDocument/2006/relationships/image" Target="../media/image4.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 Id="rId3" Type="http://schemas.openxmlformats.org/officeDocument/2006/relationships/image" Target="../media/image3.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 Id="rId3" Type="http://schemas.openxmlformats.org/officeDocument/2006/relationships/image" Target="../media/image6.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 Id="rId3" Type="http://schemas.openxmlformats.org/officeDocument/2006/relationships/image" Target="../media/image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1.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5.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5.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5.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2.jp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 Id="rId3" Type="http://schemas.openxmlformats.org/officeDocument/2006/relationships/image" Target="../media/image1.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2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g3be9254b0cc_0_1"/>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DẪN ĐƯA CON ĐI</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Lm. Kim Long</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Ánh sáng và chân lý Chúa xin dẫn bước con đi.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b5c728cec8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Tiến mãi về trên núi Thánh, về chốn quang minh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bbbf7d17f7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Con sẽ tiến tới bàn thờ Chúa, gần Ngài lòng con sướng vui.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bbbf7d17f7_0_13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sẽ nảy đàn tuyên xưng Chúa, rằng Ngài là Thượng đế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be9254b0cc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Ánh sáng và chân lý Chúa xin dẫn bước con đi.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be9254b0cc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Tiến mãi về trên núi Thánh, về chốn quang minh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pic>
        <p:nvPicPr>
          <p:cNvPr id="693" name="Google Shape;693;g3be9254b0cc_0_5"/>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ab13fdb44f_0_29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699" name="Google Shape;699;g3ab13fdb44f_0_29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0" name="Shape 710"/>
        <p:cNvGrpSpPr/>
        <p:nvPr/>
      </p:nvGrpSpPr>
      <p:grpSpPr>
        <a:xfrm>
          <a:off x="0" y="0"/>
          <a:ext cx="0" cy="0"/>
          <a:chOff x="0" y="0"/>
          <a:chExt cx="0" cy="0"/>
        </a:xfrm>
      </p:grpSpPr>
      <p:sp>
        <p:nvSpPr>
          <p:cNvPr id="711" name="Google Shape;71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pic>
        <p:nvPicPr>
          <p:cNvPr id="782" name="Google Shape;782;g3be9254b0cc_0_9"/>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6" name="Shape 786"/>
        <p:cNvGrpSpPr/>
        <p:nvPr/>
      </p:nvGrpSpPr>
      <p:grpSpPr>
        <a:xfrm>
          <a:off x="0" y="0"/>
          <a:ext cx="0" cy="0"/>
          <a:chOff x="0" y="0"/>
          <a:chExt cx="0" cy="0"/>
        </a:xfrm>
      </p:grpSpPr>
      <p:sp>
        <p:nvSpPr>
          <p:cNvPr id="787" name="Google Shape;787;p133"/>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88" name="Google Shape;788;p133"/>
          <p:cNvSpPr/>
          <p:nvPr/>
        </p:nvSpPr>
        <p:spPr>
          <a:xfrm flipH="1" rot="-5400000">
            <a:off x="1999963" y="-1999641"/>
            <a:ext cx="5143500" cy="9143425"/>
          </a:xfrm>
          <a:prstGeom prst="rect">
            <a:avLst/>
          </a:prstGeom>
          <a:gradFill>
            <a:gsLst>
              <a:gs pos="0">
                <a:schemeClr val="accent1"/>
              </a:gs>
              <a:gs pos="8000">
                <a:schemeClr val="accent1"/>
              </a:gs>
              <a:gs pos="100000">
                <a:srgbClr val="1F3864"/>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89" name="Google Shape;789;p133"/>
          <p:cNvSpPr/>
          <p:nvPr/>
        </p:nvSpPr>
        <p:spPr>
          <a:xfrm flipH="1" rot="10800000">
            <a:off x="-1733" y="0"/>
            <a:ext cx="6803134" cy="5143179"/>
          </a:xfrm>
          <a:prstGeom prst="rect">
            <a:avLst/>
          </a:prstGeom>
          <a:gradFill>
            <a:gsLst>
              <a:gs pos="0">
                <a:srgbClr val="000000">
                  <a:alpha val="48235"/>
                </a:srgbClr>
              </a:gs>
              <a:gs pos="8000">
                <a:srgbClr val="000000">
                  <a:alpha val="48235"/>
                </a:srgbClr>
              </a:gs>
              <a:gs pos="100000">
                <a:schemeClr val="accent1"/>
              </a:gs>
            </a:gsLst>
            <a:lin ang="4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90" name="Google Shape;790;p133"/>
          <p:cNvSpPr/>
          <p:nvPr/>
        </p:nvSpPr>
        <p:spPr>
          <a:xfrm flipH="1" rot="-5400000">
            <a:off x="2737118" y="-1264380"/>
            <a:ext cx="3670923" cy="9145160"/>
          </a:xfrm>
          <a:prstGeom prst="rect">
            <a:avLst/>
          </a:prstGeom>
          <a:gradFill>
            <a:gsLst>
              <a:gs pos="0">
                <a:srgbClr val="9CC2E5">
                  <a:alpha val="0"/>
                </a:srgbClr>
              </a:gs>
              <a:gs pos="100000">
                <a:srgbClr val="000000">
                  <a:alpha val="42352"/>
                </a:srgbClr>
              </a:gs>
            </a:gsLst>
            <a:lin ang="1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91" name="Google Shape;791;p133"/>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g3a42a8b53c1_2_7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118</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g3a42a8b53c1_2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Hạnh phúc thay những ai theo đường lối tinh tuyền,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g3b26357b4a1_0_33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họ tiến thân trong luật Chúa. Phúc thay ai giữ lời Ngài,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g3bc6b650b34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hết tâm lo tìm kiếm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g3a42a8b53c1_2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Phúc thay những ai tiến thân trong lề luật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g3b26357b4a1_0_3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Luật Chúa đã ban ra để người nắm giữ ân cần,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g3b26357b4a1_0_3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nguyện Chúa cho con vững chắc, biết theo giáo huấn của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g3b26357b4a1_0_3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nhất tâm theo đường lối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g3be9254b0cc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Phúc thay những ai tiến thân trong lề luật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g3b26357b4a1_0_3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 </a:t>
            </a:r>
            <a:r>
              <a:rPr b="1" lang="en-US" sz="8000">
                <a:solidFill>
                  <a:schemeClr val="lt1"/>
                </a:solidFill>
                <a:latin typeface="Times New Roman"/>
                <a:ea typeface="Times New Roman"/>
                <a:cs typeface="Times New Roman"/>
                <a:sym typeface="Times New Roman"/>
              </a:rPr>
              <a:t>Nguyện Chúa thương gia ân cho đời sống tôi tớ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g3b26357b4a1_0_3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để biết vâng theo Lời Chúa, biết theo ý muốn của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g3b26357b4a1_0_3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sống trong tinh thần của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g3be9254b0cc_0_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Phúc thay những ai tiến thân trong lề luật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60" name="Shape 860"/>
        <p:cNvGrpSpPr/>
        <p:nvPr/>
      </p:nvGrpSpPr>
      <p:grpSpPr>
        <a:xfrm>
          <a:off x="0" y="0"/>
          <a:ext cx="0" cy="0"/>
          <a:chOff x="0" y="0"/>
          <a:chExt cx="0" cy="0"/>
        </a:xfrm>
      </p:grpSpPr>
      <p:sp>
        <p:nvSpPr>
          <p:cNvPr id="861" name="Google Shape;861;p155"/>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62" name="Google Shape;862;p155"/>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8000">
                <a:solidFill>
                  <a:schemeClr val="lt1"/>
                </a:solidFill>
                <a:latin typeface="Times"/>
                <a:ea typeface="Times"/>
                <a:cs typeface="Times"/>
                <a:sym typeface="Times"/>
              </a:rPr>
              <a:t>Lạy Chúa, xin hãy phán vì tôi tớ Chúa đang lắng tai nghe;</a:t>
            </a:r>
            <a:endParaRPr b="1" sz="8000">
              <a:solidFill>
                <a:schemeClr val="lt1"/>
              </a:solidFill>
              <a:latin typeface="Times"/>
              <a:ea typeface="Times"/>
              <a:cs typeface="Times"/>
              <a:sym typeface="Times"/>
            </a:endParaRPr>
          </a:p>
        </p:txBody>
      </p:sp>
      <p:sp>
        <p:nvSpPr>
          <p:cNvPr id="869" name="Google Shape;869;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8000">
                <a:solidFill>
                  <a:schemeClr val="lt1"/>
                </a:solidFill>
                <a:latin typeface="Times"/>
                <a:ea typeface="Times"/>
                <a:cs typeface="Times"/>
                <a:sym typeface="Times"/>
              </a:rPr>
              <a:t>Chúa có lời ban sự sống muôn đời.</a:t>
            </a:r>
            <a:br>
              <a:rPr b="1" i="1" lang="en-US" sz="8000">
                <a:latin typeface="Times"/>
                <a:ea typeface="Times"/>
                <a:cs typeface="Times"/>
                <a:sym typeface="Times"/>
              </a:rPr>
            </a:br>
            <a:r>
              <a:rPr b="1" i="1" lang="en-US" sz="7000">
                <a:solidFill>
                  <a:srgbClr val="FFFF00"/>
                </a:solidFill>
                <a:latin typeface="Times"/>
                <a:ea typeface="Times"/>
                <a:cs typeface="Times"/>
                <a:sym typeface="Times"/>
              </a:rPr>
              <a:t>All..</a:t>
            </a:r>
            <a:endParaRPr b="1" sz="7000">
              <a:solidFill>
                <a:srgbClr val="FFFF00"/>
              </a:solidFill>
              <a:latin typeface="Times"/>
              <a:ea typeface="Times"/>
              <a:cs typeface="Times"/>
              <a:sym typeface="Times"/>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pic>
        <p:nvPicPr>
          <p:cNvPr id="879" name="Google Shape;879;g3baa6357486_0_13"/>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pic>
        <p:nvPicPr>
          <p:cNvPr id="884" name="Google Shape;884;g3be9254b0cc_0_13"/>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890" name="Google Shape;890;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Đấng tạo thành trời đất muôn vật hữu hình và vô hình.</a:t>
            </a:r>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kính một Chúa Giê-su Ki-tô Con Một Thiên Chúa,</a:t>
            </a:r>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sinh bởi Đức Chúa Cha từ trước muôn đời.</a:t>
            </a:r>
            <a:endParaRPr b="1" sz="7200">
              <a:solidFill>
                <a:schemeClr val="lt1"/>
              </a:solidFill>
              <a:latin typeface="Times"/>
              <a:ea typeface="Times"/>
              <a:cs typeface="Times"/>
              <a:sym typeface="Times"/>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là Thiên Chúa bởi Thiên Chúa, Ánh Sáng bởi Ánh Sáng,</a:t>
            </a:r>
            <a:endParaRPr b="1" sz="7200">
              <a:solidFill>
                <a:schemeClr val="lt1"/>
              </a:solidFill>
              <a:latin typeface="Times"/>
              <a:ea typeface="Times"/>
              <a:cs typeface="Times"/>
              <a:sym typeface="Times"/>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Thiên Chúa thật bởi Thiên Chúa Thật Được sinh ra mà không phải được tạo thành, </a:t>
            </a:r>
            <a:endParaRPr b="1" sz="7200">
              <a:solidFill>
                <a:schemeClr val="lt1"/>
              </a:solidFill>
              <a:latin typeface="Times"/>
              <a:ea typeface="Times"/>
              <a:cs typeface="Times"/>
              <a:sym typeface="Times"/>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đồng bản thể với Đức Chúa Cha:nhờ Người mà muôn vật được tạo thành.</a:t>
            </a:r>
            <a:endParaRPr b="1" sz="7200">
              <a:solidFill>
                <a:schemeClr val="lt1"/>
              </a:solidFill>
              <a:latin typeface="Times"/>
              <a:ea typeface="Times"/>
              <a:cs typeface="Times"/>
              <a:sym typeface="Times"/>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Vì loài người chúng ta và để cứu độ chúng ta, Người đã từ trời xuống thế.</a:t>
            </a:r>
            <a:endParaRPr b="1" sz="7200">
              <a:solidFill>
                <a:schemeClr val="lt1"/>
              </a:solidFill>
              <a:latin typeface="Times"/>
              <a:ea typeface="Times"/>
              <a:cs typeface="Times"/>
              <a:sym typeface="Times"/>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a:ea typeface="Times"/>
                <a:cs typeface="Times"/>
                <a:sym typeface="Times"/>
              </a:rPr>
              <a:t>Bởi phép Đức Chúa Thánh Thần Người đã nhập thể trong long Trinh Nữ Maria, và đã làm người.</a:t>
            </a:r>
            <a:endParaRPr b="1" sz="6800">
              <a:solidFill>
                <a:schemeClr val="lt1"/>
              </a:solidFill>
              <a:latin typeface="Times"/>
              <a:ea typeface="Times"/>
              <a:cs typeface="Times"/>
              <a:sym typeface="Times"/>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đóng đinh vào thập giá vì chúng ta, Thời quan Phong-xi-ô Phi-la-tô; </a:t>
            </a:r>
            <a:endParaRPr b="1" sz="7200">
              <a:solidFill>
                <a:schemeClr val="lt1"/>
              </a:solidFill>
              <a:latin typeface="Times"/>
              <a:ea typeface="Times"/>
              <a:cs typeface="Times"/>
              <a:sym typeface="Times"/>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khổ hình và mai táng, ngày thứ ba Người sống lại như lời Thánh Kinh.</a:t>
            </a:r>
            <a:endParaRPr b="1" sz="7200">
              <a:solidFill>
                <a:schemeClr val="lt1"/>
              </a:solidFill>
              <a:latin typeface="Times"/>
              <a:ea typeface="Times"/>
              <a:cs typeface="Times"/>
              <a:sym typeface="Times"/>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Người lên trời, ngự bên hữu Đức Chúa Cha, và Người sẽ lại đến trong vinh quang</a:t>
            </a:r>
            <a:endParaRPr b="1" sz="7000">
              <a:solidFill>
                <a:schemeClr val="lt1"/>
              </a:solidFill>
              <a:latin typeface="Times"/>
              <a:ea typeface="Times"/>
              <a:cs typeface="Times"/>
              <a:sym typeface="Times"/>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để phán xét kẻ sống và kẻ chết, Nước Người sẽ không bao giờ cùng.</a:t>
            </a:r>
            <a:endParaRPr b="1" sz="7200">
              <a:solidFill>
                <a:schemeClr val="lt1"/>
              </a:solidFill>
              <a:latin typeface="Times"/>
              <a:ea typeface="Times"/>
              <a:cs typeface="Times"/>
              <a:sym typeface="Times"/>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tinh kính Đức Chúa Thánh Thần là Thiên Chúa, và là Đấng ban sự sống,</a:t>
            </a:r>
            <a:endParaRPr b="1" sz="7200">
              <a:solidFill>
                <a:schemeClr val="lt1"/>
              </a:solidFill>
              <a:latin typeface="Times"/>
              <a:ea typeface="Times"/>
              <a:cs typeface="Times"/>
              <a:sym typeface="Times"/>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bởi Đức Chúa Cha và Đức Chúa Con mà ra.</a:t>
            </a:r>
            <a:endParaRPr b="1" sz="7200">
              <a:solidFill>
                <a:schemeClr val="lt1"/>
              </a:solidFill>
              <a:latin typeface="Times"/>
              <a:ea typeface="Times"/>
              <a:cs typeface="Times"/>
              <a:sym typeface="Times"/>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được phụng thờ và tôn vinh cùng với Đức Chúa Cha và Đức Chúa Con.</a:t>
            </a:r>
            <a:endParaRPr b="1" sz="7200">
              <a:solidFill>
                <a:schemeClr val="lt1"/>
              </a:solidFill>
              <a:latin typeface="Times"/>
              <a:ea typeface="Times"/>
              <a:cs typeface="Times"/>
              <a:sym typeface="Times"/>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đã dùng các Tiên tri mà phán dạy.</a:t>
            </a:r>
            <a:endParaRPr b="1" sz="7200">
              <a:solidFill>
                <a:schemeClr val="lt1"/>
              </a:solidFill>
              <a:latin typeface="Times"/>
              <a:ea typeface="Times"/>
              <a:cs typeface="Times"/>
              <a:sym typeface="Times"/>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Hội Thánh duy nhất, thánh thiện, công giáo và tông truyền.</a:t>
            </a:r>
            <a:endParaRPr b="1" sz="7200">
              <a:solidFill>
                <a:schemeClr val="lt1"/>
              </a:solidFill>
              <a:latin typeface="Times"/>
              <a:ea typeface="Times"/>
              <a:cs typeface="Times"/>
              <a:sym typeface="Times"/>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tuyên xưng có một Phép Rửa để tha tội.</a:t>
            </a:r>
            <a:endParaRPr b="1" sz="7200">
              <a:solidFill>
                <a:schemeClr val="lt1"/>
              </a:solidFill>
              <a:latin typeface="Times"/>
              <a:ea typeface="Times"/>
              <a:cs typeface="Times"/>
              <a:sym typeface="Times"/>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trông đợi kẻ chết sống lại và sự sống đời sau. Amen.</a:t>
            </a:r>
            <a:endParaRPr b="1" sz="7200">
              <a:solidFill>
                <a:schemeClr val="lt1"/>
              </a:solidFill>
              <a:latin typeface="Times"/>
              <a:ea typeface="Times"/>
              <a:cs typeface="Times"/>
              <a:sym typeface="Times"/>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pic>
        <p:nvPicPr>
          <p:cNvPr id="990" name="Google Shape;990;g3be9254b0cc_0_17"/>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g3a42a8b53c1_2_1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THEO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HƯƠNG </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lang="en-US" sz="6700">
                <a:solidFill>
                  <a:srgbClr val="FFFF00"/>
                </a:solidFill>
                <a:latin typeface="Times New Roman"/>
                <a:ea typeface="Times New Roman"/>
                <a:cs typeface="Times New Roman"/>
                <a:sym typeface="Times New Roman"/>
              </a:rPr>
              <a:t>TRẦM</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(Đỗ Vỹ Hạ)</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g3a42a8b53c1_2_1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Theo hương trầm tỏa bay lên cao con cung tiến bánh rượu thơm nồng.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g3a42a8b53c1_2_2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Do muôn bàn tay đã góp sức qua bao ngày gắng công vun trồng.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g3bc6b650b34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Ngài tâm tư con đây, khi buồn vui hay khi đắng cay.</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g3a42a8b53c1_2_2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Cha thương thánh hóa lễ vật đơn hèn.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g3b224b7d20a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Trên đôi tay chứa chan tình thơ yêu mến.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g3be9254b0cc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xin được liên kết với Con Một Cha tiến dâng lên xác thân con làm của lễ giao hòa.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g3be9254b0cc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Đây muôn vàn nụ hoa xinh tươi cùng với những vui buồn kiếp người.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g3be9254b0cc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kết thành hy lễ dấu ái, xin dâng về trước tôn nhan Ngài.</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g3be9254b0cc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Cha thương thánh hóa lễ vật đơn hèn.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g3be9254b0cc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Trên đôi tay chứa chan tình thơ yêu mến.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g3be9254b0cc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xin được liên kết với Con Một Cha tiến dâng lên xác thân con làm của lễ giao hòa.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pic>
        <p:nvPicPr>
          <p:cNvPr descr="A golden chalice and a cross next to a book&#10;&#10;AI-generated content may be incorrect." id="1055" name="Google Shape;1055;p201"/>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id="1060" name="Google Shape;1060;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pic>
        <p:nvPicPr>
          <p:cNvPr descr="A golden chalice and a cross next to a book&#10;&#10;AI-generated content may be incorrect." id="1075" name="Google Shape;1075;p205"/>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9" name="Shape 1089"/>
        <p:cNvGrpSpPr/>
        <p:nvPr/>
      </p:nvGrpSpPr>
      <p:grpSpPr>
        <a:xfrm>
          <a:off x="0" y="0"/>
          <a:ext cx="0" cy="0"/>
          <a:chOff x="0" y="0"/>
          <a:chExt cx="0" cy="0"/>
        </a:xfrm>
      </p:grpSpPr>
      <p:sp>
        <p:nvSpPr>
          <p:cNvPr id="1090" name="Google Shape;1090;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pic>
        <p:nvPicPr>
          <p:cNvPr descr="A golden chalice and a cross next to a book&#10;&#10;AI-generated content may be incorrect." id="1095" name="Google Shape;1095;p209"/>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sp>
        <p:nvSpPr>
          <p:cNvPr id="1100" name="Google Shape;1100;g3a42a8b53c1_2_272"/>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200">
                <a:solidFill>
                  <a:schemeClr val="lt1"/>
                </a:solidFill>
                <a:latin typeface="Times"/>
                <a:ea typeface="Times"/>
                <a:cs typeface="Times"/>
                <a:sym typeface="Times"/>
              </a:rPr>
              <a:t>Họ được ăn, ăn thật no nê, thèm thứ gì Chúa đãi cho thứ đó, </a:t>
            </a:r>
            <a:endParaRPr b="1" sz="7200">
              <a:solidFill>
                <a:schemeClr val="lt1"/>
              </a:solidFill>
              <a:latin typeface="Times"/>
              <a:ea typeface="Times"/>
              <a:cs typeface="Times"/>
              <a:sym typeface="Times"/>
            </a:endParaRPr>
          </a:p>
        </p:txBody>
      </p:sp>
      <p:sp>
        <p:nvSpPr>
          <p:cNvPr id="1101" name="Google Shape;1101;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g3bc6b650b34_0_56"/>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accent4"/>
              </a:buClr>
              <a:buSzPts val="4000"/>
              <a:buFont typeface="Times"/>
              <a:buNone/>
            </a:pPr>
            <a:r>
              <a:rPr b="1" lang="en-US" sz="7200">
                <a:solidFill>
                  <a:schemeClr val="lt1"/>
                </a:solidFill>
                <a:latin typeface="Times"/>
                <a:ea typeface="Times"/>
                <a:cs typeface="Times"/>
                <a:sym typeface="Times"/>
              </a:rPr>
              <a:t>ước ao chi, họ chẳng hề thất vọng.</a:t>
            </a:r>
            <a:endParaRPr b="1" sz="7200">
              <a:solidFill>
                <a:schemeClr val="lt1"/>
              </a:solidFill>
              <a:latin typeface="Times"/>
              <a:ea typeface="Times"/>
              <a:cs typeface="Times"/>
              <a:sym typeface="Times"/>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pic>
        <p:nvPicPr>
          <p:cNvPr descr="A gold chalice and two round objects on a plate&#10;&#10;AI-generated content may be incorrect." id="1111" name="Google Shape;1111;p212"/>
          <p:cNvPicPr preferRelativeResize="0"/>
          <p:nvPr/>
        </p:nvPicPr>
        <p:blipFill rotWithShape="1">
          <a:blip r:embed="rId3">
            <a:alphaModFix/>
          </a:blip>
          <a:srcRect b="0" l="0" r="0" t="0"/>
          <a:stretch/>
        </p:blipFill>
        <p:spPr>
          <a:xfrm>
            <a:off x="0" y="921"/>
            <a:ext cx="9143998" cy="5141657"/>
          </a:xfrm>
          <a:prstGeom prst="rect">
            <a:avLst/>
          </a:prstGeom>
          <a:noFill/>
          <a:ln>
            <a:noFill/>
          </a:ln>
        </p:spPr>
      </p:pic>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5" name="Shape 1115"/>
        <p:cNvGrpSpPr/>
        <p:nvPr/>
      </p:nvGrpSpPr>
      <p:grpSpPr>
        <a:xfrm>
          <a:off x="0" y="0"/>
          <a:ext cx="0" cy="0"/>
          <a:chOff x="0" y="0"/>
          <a:chExt cx="0" cy="0"/>
        </a:xfrm>
      </p:grpSpPr>
      <p:sp>
        <p:nvSpPr>
          <p:cNvPr id="1116" name="Google Shape;1116;g3a42a8b53c1_2_28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XIN GIỮ CON</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Lm. Mi Trầm</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g3a42a8b53c1_2_2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Xin giữ con để con phụng sự Chúa, con phụng sự Chúa trong suốt đời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g3ab13fdb44f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Dù khi mỏi mệt, dù khi chán chường. Xin giữ con luôn luôn phụng sự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g3b26357b4a1_0_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a:t>
            </a:r>
            <a:r>
              <a:rPr b="1" lang="en-US" sz="7500">
                <a:solidFill>
                  <a:schemeClr val="lt1"/>
                </a:solidFill>
                <a:latin typeface="Times New Roman"/>
                <a:ea typeface="Times New Roman"/>
                <a:cs typeface="Times New Roman"/>
                <a:sym typeface="Times New Roman"/>
              </a:rPr>
              <a:t>Nguyện xin Chúa giúp con bắt đầu và lại bắt đầu,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g3b26357b4a1_0_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dù khi thất bại, dù khi mỏi mòn con vẫn cậy trông.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sp>
        <p:nvSpPr>
          <p:cNvPr id="1141" name="Google Shape;1141;g3bbbf7d17f7_0_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Nguyện xin Chúa giúp con bắt đầu và lại bắt đầu,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g3bbbf7d17f7_0_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này con chiến thắng, này con chiến thắng tươi sáng hy vọng.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g3bbbf7d17f7_0_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Xin giữ con để con được đổi mới, đây đời của con sẽ mãi đẹp tươi.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g3bbbf7d17f7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Dù khi phản bội, dù khi lỗi tội. Xin giữ con khiêm cung về với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sp>
        <p:nvSpPr>
          <p:cNvPr id="1161" name="Google Shape;1161;g3be9254b0cc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a:t>
            </a:r>
            <a:r>
              <a:rPr b="1" lang="en-US" sz="7500">
                <a:solidFill>
                  <a:schemeClr val="lt1"/>
                </a:solidFill>
                <a:latin typeface="Times New Roman"/>
                <a:ea typeface="Times New Roman"/>
                <a:cs typeface="Times New Roman"/>
                <a:sym typeface="Times New Roman"/>
              </a:rPr>
              <a:t>Nguyện xin Chúa giúp con bắt đầu và lại bắt đầu,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sp>
        <p:nvSpPr>
          <p:cNvPr id="1166" name="Google Shape;1166;g3be9254b0cc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dù khi thất bại, dù khi mỏi mòn con vẫn cậy trông.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g3be9254b0cc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Nguyện xin Chúa giúp con bắt đầu và lại bắt đầu,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g3be9254b0cc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này con chiến thắng, này con chiến thắng tươi sáng hy vọng.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0" name="Shape 1180"/>
        <p:cNvGrpSpPr/>
        <p:nvPr/>
      </p:nvGrpSpPr>
      <p:grpSpPr>
        <a:xfrm>
          <a:off x="0" y="0"/>
          <a:ext cx="0" cy="0"/>
          <a:chOff x="0" y="0"/>
          <a:chExt cx="0" cy="0"/>
        </a:xfrm>
      </p:grpSpPr>
      <p:pic>
        <p:nvPicPr>
          <p:cNvPr id="1181" name="Google Shape;1181;g3be9254b0cc_0_21"/>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g3b26357b4a1_0_14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CHÚT TÌNH</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THƠ</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a:t>
            </a:r>
            <a:r>
              <a:rPr b="1" i="1" lang="en-US" sz="4700">
                <a:solidFill>
                  <a:srgbClr val="FFD966"/>
                </a:solidFill>
                <a:latin typeface="Times New Roman"/>
                <a:ea typeface="Times New Roman"/>
                <a:cs typeface="Times New Roman"/>
                <a:sym typeface="Times New Roman"/>
              </a:rPr>
              <a:t>Lm. Nguyễn Duy</a:t>
            </a:r>
            <a:r>
              <a:rPr b="1" i="1" lang="en-US" sz="4700">
                <a:solidFill>
                  <a:srgbClr val="FFD966"/>
                </a:solidFill>
                <a:latin typeface="Times New Roman"/>
                <a:ea typeface="Times New Roman"/>
                <a:cs typeface="Times New Roman"/>
                <a:sym typeface="Times New Roman"/>
              </a:rPr>
              <a:t>)</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g3b26357b4a1_0_1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1</a:t>
            </a:r>
            <a:r>
              <a:rPr b="1" lang="en-US" sz="7500">
                <a:solidFill>
                  <a:srgbClr val="FFFF00"/>
                </a:solidFill>
                <a:latin typeface="Times New Roman"/>
                <a:ea typeface="Times New Roman"/>
                <a:cs typeface="Times New Roman"/>
                <a:sym typeface="Times New Roman"/>
              </a:rPr>
              <a:t>.</a:t>
            </a:r>
            <a:r>
              <a:rPr b="1" lang="en-US" sz="7500">
                <a:solidFill>
                  <a:srgbClr val="FFFFFF"/>
                </a:solidFill>
                <a:latin typeface="Times New Roman"/>
                <a:ea typeface="Times New Roman"/>
                <a:cs typeface="Times New Roman"/>
                <a:sym typeface="Times New Roman"/>
              </a:rPr>
              <a:t> </a:t>
            </a:r>
            <a:r>
              <a:rPr b="1" lang="en-US" sz="7500">
                <a:solidFill>
                  <a:srgbClr val="FFFFFF"/>
                </a:solidFill>
                <a:latin typeface="Times New Roman"/>
                <a:ea typeface="Times New Roman"/>
                <a:cs typeface="Times New Roman"/>
                <a:sym typeface="Times New Roman"/>
              </a:rPr>
              <a:t>Mẹ ơi! Trên trần gian con chưa thấy ai đến nhờ Mẹ mà Mẹ không thư</a:t>
            </a:r>
            <a:r>
              <a:rPr b="1" lang="en-US" sz="7500">
                <a:solidFill>
                  <a:srgbClr val="FFFFFF"/>
                </a:solidFill>
                <a:latin typeface="Times New Roman"/>
                <a:ea typeface="Times New Roman"/>
                <a:cs typeface="Times New Roman"/>
                <a:sym typeface="Times New Roman"/>
              </a:rPr>
              <a:t>ơng giúp.</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g3b26357b4a1_0_1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Mẹ ơi! Con biết rằng tình Mẹ rất bao la,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sp>
        <p:nvSpPr>
          <p:cNvPr id="1201" name="Google Shape;1201;g3b26357b4a1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luôn dõi nhìn từng nhịp bước con thơ.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g3bd41fd8710_0_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ĐK:</a:t>
            </a:r>
            <a:r>
              <a:rPr b="1" lang="en-US" sz="8000">
                <a:solidFill>
                  <a:srgbClr val="FFFFFF"/>
                </a:solidFill>
                <a:latin typeface="Times New Roman"/>
                <a:ea typeface="Times New Roman"/>
                <a:cs typeface="Times New Roman"/>
                <a:sym typeface="Times New Roman"/>
              </a:rPr>
              <a:t> </a:t>
            </a:r>
            <a:r>
              <a:rPr b="1" lang="en-US" sz="8000">
                <a:solidFill>
                  <a:srgbClr val="FFFFFF"/>
                </a:solidFill>
                <a:latin typeface="Times New Roman"/>
                <a:ea typeface="Times New Roman"/>
                <a:cs typeface="Times New Roman"/>
                <a:sym typeface="Times New Roman"/>
              </a:rPr>
              <a:t>Mẹ nguồn cậy trông cho người thất vọng.</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g3bd41fd8710_0_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Mẹ là niềm tin cho người lữ thứ. Mẹ là niềm vui cho người buồn đau,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g3be9254b0cc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Mẹ là nghỉ ngơi cho người đơn côi.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pic>
        <p:nvPicPr>
          <p:cNvPr id="1221" name="Google Shape;1221;g3be9254b0cc_0_25"/>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