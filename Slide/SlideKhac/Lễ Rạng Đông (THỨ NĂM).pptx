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87" roundtripDataSignature="AMtx7mhuE3Xs4UQt+mXB8CTqOLOf/+88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187" Type="http://customschemas.google.com/relationships/presentationmetadata" Target="metadata"/><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aecf15e1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aaecf15e1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aecf15e1d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aaecf15e1d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aecf15e1d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aaecf15e1d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aecf15e1d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aaecf15e1d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aecf15e1d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3aaecf15e1d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aecf15e1d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3aaecf15e1d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aecf15e1d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aaecf15e1d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aecf15e1d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aaecf15e1d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aecf15e1d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aaecf15e1d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aecf15e1d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g3aaecf15e1d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aecf15e1d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aaecf15e1d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aecf15e1d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aaecf15e1d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aecf15e1d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aaecf15e1d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aecf15e1d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aaecf15e1d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aecf15e1d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g3aaecf15e1d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aecf15e1d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aaecf15e1d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aecf15e1d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3aaecf15e1d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aecf15e1d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aaecf15e1d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aecf15e1d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aaecf15e1d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aecf15e1d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aaecf15e1d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aaecf15e1d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aaecf15e1d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aecf15e1d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aaecf15e1d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aecf15e1d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3aaecf15e1d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aecf15e1d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aaecf15e1d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aecf15e1d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g3aaecf15e1d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aaecf15e1d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aaecf15e1d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2ddf779be_0_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b2ddf779be_0_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3755adb0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3755adb0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3755adb0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3755adb0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3755adb0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3755adb0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3755adb09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b3755adb09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3755adb0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b3755adb0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3755adb09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b3755adb09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3755adb0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b3755adb0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3755adb09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b3755adb09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3755adb09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b3755adb09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3755adb09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b3755adb09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3755adb09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b3755adb09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2ddf779be_0_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g3b2ddf779be_0_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2db90474b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g3b2db90474b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2db90474b_0_1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b2db90474b_0_1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08" name="Google Shape;408;g3b2db90474b_0_13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b2db90474b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b2db90474b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414" name="Google Shape;414;g3b2db90474b_0_13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2db90474b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b2db90474b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0" name="Google Shape;420;g3b2db90474b_0_14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b2db90474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g3b2db90474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6" name="Google Shape;426;g3b2db90474b_0_14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b2db90474b_0_1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3b2db90474b_0_1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2" name="Google Shape;432;g3b2db90474b_0_15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2db90474b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g3b2db90474b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8" name="Google Shape;438;g3b2db90474b_0_15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b2db90474b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b2db90474b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4" name="Google Shape;444;g3b2db90474b_0_1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b2db90474b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b2db90474b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0" name="Google Shape;450;g3b2db90474b_0_1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b2db90474b_0_1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g3b2db90474b_0_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6" name="Google Shape;456;g3b2db90474b_0_17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b2db90474b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g3b2db90474b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2" name="Google Shape;462;g3b2db90474b_0_17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b2db90474b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3b2db90474b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8" name="Google Shape;468;g3b2db90474b_0_18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2db90474b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g3b2db90474b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74" name="Google Shape;474;g3b2db90474b_0_18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b2db90474b_0_1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g3b2db90474b_0_1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80" name="Google Shape;480;g3b2db90474b_0_19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2ddf779be_0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b2ddf779be_0_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g3a42a8b53c1_2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b224b7d20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9" name="Google Shape;509;g3b224b7d20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a42a8b53c1_2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3a42a8b53c1_2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b224b7d20a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g3b224b7d20a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g3a42a8b53c1_2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b2db90474b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g3b2db90474b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42a8b53c1_2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g3a42a8b53c1_2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b224b7d20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g3b224b7d20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42a8b53c1_2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g3a42a8b53c1_2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b224b7d20a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g3b224b7d20a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b35de4c228_0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g3b35de4c228_0_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b35de4c228_0_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g3b35de4c228_0_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b224b7d20a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g3b224b7d20a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b224b7d20a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g3b224b7d20a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b224b7d20a_0_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g3b224b7d20a_0_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35de4c228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g3b35de4c228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b35de4c228_0_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g3b35de4c228_0_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b35de4c228_0_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g3b35de4c228_0_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7" name="Google Shape;60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b2ddf779be_0_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g3b2ddf779be_0_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8" name="Google Shape;62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3" name="Google Shape;63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8" name="Google Shape;63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 name="Google Shape;64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b35de4c228_0_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g3b35de4c228_0_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 name="Google Shape;65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3" name="Google Shape;66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8" name="Google Shape;66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3" name="Google Shape;67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8" name="Google Shape;67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8" name="Google Shape;68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3" name="Google Shape;70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8" name="Google Shape;70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b2ddf779be_0_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3" name="Google Shape;723;g3b2ddf779be_0_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8" name="Google Shape;73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3" name="Google Shape;75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a42a8b53c1_2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g3a42a8b53c1_2_2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a42a8b53c1_2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g3a42a8b53c1_2_2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p1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b2db90474b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g3b2db90474b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b2db90474b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g3b2db90474b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35de4c228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35de4c228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35de4c228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35de4c228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3755adb09_0_1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3755adb09_0_1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3755adb09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3755adb09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3755adb09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3755adb09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3755adb09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3755adb09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3755adb09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3755adb09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3755adb09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3755adb09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3755adb09_0_1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3755adb09_0_1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3755adb09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3755adb09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3755adb09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3755adb09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3755adb09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3755adb09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b3755adb09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b3755adb09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b3755adb09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b3755adb09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b3755adb09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g3b3755adb09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b2ddf779be_0_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b2ddf779be_0_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b3755adb09_0_2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g3b3755adb09_0_2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b3755adb09_0_2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4" name="Google Shape;924;g3b3755adb09_0_2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b3755adb09_0_2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g3b3755adb09_0_2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b3755adb09_0_2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g3b3755adb09_0_2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b3755adb09_0_2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9" name="Google Shape;939;g3b3755adb09_0_2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b3755adb09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g3b3755adb09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b3755adb09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9" name="Google Shape;949;g3b3755adb09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b3755adb09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4" name="Google Shape;954;g3b3755adb09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b3755adb09_0_2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g3b3755adb09_0_2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b3755adb09_0_2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4" name="Google Shape;964;g3b3755adb09_0_2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b3755adb09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9" name="Google Shape;969;g3b3755adb09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b3755adb09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b3755adb09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b3755adb09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9" name="Google Shape;979;g3b3755adb09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b3755adb09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g3b3755adb09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3755adb09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3755adb09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3755adb09_0_3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b3755adb09_0_3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b3755adb09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g3b3755adb09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3755adb09_0_3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b3755adb09_0_3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b2ddf779be_0_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b2ddf779be_0_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5.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5.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15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aaecf15e1d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aaecf15e1d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aaecf15e1d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aaecf15e1d_0_12"/>
          <p:cNvSpPr txBox="1"/>
          <p:nvPr>
            <p:ph idx="1" type="subTitle"/>
          </p:nvPr>
        </p:nvSpPr>
        <p:spPr>
          <a:xfrm>
            <a:off x="0" y="421240"/>
            <a:ext cx="9144000" cy="47223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aaecf15e1d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aaecf15e1d_0_20"/>
          <p:cNvSpPr txBox="1"/>
          <p:nvPr>
            <p:ph idx="1" type="subTitle"/>
          </p:nvPr>
        </p:nvSpPr>
        <p:spPr>
          <a:xfrm>
            <a:off x="0" y="1"/>
            <a:ext cx="9144000" cy="58626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aecf15e1d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2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aaecf15e1d_0_28"/>
          <p:cNvSpPr txBox="1"/>
          <p:nvPr>
            <p:ph idx="1" type="subTitle"/>
          </p:nvPr>
        </p:nvSpPr>
        <p:spPr>
          <a:xfrm>
            <a:off x="0" y="25"/>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aaecf15e1d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aaecf15e1d_0_36"/>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aaecf15e1d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aaecf15e1d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lnSpcReduction="2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ts val="78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aaecf15e1d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aaecf15e1d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aaecf15e1d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aaecf15e1d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aaecf15e1d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aaecf15e1d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aaecf15e1d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aaecf15e1d_0_76"/>
          <p:cNvSpPr txBox="1"/>
          <p:nvPr>
            <p:ph idx="1" type="subTitle"/>
          </p:nvPr>
        </p:nvSpPr>
        <p:spPr>
          <a:xfrm>
            <a:off x="0" y="1"/>
            <a:ext cx="90309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 và Thánh Thần †.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aaecf15e1d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aecf15e1d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3aaecf15e1d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aaecf15e1d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aecf15e1d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aaecf15e1d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b2ddf779be_0_3"/>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3755adb09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lt1"/>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TRỜI HÂN HOAN</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3755adb0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ÐK: </a:t>
            </a:r>
            <a:r>
              <a:rPr b="1" lang="en-US" sz="8000">
                <a:solidFill>
                  <a:schemeClr val="lt1"/>
                </a:solidFill>
                <a:latin typeface="Times New Roman"/>
                <a:ea typeface="Times New Roman"/>
                <a:cs typeface="Times New Roman"/>
                <a:sym typeface="Times New Roman"/>
              </a:rPr>
              <a:t>Trời hân hoan đất tưng bừng vui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3755adb0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giờ Con Chúa, Ðấng Cứu Tinh đã sinh ra.</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3755adb09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non cao tới khơi ngàn bao la.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b3755adb0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người hoan chúc đón tin vui thái hòa.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b3755adb09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a:t>
            </a:r>
            <a:r>
              <a:rPr b="1" lang="en-US" sz="7200">
                <a:solidFill>
                  <a:schemeClr val="lt1"/>
                </a:solidFill>
                <a:latin typeface="Times New Roman"/>
                <a:ea typeface="Times New Roman"/>
                <a:cs typeface="Times New Roman"/>
                <a:sym typeface="Times New Roman"/>
              </a:rPr>
              <a:t> Một Hài Nhi sinh hạ cho chúng ta,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một Trẻ Thơ Chúa ân ban cho nhân trần.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b3755adb0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Mừng vui lên muôn người trong khắp nơi, vì hôm nay Chúa viếng thăm dân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b3755adb09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ÐK: </a:t>
            </a:r>
            <a:r>
              <a:rPr b="1" lang="en-US" sz="8000">
                <a:solidFill>
                  <a:schemeClr val="lt1"/>
                </a:solidFill>
                <a:latin typeface="Times New Roman"/>
                <a:ea typeface="Times New Roman"/>
                <a:cs typeface="Times New Roman"/>
                <a:sym typeface="Times New Roman"/>
              </a:rPr>
              <a:t>Trời hân hoan đất tưng bừng vui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3755adb09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giờ Con Chúa, Ðấng Cứu Tinh đã sinh ra.</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b3755adb09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non cao tới khơi ngàn bao la.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b3755adb09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người hoan chúc đón tin vui thái hòa.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g3b2ddf779be_0_7"/>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b2db90474b_0_129"/>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404" name="Google Shape;404;g3b2db90474b_0_129"/>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b2db90474b_0_13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5" name="Shape 415"/>
        <p:cNvGrpSpPr/>
        <p:nvPr/>
      </p:nvGrpSpPr>
      <p:grpSpPr>
        <a:xfrm>
          <a:off x="0" y="0"/>
          <a:ext cx="0" cy="0"/>
          <a:chOff x="0" y="0"/>
          <a:chExt cx="0" cy="0"/>
        </a:xfrm>
      </p:grpSpPr>
      <p:sp>
        <p:nvSpPr>
          <p:cNvPr id="416" name="Google Shape;416;g3b2db90474b_0_13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b2db90474b_0_14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b2db90474b_0_14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b2db90474b_0_15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b2db90474b_0_15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3b2db90474b_0_16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b2db90474b_0_1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b2db90474b_0_17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b2db90474b_0_17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b2db90474b_0_18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b2db90474b_0_18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b2db90474b_0_19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g3b2ddf779be_0_11"/>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1" name="Shape 491"/>
        <p:cNvGrpSpPr/>
        <p:nvPr/>
      </p:nvGrpSpPr>
      <p:grpSpPr>
        <a:xfrm>
          <a:off x="0" y="0"/>
          <a:ext cx="0" cy="0"/>
          <a:chOff x="0" y="0"/>
          <a:chExt cx="0" cy="0"/>
        </a:xfrm>
      </p:grpSpPr>
      <p:sp>
        <p:nvSpPr>
          <p:cNvPr id="492" name="Google Shape;492;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3" name="Google Shape;493;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4" name="Google Shape;494;p133"/>
          <p:cNvSpPr/>
          <p:nvPr/>
        </p:nvSpPr>
        <p:spPr>
          <a:xfrm flipH="1" rot="10800000">
            <a:off x="-1733" y="0"/>
            <a:ext cx="6803134" cy="5143179"/>
          </a:xfrm>
          <a:prstGeom prst="rect">
            <a:avLst/>
          </a:prstGeom>
          <a:gradFill>
            <a:gsLst>
              <a:gs pos="0">
                <a:srgbClr val="000000">
                  <a:alpha val="49411"/>
                </a:srgbClr>
              </a:gs>
              <a:gs pos="8000">
                <a:srgbClr val="000000">
                  <a:alpha val="49411"/>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95" name="Google Shape;495;p133"/>
          <p:cNvSpPr/>
          <p:nvPr/>
        </p:nvSpPr>
        <p:spPr>
          <a:xfrm flipH="1" rot="-5400000">
            <a:off x="2737118" y="-1264380"/>
            <a:ext cx="3670923" cy="9145160"/>
          </a:xfrm>
          <a:prstGeom prst="rect">
            <a:avLst/>
          </a:prstGeom>
          <a:gradFill>
            <a:gsLst>
              <a:gs pos="0">
                <a:srgbClr val="9CC2E5">
                  <a:alpha val="0"/>
                </a:srgbClr>
              </a:gs>
              <a:gs pos="100000">
                <a:srgbClr val="000000">
                  <a:alpha val="43529"/>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96" name="Google Shape;496;p133"/>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96</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Thái Nguyên)</a:t>
            </a:r>
            <a:br>
              <a:rPr b="1" i="1" lang="en-US" sz="4700">
                <a:solidFill>
                  <a:srgbClr val="FFD966"/>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(03 câu)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hiển thị địa cầu nào hãy mừng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b224b7d20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Hải đảo muôn vàn hãy reo vang khúc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a42a8b53c1_2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Trời xanh loan truyền sự công minh của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b224b7d20a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muôn dân tộc được thấy vinh quang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sự sáng đã chiếu dọi chúng ta.</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b2db90474b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Chúa đã giáng sinh cho nhân loại khắp trên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a42a8b53c1_2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Ánh sáng soi bừng lên cho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b224b7d20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Hoan hỉ muôn vàn dành cho ai chính tâm.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a42a8b53c1_2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hãy vui mừng và reo vang trong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b224b7d20a_0_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hãy ca tụng này Thánh Danh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b35de4c228_0_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sự sáng đã chiếu dọi chúng ta.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b35de4c228_0_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Chúa đã giáng sinh cho nhân loại khắp trên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b224b7d20a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Núi với đồi sụp tan trước Thánh Nhan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g3b224b7d20a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Đấng cao vời vượt trên khắp thế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b224b7d20a_0_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hãy vui mừng người công chính của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b35de4c228_0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nhân từ là phúc ân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b35de4c228_0_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sự sáng đã chiếu dọi chúng ta.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b35de4c228_0_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Chúa đã giáng sinh cho nhân loại khắp trên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5" name="Shape 595"/>
        <p:cNvGrpSpPr/>
        <p:nvPr/>
      </p:nvGrpSpPr>
      <p:grpSpPr>
        <a:xfrm>
          <a:off x="0" y="0"/>
          <a:ext cx="0" cy="0"/>
          <a:chOff x="0" y="0"/>
          <a:chExt cx="0" cy="0"/>
        </a:xfrm>
      </p:grpSpPr>
      <p:sp>
        <p:nvSpPr>
          <p:cNvPr id="596" name="Google Shape;59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97" name="Google Shape;597;p155"/>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56"/>
          <p:cNvSpPr txBox="1"/>
          <p:nvPr>
            <p:ph type="ctrTitle"/>
          </p:nvPr>
        </p:nvSpPr>
        <p:spPr>
          <a:xfrm>
            <a:off x="0" y="535950"/>
            <a:ext cx="9144000" cy="46074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Vinh danh Thiên Chúa trên khắp các tầng trời.</a:t>
            </a:r>
            <a:endParaRPr b="1" i="1" sz="7700">
              <a:solidFill>
                <a:schemeClr val="lt1"/>
              </a:solidFill>
              <a:latin typeface="Times"/>
              <a:ea typeface="Times"/>
              <a:cs typeface="Times"/>
              <a:sym typeface="Times"/>
            </a:endParaRPr>
          </a:p>
        </p:txBody>
      </p:sp>
      <p:sp>
        <p:nvSpPr>
          <p:cNvPr id="604" name="Google Shape;60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Bình an dưới thế cho những người thiện tâm.</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g3b2ddf779be_0_15"/>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7200"/>
              <a:buFont typeface="Times"/>
              <a:buNone/>
            </a:pPr>
            <a:r>
              <a:rPr b="1" lang="en-US" sz="7500">
                <a:solidFill>
                  <a:schemeClr val="accent4"/>
                </a:solidFill>
                <a:latin typeface="Times New Roman"/>
                <a:ea typeface="Times New Roman"/>
                <a:cs typeface="Times New Roman"/>
                <a:sym typeface="Times New Roman"/>
              </a:rPr>
              <a:t>CT: </a:t>
            </a:r>
            <a:r>
              <a:rPr b="1" lang="en-US" sz="7500">
                <a:solidFill>
                  <a:schemeClr val="lt1"/>
                </a:solidFill>
                <a:latin typeface="Times New Roman"/>
                <a:ea typeface="Times New Roman"/>
                <a:cs typeface="Times New Roman"/>
                <a:sym typeface="Times New Roman"/>
              </a:rPr>
              <a:t>Tôi tin kính một Thiên Chúa là Cha toàn năng.</a:t>
            </a:r>
            <a:endParaRPr sz="7500">
              <a:latin typeface="Times New Roman"/>
              <a:ea typeface="Times New Roman"/>
              <a:cs typeface="Times New Roman"/>
              <a:sym typeface="Times New Roman"/>
            </a:endParaRPr>
          </a:p>
        </p:txBody>
      </p:sp>
      <p:sp>
        <p:nvSpPr>
          <p:cNvPr id="620" name="Google Shape;62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New Roman"/>
                <a:ea typeface="Times New Roman"/>
                <a:cs typeface="Times New Roman"/>
                <a:sym typeface="Times New Roman"/>
              </a:rPr>
              <a:t>Đấng tạo thành trời đất muôn vật hữu hình và vô hình.</a:t>
            </a:r>
            <a:endParaRPr sz="4700">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New Roman"/>
                <a:ea typeface="Times New Roman"/>
                <a:cs typeface="Times New Roman"/>
                <a:sym typeface="Times New Roman"/>
              </a:rPr>
              <a:t>Tôi tin kính một Chúa Giê-su Ki-tô Con Một Thiên Chúa,</a:t>
            </a:r>
            <a:endParaRPr sz="4700">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sinh bởi Đức Chúa Cha từ trước muôn đời.</a:t>
            </a:r>
            <a:endParaRPr b="1" sz="75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là Thiên Chúa bởi Thiên Chúa, </a:t>
            </a:r>
            <a:endParaRPr b="1" sz="7500">
              <a:solidFill>
                <a:schemeClr val="lt1"/>
              </a:solidFill>
              <a:latin typeface="Times"/>
              <a:ea typeface="Times"/>
              <a:cs typeface="Times"/>
              <a:sym typeface="Times"/>
            </a:endParaRPr>
          </a:p>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Ánh Sáng bởi Ánh Sáng,</a:t>
            </a:r>
            <a:endParaRPr b="1" sz="75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6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Thiên Chúa thật bởi Thiên Chúa Thật,</a:t>
            </a:r>
            <a:endParaRPr b="1" sz="75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3b35de4c228_0_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Được sinh ra mà không phải được tạo thành, </a:t>
            </a:r>
            <a:endParaRPr b="1" sz="75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đồng bản thể với Đức Chúa Cha:</a:t>
            </a:r>
            <a:r>
              <a:rPr b="1" lang="en-US" sz="4000">
                <a:solidFill>
                  <a:schemeClr val="lt1"/>
                </a:solidFill>
                <a:latin typeface="Times"/>
                <a:ea typeface="Times"/>
                <a:cs typeface="Times"/>
                <a:sym typeface="Times"/>
              </a:rPr>
              <a:t> </a:t>
            </a:r>
            <a:r>
              <a:rPr b="1" lang="en-US" sz="7500">
                <a:solidFill>
                  <a:schemeClr val="lt1"/>
                </a:solidFill>
                <a:latin typeface="Times"/>
                <a:ea typeface="Times"/>
                <a:cs typeface="Times"/>
                <a:sym typeface="Times"/>
              </a:rPr>
              <a:t>nhờ Người mà muôn vật được tạo thành.</a:t>
            </a:r>
            <a:endParaRPr b="1" sz="75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Vì loài người chúng ta và để cứu độ chúng ta, Người đã từ trời xuống thế.</a:t>
            </a:r>
            <a:endParaRPr b="1" sz="75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6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i="1" lang="en-US" sz="6800">
                <a:solidFill>
                  <a:srgbClr val="FFFF00"/>
                </a:solidFill>
                <a:latin typeface="Times"/>
                <a:ea typeface="Times"/>
                <a:cs typeface="Times"/>
                <a:sym typeface="Times"/>
              </a:rPr>
              <a:t>(Mời quỳ)</a:t>
            </a:r>
            <a:r>
              <a:rPr b="1" lang="en-US" sz="6800">
                <a:solidFill>
                  <a:schemeClr val="lt1"/>
                </a:solidFill>
                <a:latin typeface="Times"/>
                <a:ea typeface="Times"/>
                <a:cs typeface="Times"/>
                <a:sym typeface="Times"/>
              </a:rPr>
              <a:t> </a:t>
            </a:r>
            <a:r>
              <a:rPr b="1" lang="en-US" sz="6800">
                <a:solidFill>
                  <a:schemeClr val="accent4"/>
                </a:solidFill>
                <a:latin typeface="Times"/>
                <a:ea typeface="Times"/>
                <a:cs typeface="Times"/>
                <a:sym typeface="Times"/>
              </a:rPr>
              <a:t>Bởi phép Đức Chúa Thánh Thần Người đã nhập thể trong long Trinh Nữ Maria, và đã làm người.</a:t>
            </a:r>
            <a:endParaRPr b="1" sz="6800">
              <a:solidFill>
                <a:schemeClr val="accent4"/>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chịu đóng đinh vào thập giá vì chúng</a:t>
            </a:r>
            <a:br>
              <a:rPr b="1" lang="en-US" sz="7500">
                <a:solidFill>
                  <a:schemeClr val="lt1"/>
                </a:solidFill>
                <a:latin typeface="Times"/>
                <a:ea typeface="Times"/>
                <a:cs typeface="Times"/>
                <a:sym typeface="Times"/>
              </a:rPr>
            </a:br>
            <a:r>
              <a:rPr b="1" lang="en-US" sz="7500">
                <a:solidFill>
                  <a:schemeClr val="lt1"/>
                </a:solidFill>
                <a:latin typeface="Times"/>
                <a:ea typeface="Times"/>
                <a:cs typeface="Times"/>
                <a:sym typeface="Times"/>
              </a:rPr>
              <a:t>ta, Thời quan Phong-xi-ô Phi-la-tô; </a:t>
            </a:r>
            <a:endParaRPr b="1" sz="75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chịu khổ hình và mai táng, ngày thứ ba Người sống lại như lời Thánh Kinh.</a:t>
            </a:r>
            <a:endParaRPr b="1" sz="7500">
              <a:solidFill>
                <a:schemeClr val="lt1"/>
              </a:solidFill>
              <a:latin typeface="Times"/>
              <a:ea typeface="Times"/>
              <a:cs typeface="Times"/>
              <a:sym typeface="Time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500">
                <a:solidFill>
                  <a:schemeClr val="lt1"/>
                </a:solidFill>
                <a:latin typeface="Times"/>
                <a:ea typeface="Times"/>
                <a:cs typeface="Times"/>
                <a:sym typeface="Times"/>
              </a:rPr>
              <a:t>Người lên trời, ngự bên hữu Đức Chúa Cha, và Người sẽ lại đến trong vinh quang</a:t>
            </a:r>
            <a:endParaRPr b="1" sz="7500">
              <a:solidFill>
                <a:schemeClr val="lt1"/>
              </a:solidFill>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để phán xét kẻ sống và kẻ chết, Nước Người sẽ không bao giờ cùng.</a:t>
            </a:r>
            <a:endParaRPr b="1" sz="7500">
              <a:solidFill>
                <a:schemeClr val="lt1"/>
              </a:solidFill>
              <a:latin typeface="Times"/>
              <a:ea typeface="Times"/>
              <a:cs typeface="Times"/>
              <a:sym typeface="Time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tinh kính Đức Chúa Thánh Thần là Thiên Chúa, và là Đấng ban sự sống,</a:t>
            </a:r>
            <a:endParaRPr b="1" sz="7500">
              <a:solidFill>
                <a:schemeClr val="lt1"/>
              </a:solidFill>
              <a:latin typeface="Times"/>
              <a:ea typeface="Times"/>
              <a:cs typeface="Times"/>
              <a:sym typeface="Time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bởi Đức Chúa Cha và Đức Chúa Con mà ra.</a:t>
            </a:r>
            <a:endParaRPr b="1" sz="7500">
              <a:solidFill>
                <a:schemeClr val="lt1"/>
              </a:solidFill>
              <a:latin typeface="Times"/>
              <a:ea typeface="Times"/>
              <a:cs typeface="Times"/>
              <a:sym typeface="Time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được phụng thờ và tôn vinh cùng với Đức Chúa Cha và Đức Chúa Con.</a:t>
            </a:r>
            <a:endParaRPr b="1" sz="7500">
              <a:solidFill>
                <a:schemeClr val="lt1"/>
              </a:solidFill>
              <a:latin typeface="Times"/>
              <a:ea typeface="Times"/>
              <a:cs typeface="Times"/>
              <a:sym typeface="Time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đã dùng các Tiên tri mà phán dạy.</a:t>
            </a:r>
            <a:endParaRPr b="1" sz="7500">
              <a:solidFill>
                <a:schemeClr val="lt1"/>
              </a:solidFill>
              <a:latin typeface="Times"/>
              <a:ea typeface="Times"/>
              <a:cs typeface="Times"/>
              <a:sym typeface="Time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76"/>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tin Hội Thánh duy nhất, thánh thiện, công giáo và tông truyền.</a:t>
            </a:r>
            <a:endParaRPr b="1" sz="7500">
              <a:solidFill>
                <a:schemeClr val="lt1"/>
              </a:solidFill>
              <a:latin typeface="Times"/>
              <a:ea typeface="Times"/>
              <a:cs typeface="Times"/>
              <a:sym typeface="Time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tuyên xưng có một Phép Rửa để tha tội.</a:t>
            </a:r>
            <a:endParaRPr b="1" sz="7500">
              <a:solidFill>
                <a:schemeClr val="lt1"/>
              </a:solidFill>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trông đợi kẻ chết sống lại và sự sống đời sau. Amen.</a:t>
            </a:r>
            <a:endParaRPr b="1" sz="7500">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pic>
        <p:nvPicPr>
          <p:cNvPr id="725" name="Google Shape;725;g3b2ddf779be_0_19"/>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TÂM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HÒA BÌNH</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42a8b53c1_2_19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Từ đồng xa, mục đồng tiến về hang đá, dâng lên hơi ấm bò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42a8b53c1_2_20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lễ dâng hơi ấm bò lừa. Trời mùa Đông bừng lên ánh sáng hy vọng: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3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Ngôi Hai giáng sinh giữa đồng, làm người đổi mới muôn lòng.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a42a8b53c1_2_21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Với bánh rượu con dâng Ngài, này đây tấm lòng thành kính.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b224b7d20a_0_112"/>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Với bánh rượu con dâng Ngài, này đây tâm tình hoà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a42a8b53c1_2_22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Từ miền Đông, Ba Vua quyết tìm lẽ sống, Bê-lem dâng Chúa Hài Đồng: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42a8b53c1_2_2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Vàng hương cùng với mộc dược. Này giờ đây đoàn con dâng lên tâm tình,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3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tôn vinh Chúa thương muôn nghìn, khổ hình dẫn tới Thiên Đình.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b2db90474b_0_28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Với bánh rượu con dâng Ngài, này đây tấm lòng thành kính.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b2db90474b_0_29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Với bánh rượu con dâng Ngài, này đây tâm tình hoà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pic>
        <p:nvPicPr>
          <p:cNvPr descr="A golden chalice and a cross next to a book&#10;&#10;AI-generated content may be incorrect." id="785" name="Google Shape;785;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pic>
        <p:nvPicPr>
          <p:cNvPr descr="A golden chalice and a cross next to a book&#10;&#10;AI-generated content may be incorrect." id="805" name="Google Shape;805;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pic>
        <p:nvPicPr>
          <p:cNvPr descr="A golden chalice and a cross next to a book&#10;&#10;AI-generated content may be incorrect." id="825" name="Google Shape;825;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a:ea typeface="Times"/>
                <a:cs typeface="Times"/>
                <a:sym typeface="Times"/>
              </a:rPr>
              <a:t>Này thiếu nữ Xi-on, hãy vui mừng hoan hỷ!</a:t>
            </a:r>
            <a:endParaRPr b="1" sz="8000">
              <a:solidFill>
                <a:schemeClr val="lt1"/>
              </a:solidFill>
              <a:latin typeface="Times"/>
              <a:ea typeface="Times"/>
              <a:cs typeface="Times"/>
              <a:sym typeface="Times"/>
            </a:endParaRPr>
          </a:p>
        </p:txBody>
      </p:sp>
      <p:sp>
        <p:nvSpPr>
          <p:cNvPr id="831" name="Google Shape;831;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35de4c228_0_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accent4"/>
              </a:buClr>
              <a:buSzPts val="4000"/>
              <a:buFont typeface="Times"/>
              <a:buNone/>
            </a:pPr>
            <a:r>
              <a:rPr b="1" lang="en-US" sz="8000">
                <a:solidFill>
                  <a:schemeClr val="lt1"/>
                </a:solidFill>
                <a:latin typeface="Times"/>
                <a:ea typeface="Times"/>
                <a:cs typeface="Times"/>
                <a:sym typeface="Times"/>
              </a:rPr>
              <a:t>Hỡi thiếu nữ Giê-ru-sa-lem hãy ca hát tưng bừng!</a:t>
            </a:r>
            <a:endParaRPr b="1" sz="80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35de4c228_0_4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accent4"/>
              </a:buClr>
              <a:buSzPts val="4000"/>
              <a:buFont typeface="Times"/>
              <a:buNone/>
            </a:pPr>
            <a:r>
              <a:rPr b="1" lang="en-US" sz="8000">
                <a:solidFill>
                  <a:schemeClr val="lt1"/>
                </a:solidFill>
                <a:latin typeface="Times"/>
                <a:ea typeface="Times"/>
                <a:cs typeface="Times"/>
                <a:sym typeface="Times"/>
              </a:rPr>
              <a:t>Kìa Vua ngươi đang ngự đến, Người là Đấng Thánh, Đấng cứu độ trần gian.</a:t>
            </a:r>
            <a:endParaRPr b="1" sz="80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pic>
        <p:nvPicPr>
          <p:cNvPr descr="A gold chalice and two round objects on a plate&#10;&#10;AI-generated content may be incorrect." id="846" name="Google Shape;846;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3755adb09_0_11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MÙA ĐÔNG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NĂM ẤY</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Đức)</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3755adb09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Mùa Đông năm ấy, sao sáng soi cuối trời.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3755adb09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Mùa Đông năm ấy, Con Chúa sinh xuống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3755adb09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Nhịp ca véo von bao thiên thần vang hát, tôn thờ Ngôi Hai giáng sinh trần ai.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3755adb09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hợp với thiên thần hoà vang câu hát: Con hợp với thiên thần hoà vang câu hát.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3755adb09_0_1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sinh nhật Chúa vinh quang. Mừng sinh nhật Đấng yêu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3755adb09_0_1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sinh nhật từ ái sáng như công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3755adb09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Mùa Đông năm ấy, vui tiếng ca nhịp nhàng.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3755adb09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Mùa Đông năm ấy, theo ánh sao huy hoàng.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b3755adb09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Tìm hang Bê-lem những mục đồng mau bước,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3b3755adb09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tôn thờ Ngôi Hai giáng sinh trần ai. Con hợp với mục đồng cùng thờ lạy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b3755adb09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hợp với mục đồng cùng thờ lạy Chúa. Mừng sinh nhật Đấng Cứu Tinh,</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g3b3755adb09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mừng sinh nhật Đấng uy linh, sinh nhật ngày Chúa xuống ơn thái bình.</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pic>
        <p:nvPicPr>
          <p:cNvPr id="916" name="Google Shape;916;g3b2ddf779be_0_23"/>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3b3755adb09_0_24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HANG BÊ-LEM</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(Hải Linh - Minh Châu)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g3b3755adb09_0_2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rgbClr val="FF00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Hát khen, mừng Chúa giáng sinh ra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b3755adb09_0_2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sinh ra đời, nằm trong hang đá nơi máng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g3b3755adb09_0_2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3b3755adb09_0_2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b3755adb09_0_2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g3b3755adb09_0_2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b3755adb09_0_2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g3b3755adb09_0_2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b3755adb09_0_2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Nửa đêm mừng Chúa giáng sinh ra chốn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3b3755adb09_0_2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đem ơn phúc xuống cho muôn dân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b3755adb09_0_2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300">
                <a:solidFill>
                  <a:schemeClr val="lt1"/>
                </a:solidFill>
                <a:latin typeface="Times New Roman"/>
                <a:ea typeface="Times New Roman"/>
                <a:cs typeface="Times New Roman"/>
                <a:sym typeface="Times New Roman"/>
              </a:rPr>
              <a:t>Nơi hang Bê-lem Thiên thần xướng ca. Thiên Chúa vinh danh chúng nhân an hòa.</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g3b3755adb09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3b3755adb09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3755adb09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b3755adb09_0_3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g3b3755adb09_0_3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b3755adb09_0_3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pic>
        <p:nvPicPr>
          <p:cNvPr id="1011" name="Google Shape;1011;g3b2ddf779be_0_27"/>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