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40" roundtripDataSignature="AMtx7miI3z8eELmwChpVz2DqmvW/KHrJ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240" Type="http://customschemas.google.com/relationships/presentationmetadata" Target="metadata"/><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5c12958b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a5c12958b4_0_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1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1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1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1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1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1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1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1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1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1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ab13fdb44f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ab13fdb44f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1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a42a8b53c1_2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a42a8b53c1_2_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b224b7d20a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g3b224b7d20a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a42a8b53c1_2_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g3a42a8b53c1_2_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42a8b53c1_2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g3a42a8b53c1_2_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ab13fdb44f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g3ab13fdb44f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ab13fdb44f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g3ab13fdb44f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ab13fdb44f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g3ab13fdb44f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ab13fdb44f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g3ab13fdb44f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ab13fdb44f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g3ab13fdb44f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29" name="Google Shape;62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1" name="Google Shape;64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7" name="Google Shape;64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3" name="Google Shape;65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9" name="Google Shape;65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5" name="Google Shape;66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71" name="Google Shape;67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77" name="Google Shape;67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 name="Google Shape;68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83" name="Google Shape;68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 name="Google Shape;68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89" name="Google Shape;68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4" name="Google Shape;69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95" name="Google Shape;69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ab13fdb44f_0_2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0" name="Google Shape;700;g3ab13fdb44f_0_2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5" name="Google Shape;70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4" name="Google Shape;714;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b224b7d20a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g3b224b7d20a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a42a8b53c1_2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g3a42a8b53c1_2_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b224b7d20a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g3b224b7d20a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2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g3ab13fdb44f_0_2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b224b7d20a_0_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g3b224b7d20a_0_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b224b7d20a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4" name="Google Shape;754;g3b224b7d20a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ab13fdb44f_0_2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9" name="Google Shape;759;g3ab13fdb44f_0_28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4" name="Google Shape;764;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0" name="Google Shape;770;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1" name="Google Shape;771;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7" name="Google Shape;777;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1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2" name="Google Shape;782;p1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ab13fdb44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7" name="Google Shape;787;g3ab13fdb44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2" name="Google Shape;792;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8" name="Google Shape;798;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3" name="Google Shape;803;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8" name="Google Shape;808;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3" name="Google Shape;813;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8" name="Google Shape;818;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3" name="Google Shape;823;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8" name="Google Shape;828;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3" name="Google Shape;833;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3" name="Google Shape;843;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8" name="Google Shape;858;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3" name="Google Shape;863;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8" name="Google Shape;868;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3" name="Google Shape;873;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3" name="Google Shape;883;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8" name="Google Shape;888;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ab13fdb44f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3" name="Google Shape;893;g3ab13fdb44f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8" name="Google Shape;898;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3" name="Google Shape;903;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8" name="Google Shape;908;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1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3" name="Google Shape;913;p1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b224b7d20a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g3b224b7d20a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a42a8b53c1_2_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g3a42a8b53c1_2_2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b224b7d20a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g3b224b7d20a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a42a8b53c1_2_2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g3a42a8b53c1_2_2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3a42a8b53c1_2_2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g3a42a8b53c1_2_2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p1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b224b7d20a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g3b224b7d20a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3b224b7d20a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g3b224b7d20a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3b224b7d20a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g3b224b7d20a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b224b7d20a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3" name="Google Shape;973;g3b224b7d20a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b224b7d20a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g3b224b7d20a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8" name="Google Shape;988;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3" name="Google Shape;993;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8" name="Google Shape;998;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3" name="Google Shape;1003;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8" name="Google Shape;1008;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3" name="Google Shape;1013;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8" name="Google Shape;1018;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3" name="Google Shape;1023;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8" name="Google Shape;1028;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4" name="Google Shape;1034;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9" name="Google Shape;1039;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4" name="Google Shape;1044;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9" name="Google Shape;1049;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a42a8b53c1_2_2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4" name="Google Shape;1054;g3a42a8b53c1_2_2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ab13fdb44f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9" name="Google Shape;1059;g3ab13fdb44f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ab13fdb44f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4" name="Google Shape;1064;g3ab13fdb44f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ab13fdb44f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9" name="Google Shape;1069;g3ab13fdb44f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ab13fdb44f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4" name="Google Shape;1074;g3ab13fdb44f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ab13fdb44f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9" name="Google Shape;1079;g3ab13fdb44f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a42a8b53c1_2_3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4" name="Google Shape;1084;g3a42a8b53c1_2_3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3a42a8b53c1_2_3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9" name="Google Shape;1089;g3a42a8b53c1_2_3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a5c12958b4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4" name="Google Shape;1094;g3a5c12958b4_0_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3b224b7d20a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9" name="Google Shape;1099;g3b224b7d20a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3ab13fdb44f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4" name="Google Shape;1104;g3ab13fdb44f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3ab13fdb44f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9" name="Google Shape;1109;g3ab13fdb44f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3ab13fdb44f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4" name="Google Shape;1114;g3ab13fdb44f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ab13fdb44f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9" name="Google Shape;1119;g3ab13fdb44f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3ab13fdb44f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4" name="Google Shape;1124;g3ab13fdb44f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ab13fdb44f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9" name="Google Shape;1129;g3ab13fdb44f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ab13fdb44f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4" name="Google Shape;1134;g3ab13fdb44f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ab13fdb44f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9" name="Google Shape;1139;g3ab13fdb44f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ab13fdb44f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4" name="Google Shape;1144;g3ab13fdb44f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ab13fdb44f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9" name="Google Shape;1149;g3ab13fdb44f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ab13fdb44f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4" name="Google Shape;1154;g3ab13fdb44f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ab13fdb44f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9" name="Google Shape;1159;g3ab13fdb44f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ab13fdb44f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4" name="Google Shape;1164;g3ab13fdb44f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ab13fdb44f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9" name="Google Shape;1169;g3ab13fdb44f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ab13fdb44f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4" name="Google Shape;1174;g3ab13fdb44f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3ab13fdb44f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9" name="Google Shape;1179;g3ab13fdb44f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ab13fdb44f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4" name="Google Shape;1184;g3ab13fdb44f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ab13fdb44f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9" name="Google Shape;1189;g3ab13fdb44f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ab13fdb44f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4" name="Google Shape;1194;g3ab13fdb44f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ab13fdb44f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9" name="Google Shape;1199;g3ab13fdb44f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ab13fdb44f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4" name="Google Shape;1204;g3ab13fdb44f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ab13fdb44f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9" name="Google Shape;1209;g3ab13fdb44f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ab13fdb44f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4" name="Google Shape;1214;g3ab13fdb44f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ab13fdb44f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9" name="Google Shape;1219;g3ab13fdb44f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3ab13fdb44f_0_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4" name="Google Shape;1224;g3ab13fdb44f_0_1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ab13fdb44f_0_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9" name="Google Shape;1229;g3ab13fdb44f_0_1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3ab13fdb44f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4" name="Google Shape;1234;g3ab13fdb44f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ab13fdb44f_0_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9" name="Google Shape;1239;g3ab13fdb44f_0_1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ab13fdb44f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4" name="Google Shape;1244;g3ab13fdb44f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3ab13fdb44f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9" name="Google Shape;1249;g3ab13fdb44f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3ab13fdb44f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4" name="Google Shape;1254;g3ab13fdb44f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3ab13fdb44f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9" name="Google Shape;1259;g3ab13fdb44f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g3ab13fdb44f_0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4" name="Google Shape;1264;g3ab13fdb44f_0_1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3ab13fdb44f_0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9" name="Google Shape;1269;g3ab13fdb44f_0_1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3ab13fdb44f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4" name="Google Shape;1274;g3ab13fdb44f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6.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8.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image" Target="../media/image5.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4.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6.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3.jp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 Id="rId3" Type="http://schemas.openxmlformats.org/officeDocument/2006/relationships/image" Target="../media/image6.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a5c12958b4_0_0"/>
          <p:cNvPicPr preferRelativeResize="0"/>
          <p:nvPr/>
        </p:nvPicPr>
        <p:blipFill rotWithShape="1">
          <a:blip r:embed="rId3">
            <a:alphaModFix/>
          </a:blip>
          <a:srcRect b="0" l="0" r="0" t="0"/>
          <a:stretch/>
        </p:blipFill>
        <p:spPr>
          <a:xfrm>
            <a:off x="0" y="0"/>
            <a:ext cx="9144003" cy="518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 và Thánh Thần †.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 và Thánh Thần †.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1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500">
                <a:solidFill>
                  <a:schemeClr val="accent4"/>
                </a:solidFill>
                <a:latin typeface="Times New Roman"/>
                <a:ea typeface="Times New Roman"/>
                <a:cs typeface="Times New Roman"/>
                <a:sym typeface="Times New Roman"/>
              </a:rPr>
              <a:t>KINH NĂM THÁNH 2025</a:t>
            </a:r>
            <a:endParaRPr b="1" sz="1650">
              <a:solidFill>
                <a:schemeClr val="accent4"/>
              </a:solidFill>
              <a:latin typeface="Times New Roman"/>
              <a:ea typeface="Times New Roman"/>
              <a:cs typeface="Times New Roman"/>
              <a:sym typeface="Times New Roman"/>
            </a:endParaRPr>
          </a:p>
          <a:p>
            <a:pPr indent="0" lvl="0" marL="0" rtl="0" algn="just">
              <a:lnSpc>
                <a:spcPct val="100000"/>
              </a:lnSpc>
              <a:spcBef>
                <a:spcPts val="1406"/>
              </a:spcBef>
              <a:spcAft>
                <a:spcPts val="0"/>
              </a:spcAft>
              <a:buClr>
                <a:schemeClr val="lt1"/>
              </a:buClr>
              <a:buSzPct val="100000"/>
              <a:buNone/>
            </a:pPr>
            <a:r>
              <a:rPr b="1" lang="en-US" sz="7600">
                <a:solidFill>
                  <a:schemeClr val="lt1"/>
                </a:solidFill>
                <a:latin typeface="Times New Roman"/>
                <a:ea typeface="Times New Roman"/>
                <a:cs typeface="Times New Roman"/>
                <a:sym typeface="Times New Roman"/>
              </a:rPr>
              <a:t>Lạy Cha trên trời, Xin cho ơn đức tin mà Cha ban tặng chúng con/ trong Chúa Giêsu Kitô,</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1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Cha và Anh của chúng con, cùng ngọn lửa đức ái được thắp lên trong tâm hồn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bởi Chúa Thánh Thần, khơi dậy trong chúng con/ niềm hy vọng hồng phúc hướng về Nước Cha trị đến.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Xin ân sủng Cha biến đổi chúng con/ thành những người miệt mài vun trồng hạt giống Tin Mừng.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11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Ước gì những hạt giống ấy/ biến đổi từ bên trong nhân loại và toàn thể vũ trụ này,</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1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trong khi vững lòng mong đợi trời mới đất mới, lúc mà quyền lực Sự Dữ sẽ bị đánh bại,</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vinh quang Cha sẽ chiếu sáng muôn đời. Xin cho ân sủng của Năm Thánh này/ khơi dậy trong chúng con,</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là </a:t>
            </a:r>
            <a:r>
              <a:rPr b="1" lang="en-US" sz="7500">
                <a:solidFill>
                  <a:schemeClr val="accent4"/>
                </a:solidFill>
                <a:latin typeface="Times New Roman"/>
                <a:ea typeface="Times New Roman"/>
                <a:cs typeface="Times New Roman"/>
                <a:sym typeface="Times New Roman"/>
              </a:rPr>
              <a:t>Những Người Lữ Hành Hy Vọng</a:t>
            </a:r>
            <a:r>
              <a:rPr b="1" lang="en-US" sz="7500">
                <a:solidFill>
                  <a:schemeClr val="lt1"/>
                </a:solidFill>
                <a:latin typeface="Times New Roman"/>
                <a:ea typeface="Times New Roman"/>
                <a:cs typeface="Times New Roman"/>
                <a:sym typeface="Times New Roman"/>
              </a:rPr>
              <a:t>, niềm khao khát kho tàng ở trên trời.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6600"/>
              <a:buNone/>
            </a:pPr>
            <a:r>
              <a:rPr b="1" lang="en-US" sz="6600">
                <a:solidFill>
                  <a:schemeClr val="lt1"/>
                </a:solidFill>
                <a:latin typeface="Times New Roman"/>
                <a:ea typeface="Times New Roman"/>
                <a:cs typeface="Times New Roman"/>
                <a:sym typeface="Times New Roman"/>
              </a:rPr>
              <a:t>Đồng thời cũng làm lan tỏa trên khắp thế giới/ niềm vui và sự bình an của Đấng Cứu Chuộc chúng con.</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6600"/>
              <a:buNone/>
            </a:pPr>
            <a:r>
              <a:rPr b="1" lang="en-US" sz="6600">
                <a:solidFill>
                  <a:schemeClr val="lt1"/>
                </a:solidFill>
                <a:latin typeface="Times New Roman"/>
                <a:ea typeface="Times New Roman"/>
                <a:cs typeface="Times New Roman"/>
                <a:sym typeface="Times New Roman"/>
              </a:rPr>
              <a:t>Xin tôn vinh và ngợi khen Cha là Thiên Chúa chúng con, Cha đáng chúc tụng mãi muôn đời. </a:t>
            </a:r>
            <a:r>
              <a:rPr b="1" i="1" lang="en-US" sz="6600">
                <a:solidFill>
                  <a:schemeClr val="lt1"/>
                </a:solidFill>
                <a:latin typeface="Times New Roman"/>
                <a:ea typeface="Times New Roman"/>
                <a:cs typeface="Times New Roman"/>
                <a:sym typeface="Times New Roman"/>
              </a:rPr>
              <a:t>Amen.</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g3ab13fdb44f_0_1"/>
          <p:cNvPicPr preferRelativeResize="0"/>
          <p:nvPr/>
        </p:nvPicPr>
        <p:blipFill rotWithShape="1">
          <a:blip r:embed="rId3">
            <a:alphaModFix/>
          </a:blip>
          <a:srcRect b="0" l="0" r="0" t="0"/>
          <a:stretch/>
        </p:blipFill>
        <p:spPr>
          <a:xfrm>
            <a:off x="0" y="0"/>
            <a:ext cx="9144003" cy="5183501"/>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12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lt1"/>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HÂN HOAN </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MUÔN LỜI</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Mai Thiện)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a42a8b53c1_2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1. </a:t>
            </a:r>
            <a:r>
              <a:rPr b="1" lang="en-US" sz="6900">
                <a:solidFill>
                  <a:schemeClr val="lt1"/>
                </a:solidFill>
                <a:latin typeface="Times New Roman"/>
                <a:ea typeface="Times New Roman"/>
                <a:cs typeface="Times New Roman"/>
                <a:sym typeface="Times New Roman"/>
              </a:rPr>
              <a:t>Hân hoan muôn lời mừng kính Thánh Gia, phúc ân dư đầy tình yêu thắm tươi chan hoà.</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g3b224b7d20a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Cuộc đời dương thế tuyệt vời gương lành phúc đức để danh thơm thiên thu.</a:t>
            </a:r>
            <a:endParaRPr b="1" sz="7200">
              <a:solidFill>
                <a:srgbClr val="FFFF00"/>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42a8b53c1_2_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a:t>
            </a:r>
            <a:r>
              <a:rPr b="1" lang="en-US" sz="7200">
                <a:solidFill>
                  <a:schemeClr val="lt1"/>
                </a:solidFill>
                <a:latin typeface="Times New Roman"/>
                <a:ea typeface="Times New Roman"/>
                <a:cs typeface="Times New Roman"/>
                <a:sym typeface="Times New Roman"/>
              </a:rPr>
              <a:t> Dâng lên Chúa lời tạ ơn, đã ban cho nhân loại chính Con Yêu của Ngài,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a42a8b53c1_2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Mẹ Ma-ri-a và Thánh Giu-se, nên Thánh Gia: suối nguồn ơn cứu độ.</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3ab13fdb44f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2. </a:t>
            </a:r>
            <a:r>
              <a:rPr b="1" lang="en-US" sz="7200">
                <a:solidFill>
                  <a:schemeClr val="lt1"/>
                </a:solidFill>
                <a:latin typeface="Times New Roman"/>
                <a:ea typeface="Times New Roman"/>
                <a:cs typeface="Times New Roman"/>
                <a:sym typeface="Times New Roman"/>
              </a:rPr>
              <a:t>Bao la ân tình đời sống Thánh Gia, dẫu trong âm thầm mà nên mẫu gương mọi nhà.</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3ab13fdb44f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Nhọc nhằn lao tác cùng xẻ chia đời nhân thế với tin yêu phó thác.</a:t>
            </a:r>
            <a:endParaRPr b="1" sz="7200">
              <a:solidFill>
                <a:srgbClr val="FFFF00"/>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g3ab13fdb44f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a:t>
            </a:r>
            <a:r>
              <a:rPr b="1" lang="en-US" sz="7200">
                <a:solidFill>
                  <a:schemeClr val="lt1"/>
                </a:solidFill>
                <a:latin typeface="Times New Roman"/>
                <a:ea typeface="Times New Roman"/>
                <a:cs typeface="Times New Roman"/>
                <a:sym typeface="Times New Roman"/>
              </a:rPr>
              <a:t> Dâng lên Chúa lời tạ ơn, đã ban cho nhân loại chính Con Yêu của Ngài,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g3ab13fdb44f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Mẹ Ma-ri-a và Thánh Giu-se, nên Thánh Gia: suối nguồn ơn cứu độ.</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pic>
        <p:nvPicPr>
          <p:cNvPr id="613" name="Google Shape;613;g3ab13fdb44f_0_5"/>
          <p:cNvPicPr preferRelativeResize="0"/>
          <p:nvPr/>
        </p:nvPicPr>
        <p:blipFill rotWithShape="1">
          <a:blip r:embed="rId3">
            <a:alphaModFix/>
          </a:blip>
          <a:srcRect b="0" l="0" r="0" t="0"/>
          <a:stretch/>
        </p:blipFill>
        <p:spPr>
          <a:xfrm>
            <a:off x="0" y="0"/>
            <a:ext cx="9144003" cy="5183501"/>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19" name="Google Shape;61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0" name="Shape 630"/>
        <p:cNvGrpSpPr/>
        <p:nvPr/>
      </p:nvGrpSpPr>
      <p:grpSpPr>
        <a:xfrm>
          <a:off x="0" y="0"/>
          <a:ext cx="0" cy="0"/>
          <a:chOff x="0" y="0"/>
          <a:chExt cx="0" cy="0"/>
        </a:xfrm>
      </p:grpSpPr>
      <p:sp>
        <p:nvSpPr>
          <p:cNvPr id="631" name="Google Shape;63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500">
                <a:solidFill>
                  <a:srgbClr val="FF3399"/>
                </a:solidFill>
                <a:latin typeface="Times"/>
                <a:ea typeface="Times"/>
                <a:cs typeface="Times"/>
                <a:sym typeface="Times"/>
              </a:rPr>
              <a:t>A+B: </a:t>
            </a:r>
            <a:r>
              <a:rPr b="1" lang="en-US" sz="7500">
                <a:solidFill>
                  <a:schemeClr val="lt1"/>
                </a:solidFill>
                <a:latin typeface="Times"/>
                <a:ea typeface="Times"/>
                <a:cs typeface="Times"/>
                <a:sym typeface="Times"/>
              </a:rPr>
              <a:t>Cùng Ðức Chúa Thánh Thần trong vinh quang Ðức Chúa Cha.</a:t>
            </a:r>
            <a:r>
              <a:rPr b="1" lang="en-US" sz="7500">
                <a:latin typeface="Times"/>
                <a:ea typeface="Times"/>
                <a:cs typeface="Times"/>
                <a:sym typeface="Times"/>
              </a:rPr>
              <a:t> </a:t>
            </a:r>
            <a:r>
              <a:rPr b="1" lang="en-US" sz="7500">
                <a:solidFill>
                  <a:schemeClr val="lt1"/>
                </a:solidFill>
                <a:latin typeface="Times"/>
                <a:ea typeface="Times"/>
                <a:cs typeface="Times"/>
                <a:sym typeface="Times"/>
              </a:rPr>
              <a:t>Amen.</a:t>
            </a:r>
            <a:endParaRPr sz="7500">
              <a:solidFill>
                <a:schemeClr val="lt1"/>
              </a:solidFill>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pic>
        <p:nvPicPr>
          <p:cNvPr id="702" name="Google Shape;702;g3ab13fdb44f_0_286"/>
          <p:cNvPicPr preferRelativeResize="0"/>
          <p:nvPr/>
        </p:nvPicPr>
        <p:blipFill rotWithShape="1">
          <a:blip r:embed="rId3">
            <a:alphaModFix/>
          </a:blip>
          <a:srcRect b="0" l="0" r="0" t="0"/>
          <a:stretch/>
        </p:blipFill>
        <p:spPr>
          <a:xfrm>
            <a:off x="0" y="0"/>
            <a:ext cx="9144003" cy="5183501"/>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6" name="Shape 706"/>
        <p:cNvGrpSpPr/>
        <p:nvPr/>
      </p:nvGrpSpPr>
      <p:grpSpPr>
        <a:xfrm>
          <a:off x="0" y="0"/>
          <a:ext cx="0" cy="0"/>
          <a:chOff x="0" y="0"/>
          <a:chExt cx="0" cy="0"/>
        </a:xfrm>
      </p:grpSpPr>
      <p:sp>
        <p:nvSpPr>
          <p:cNvPr id="707" name="Google Shape;707;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08" name="Google Shape;708;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09" name="Google Shape;709;p133"/>
          <p:cNvSpPr/>
          <p:nvPr/>
        </p:nvSpPr>
        <p:spPr>
          <a:xfrm flipH="1" rot="10800000">
            <a:off x="-1733" y="0"/>
            <a:ext cx="6803134" cy="5143179"/>
          </a:xfrm>
          <a:prstGeom prst="rect">
            <a:avLst/>
          </a:prstGeom>
          <a:gradFill>
            <a:gsLst>
              <a:gs pos="0">
                <a:srgbClr val="000000">
                  <a:alpha val="49803"/>
                </a:srgbClr>
              </a:gs>
              <a:gs pos="8000">
                <a:srgbClr val="000000">
                  <a:alpha val="49803"/>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10" name="Google Shape;710;p133"/>
          <p:cNvSpPr/>
          <p:nvPr/>
        </p:nvSpPr>
        <p:spPr>
          <a:xfrm flipH="1" rot="-5400000">
            <a:off x="2737118" y="-1264380"/>
            <a:ext cx="3670923" cy="9145160"/>
          </a:xfrm>
          <a:prstGeom prst="rect">
            <a:avLst/>
          </a:prstGeom>
          <a:gradFill>
            <a:gsLst>
              <a:gs pos="0">
                <a:srgbClr val="9CC2E5">
                  <a:alpha val="0"/>
                </a:srgbClr>
              </a:gs>
              <a:gs pos="100000">
                <a:srgbClr val="000000">
                  <a:alpha val="43921"/>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11" name="Google Shape;711;p133"/>
          <p:cNvPicPr preferRelativeResize="0"/>
          <p:nvPr/>
        </p:nvPicPr>
        <p:blipFill rotWithShape="1">
          <a:blip r:embed="rId3">
            <a:alphaModFix/>
          </a:blip>
          <a:srcRect b="0" l="0" r="0" t="0"/>
          <a:stretch/>
        </p:blipFill>
        <p:spPr>
          <a:xfrm>
            <a:off x="0" y="4465"/>
            <a:ext cx="9144003" cy="5134572"/>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127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1. </a:t>
            </a:r>
            <a:r>
              <a:rPr b="1" lang="en-US" sz="7200">
                <a:solidFill>
                  <a:schemeClr val="lt1"/>
                </a:solidFill>
                <a:latin typeface="Times New Roman"/>
                <a:ea typeface="Times New Roman"/>
                <a:cs typeface="Times New Roman"/>
                <a:sym typeface="Times New Roman"/>
              </a:rPr>
              <a:t>Phúc thay bạn nào tôn sợ Thiên Chúa, bạn nào ăn ở theo đường lối của Ngài.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g3b224b7d20a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Hoa trái tay bạn làm ra, bạn được an hưởng, bạn được hạnh phúc và sẽ gặp may.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Phúc thay bạn nào tôn sợ Thiên Chúa. Bạn nào ăn ở theo đường lối Ngài.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g3a42a8b53c1_2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2. </a:t>
            </a:r>
            <a:r>
              <a:rPr b="1" lang="en-US" sz="7200">
                <a:solidFill>
                  <a:schemeClr val="lt1"/>
                </a:solidFill>
                <a:latin typeface="Times New Roman"/>
                <a:ea typeface="Times New Roman"/>
                <a:cs typeface="Times New Roman"/>
                <a:sym typeface="Times New Roman"/>
              </a:rPr>
              <a:t>Cũng như nho lành sinh đầy hoa trái, hiền thê sẽ ở trong gia thất của bạn.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b224b7d20a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Con cái như những chồi non của chòm ô-liu ở quanh bàn ăn trong cửa nhà bạn.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ab13fdb44f_0_2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Phúc thay bạn nào tôn sợ Thiên Chúa. Bạn nào ăn ở theo đường lối Ngài.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g3b224b7d20a_0_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3. </a:t>
            </a:r>
            <a:r>
              <a:rPr b="1" lang="en-US" sz="7200">
                <a:solidFill>
                  <a:schemeClr val="lt1"/>
                </a:solidFill>
                <a:latin typeface="Times New Roman"/>
                <a:ea typeface="Times New Roman"/>
                <a:cs typeface="Times New Roman"/>
                <a:sym typeface="Times New Roman"/>
              </a:rPr>
              <a:t>Đó là phúc lộc Chúa để dành cho bạn nào luôn thành tâm hằng kính sợ Ngài.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g3b224b7d20a_0_79"/>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Xin Chúa chúc phúc lành cho bạn được nhìn thấy thịnh đạt Si-on trong suốt đời bạn.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g3ab13fdb44f_0_2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Phúc thay bạn nào tôn sợ Thiên Chúa. Bạn nào ăn ở theo đường lối Ngài.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5" name="Shape 765"/>
        <p:cNvGrpSpPr/>
        <p:nvPr/>
      </p:nvGrpSpPr>
      <p:grpSpPr>
        <a:xfrm>
          <a:off x="0" y="0"/>
          <a:ext cx="0" cy="0"/>
          <a:chOff x="0" y="0"/>
          <a:chExt cx="0" cy="0"/>
        </a:xfrm>
      </p:grpSpPr>
      <p:sp>
        <p:nvSpPr>
          <p:cNvPr id="766" name="Google Shape;766;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67" name="Google Shape;767;p155"/>
          <p:cNvPicPr preferRelativeResize="0"/>
          <p:nvPr/>
        </p:nvPicPr>
        <p:blipFill rotWithShape="1">
          <a:blip r:embed="rId3">
            <a:alphaModFix/>
          </a:blip>
          <a:srcRect b="0" l="0" r="0" t="0"/>
          <a:stretch/>
        </p:blipFill>
        <p:spPr>
          <a:xfrm>
            <a:off x="0" y="4465"/>
            <a:ext cx="9144003" cy="5134572"/>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56"/>
          <p:cNvSpPr txBox="1"/>
          <p:nvPr>
            <p:ph type="ctrTitle"/>
          </p:nvPr>
        </p:nvSpPr>
        <p:spPr>
          <a:xfrm>
            <a:off x="0" y="584200"/>
            <a:ext cx="9144000" cy="4559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7700">
                <a:solidFill>
                  <a:schemeClr val="lt1"/>
                </a:solidFill>
                <a:latin typeface="Times"/>
                <a:ea typeface="Times"/>
                <a:cs typeface="Times"/>
                <a:sym typeface="Times"/>
              </a:rPr>
              <a:t>Nguyện cho bình an của Chúa Ki-tô trong lòng anh em. </a:t>
            </a:r>
            <a:endParaRPr b="1" i="1" sz="7700">
              <a:solidFill>
                <a:schemeClr val="lt1"/>
              </a:solidFill>
              <a:latin typeface="Times"/>
              <a:ea typeface="Times"/>
              <a:cs typeface="Times"/>
              <a:sym typeface="Times"/>
            </a:endParaRPr>
          </a:p>
        </p:txBody>
      </p:sp>
      <p:sp>
        <p:nvSpPr>
          <p:cNvPr id="774" name="Google Shape;774;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Nguyện cho lời của Ngài cư ngụ dồi dào trong chính anh em.</a:t>
            </a:r>
            <a:br>
              <a:rPr b="1" i="1" lang="en-US" sz="8000">
                <a:latin typeface="Times"/>
                <a:ea typeface="Times"/>
                <a:cs typeface="Times"/>
                <a:sym typeface="Times"/>
              </a:rPr>
            </a:br>
            <a:r>
              <a:rPr b="1" i="1" lang="en-US" sz="8000">
                <a:solidFill>
                  <a:srgbClr val="FFFF00"/>
                </a:solidFill>
                <a:latin typeface="Times"/>
                <a:ea typeface="Times"/>
                <a:cs typeface="Times"/>
                <a:sym typeface="Times"/>
              </a:rPr>
              <a:t>All.. All..</a:t>
            </a:r>
            <a:endParaRPr b="1" sz="8000">
              <a:solidFill>
                <a:srgbClr val="FFFF00"/>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pic>
        <p:nvPicPr>
          <p:cNvPr id="784" name="Google Shape;784;p158"/>
          <p:cNvPicPr preferRelativeResize="0"/>
          <p:nvPr/>
        </p:nvPicPr>
        <p:blipFill rotWithShape="1">
          <a:blip r:embed="rId3">
            <a:alphaModFix/>
          </a:blip>
          <a:srcRect b="0" l="0" r="0" t="0"/>
          <a:stretch/>
        </p:blipFill>
        <p:spPr>
          <a:xfrm>
            <a:off x="0" y="0"/>
            <a:ext cx="9143997" cy="5134566"/>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pic>
        <p:nvPicPr>
          <p:cNvPr id="789" name="Google Shape;789;g3ab13fdb44f_0_9"/>
          <p:cNvPicPr preferRelativeResize="0"/>
          <p:nvPr/>
        </p:nvPicPr>
        <p:blipFill rotWithShape="1">
          <a:blip r:embed="rId3">
            <a:alphaModFix/>
          </a:blip>
          <a:srcRect b="0" l="0" r="0" t="0"/>
          <a:stretch/>
        </p:blipFill>
        <p:spPr>
          <a:xfrm>
            <a:off x="0" y="0"/>
            <a:ext cx="9144003" cy="5183501"/>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95" name="Google Shape;795;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pic>
        <p:nvPicPr>
          <p:cNvPr id="895" name="Google Shape;895;g3ab13fdb44f_0_13"/>
          <p:cNvPicPr preferRelativeResize="0"/>
          <p:nvPr/>
        </p:nvPicPr>
        <p:blipFill rotWithShape="1">
          <a:blip r:embed="rId3">
            <a:alphaModFix/>
          </a:blip>
          <a:srcRect b="0" l="0" r="0" t="0"/>
          <a:stretch/>
        </p:blipFill>
        <p:spPr>
          <a:xfrm>
            <a:off x="0" y="0"/>
            <a:ext cx="9144003" cy="5183501"/>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TÌNH YÊU MẾN</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(Cao Huy Hoàng)</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g3a42a8b53c1_2_199"/>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Cuộc đời này con có gì mà dâng Chúa đâu.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g3a42a8b53c1_2_20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Những luống cày sâu trời tối mau cha chưa kịp về;</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3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bận rộn từng ngày lo no cơm ấm áo;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g3b224b7d20a_0_10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Có chi đâu Ngài ơi có chi dâng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g3a42a8b53c1_2_210"/>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xin tiến dâng lên tình yêu mến,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g3b224b7d20a_0_112"/>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nhờ những hy sinh được êm ấm gia đình.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g3a42a8b53c1_2_21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xin tiến dâng lên tình yêu mến,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g3b224b7d20a_0_116"/>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Chúa đoái thương gia đình con được bình yên.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g3a42a8b53c1_2_224"/>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Đời tuyệt vời luôn thắm nồng tình yêu thiết tha.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g3a42a8b53c1_2_228"/>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Gương sáng mẹ cha ngày tháng qua luôn luôn hiền hoà;</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37"/>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dặn dò đừng buồn nhau không vui mái ấm.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g3b224b7d20a_0_128"/>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Mến yêu nhau đẹp sao lễ dâng lên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g3b224b7d20a_0_133"/>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xin tiến dâng lên tình yêu mến,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g3b224b7d20a_0_137"/>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nhờ những hy sinh được êm ấm gia đình.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g3b224b7d20a_0_141"/>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xin tiến dâng lên tình yêu mến,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g3b224b7d20a_0_14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Chúa đoái thương gia đình con được bình yên.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pic>
        <p:nvPicPr>
          <p:cNvPr descr="A golden chalice and a cross next to a book&#10;&#10;AI-generated content may be incorrect." id="985" name="Google Shape;985;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pic>
        <p:nvPicPr>
          <p:cNvPr descr="A golden chalice and a cross next to a book&#10;&#10;AI-generated content may be incorrect." id="1005" name="Google Shape;1005;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pic>
        <p:nvPicPr>
          <p:cNvPr descr="A golden chalice and a cross next to a book&#10;&#10;AI-generated content may be incorrect." id="1025" name="Google Shape;1025;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a:ea typeface="Times"/>
                <a:cs typeface="Times"/>
                <a:sym typeface="Times"/>
              </a:rPr>
              <a:t>Thiên Chúa đã xuất hiện trên mặt đất và sống giữa loài người chúng ta.</a:t>
            </a:r>
            <a:endParaRPr b="1" sz="6500">
              <a:solidFill>
                <a:schemeClr val="lt1"/>
              </a:solidFill>
              <a:latin typeface="Times"/>
              <a:ea typeface="Times"/>
              <a:cs typeface="Times"/>
              <a:sym typeface="Times"/>
            </a:endParaRPr>
          </a:p>
        </p:txBody>
      </p:sp>
      <p:sp>
        <p:nvSpPr>
          <p:cNvPr id="1031" name="Google Shape;1031;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pic>
        <p:nvPicPr>
          <p:cNvPr descr="A gold chalice and two round objects on a plate&#10;&#10;AI-generated content may be incorrect." id="1036" name="Google Shape;1036;p212"/>
          <p:cNvPicPr preferRelativeResize="0"/>
          <p:nvPr/>
        </p:nvPicPr>
        <p:blipFill rotWithShape="1">
          <a:blip r:embed="rId3">
            <a:alphaModFix/>
          </a:blip>
          <a:srcRect b="0" l="0" r="0" t="0"/>
          <a:stretch/>
        </p:blipFill>
        <p:spPr>
          <a:xfrm>
            <a:off x="0" y="921"/>
            <a:ext cx="9144000" cy="5141658"/>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CAO CUNG LÊN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(Nguyễn Khắc Xuyên &amp; Hoài Đức)</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Cao cung lên khúc nhạc Thiên Thần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Hoà trong làn gió nhè nhẹ vấn vương.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g3a42a8b53c1_2_2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Ôi linh thiêng lắng nghe thoang thoảng cung đàn.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g3ab13fdb44f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đêm khuya vang vẳng trong tuyết sương.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g3ab13fdb44f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Đàn ơi! Cứ rung những điệu réo rắt.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g3ab13fdb44f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Hát khen Con Một Chúa Trời rày sinh xuống cõi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g3ab13fdb44f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Hỡi người dương thế lặng nghe cung đàn.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g3ab13fdb44f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Mau tìm cho tới thờ kính Vua giáng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g3a42a8b53c1_2_3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Thôi hỡi trần gian im tiếng đi mà cung kính!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g3a42a8b53c1_2_3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Con sinh ra trên nắm cỏ máng lừa.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g3a5c12958b4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Tuy Chúa là Vua muôn nước suy phục tôn kính.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g3b224b7d20a_0_1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bởi cõi trời sinh xuống trần đêm xưa.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g3ab13fdb44f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Cao cung lên khúc nhạc Thiên Thần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g3ab13fdb44f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Hoà trong làn gió nhè nhẹ vấn vương.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g3ab13fdb44f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Ôi linh thiêng lắng nghe thoang thoảng cung đàn.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g3ab13fdb44f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đêm khuya vang vẳng trong tuyết sương.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g3ab13fdb44f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Đàn ơi! Cứ rung những điệu réo rắt.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g3ab13fdb44f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Hát khen Con Một Chúa Trời rày sinh xuống cõi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g3ab13fdb44f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Hỡi người dương thế lặng nghe cung đàn.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g3ab13fdb44f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Mau tìm cho tới thờ kính Vua giáng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g3ab13fdb44f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Thôi hỡi trần gian bao tuyết sương cùng gió rét.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g3ab13fdb44f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Cớ sao nỡ làm cho Chúa lạnh quá chừng?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g3ab13fdb44f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Ôi Đấng Toàn Năng xưa quá yêu người tha thiết.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g3ab13fdb44f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Xuống chịu khổ hèn trong tuyết ngàn dặm sương.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g3ab13fdb44f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Cao cung lên khúc nhạc Thiên Thần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g3ab13fdb44f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Hoà trong làn gió nhè nhẹ vấn vương.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g3ab13fdb44f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Ôi linh thiêng lắng nghe thoang thoảng cung đàn.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g3ab13fdb44f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đêm khuya vang vẳng trong tuyết sương.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g3ab13fdb44f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Đàn ơi! Cứ rung những điệu réo rắt.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g3ab13fdb44f_0_1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Hát khen Con Một Chúa Trời rày sinh xuống cõi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g3ab13fdb44f_0_1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Hỡi người dương thế lặng nghe cung đàn.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g3ab13fdb44f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Mau tìm cho tới thờ kính Vua giáng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pic>
        <p:nvPicPr>
          <p:cNvPr id="1206" name="Google Shape;1206;g3ab13fdb44f_0_17"/>
          <p:cNvPicPr preferRelativeResize="0"/>
          <p:nvPr/>
        </p:nvPicPr>
        <p:blipFill rotWithShape="1">
          <a:blip r:embed="rId3">
            <a:alphaModFix/>
          </a:blip>
          <a:srcRect b="0" l="0" r="0" t="0"/>
          <a:stretch/>
        </p:blipFill>
        <p:spPr>
          <a:xfrm>
            <a:off x="0" y="0"/>
            <a:ext cx="9144003" cy="5183501"/>
          </a:xfrm>
          <a:prstGeom prst="rect">
            <a:avLst/>
          </a:prstGeom>
          <a:noFill/>
          <a:ln>
            <a:noFill/>
          </a:ln>
        </p:spPr>
      </p:pic>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g3ab13fdb44f_0_15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LOÀI NGƯỜI ƠI</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(Văn Thiều)</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g3ab13fdb44f_0_15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Loài người ơi! Tới Bê-lem kính thờ Ngôi Hai, Chúa cao sang!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g3ab13fdb44f_0_1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thương xuống cứu muôn dân đang lầm than.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g3ab13fdb44f_0_1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Si-on! Hãy ca lên nhịp nhàng tung hô Chúa vinh quang,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g3ab13fdb44f_0_1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Yêu-Thương đã sinh ra trong cảnh âm thầm.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g3ab13fdb44f_0_171"/>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Be-lem năm ấy ánh sao chiếu lan giữa trời mùa đông,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g3ab13fdb44f_0_1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Vang trong tuyết sương bao điệu đàn ca dâng lên du dương.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g3ab13fdb44f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Bên trong hang đá khó khăn thấp hèn giữa trời đầy sương,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g3ab13fdb44f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Ngôi Hai giáng sinh làm người chuộc tội vì lòng xót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g3ab13fdb44f_0_187"/>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Loài người ơi! Tới Be-lem kính thờ Ngôi Hai, Chúa cao sang!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g3ab13fdb44f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thương xuống cứu muôn dân đang lầm than.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g3ab13fdb44f_0_1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Xi-on! Hãy ca lên nhịp nhàng tung hô Chúa vinh quang,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g3ab13fdb44f_0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yêu thương đã sinh ra trong cảnh âm thầm.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pic>
        <p:nvPicPr>
          <p:cNvPr id="1276" name="Google Shape;1276;g3ab13fdb44f_0_21"/>
          <p:cNvPicPr preferRelativeResize="0"/>
          <p:nvPr/>
        </p:nvPicPr>
        <p:blipFill rotWithShape="1">
          <a:blip r:embed="rId3">
            <a:alphaModFix/>
          </a:blip>
          <a:srcRect b="0" l="0" r="0" t="0"/>
          <a:stretch/>
        </p:blipFill>
        <p:spPr>
          <a:xfrm>
            <a:off x="0" y="0"/>
            <a:ext cx="9144003" cy="518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