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Lst>
  <p:sldSz cy="5143500" cx="9144000"/>
  <p:notesSz cx="6858000" cy="9144000"/>
  <p:embeddedFontLst>
    <p:embeddedFont>
      <p:font typeface="Oswald"/>
      <p:regular r:id="rId214"/>
      <p:bold r:id="rId2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6" roundtripDataSignature="AMtx7mjklm4tbutexQq2yqGb7oT+boFU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6" Type="http://customschemas.google.com/relationships/presentationmetadata" Target="metadata"/><Relationship Id="rId215" Type="http://schemas.openxmlformats.org/officeDocument/2006/relationships/font" Target="fonts/Oswald-bold.fntdata"/><Relationship Id="rId214" Type="http://schemas.openxmlformats.org/officeDocument/2006/relationships/font" Target="fonts/Oswald-regular.fntdata"/><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391" name="Google Shape;391;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397" name="Google Shape;397;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03" name="Google Shape;403;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09" name="Google Shape;409;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15" name="Google Shape;415;p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21" name="Google Shape;421;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27" name="Google Shape;427;p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33" name="Google Shape;433;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39" name="Google Shape;439;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456" name="Google Shape;456;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62" name="Google Shape;462;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68" name="Google Shape;468;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474" name="Google Shape;474;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80" name="Google Shape;480;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86" name="Google Shape;486;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492" name="Google Shape;492;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498" name="Google Shape;498;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504" name="Google Shape;504;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510" name="Google Shape;510;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16" name="Google Shape;516;p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522" name="Google Shape;522;p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39" name="Google Shape;539;p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545" name="Google Shape;545;p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551" name="Google Shape;551;p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557" name="Google Shape;557;p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3" name="Google Shape;563;p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569" name="Google Shape;569;p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575" name="Google Shape;575;p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581" name="Google Shape;581;p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87" name="Google Shape;587;p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593" name="Google Shape;593;p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599" name="Google Shape;599;p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605" name="Google Shape;605;p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p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22" name="Google Shape;622;p1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1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28" name="Google Shape;628;p10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1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34" name="Google Shape;634;p10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p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40" name="Google Shape;640;p10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46" name="Google Shape;646;p1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p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52" name="Google Shape;652;p10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58" name="Google Shape;658;p1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64" name="Google Shape;664;p1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p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70" name="Google Shape;670;p1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p1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76" name="Google Shape;676;p1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1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82" name="Google Shape;682;p1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1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88" name="Google Shape;688;p1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3" name="Google Shape;693;p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 name="Google Shape;699;p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6" name="Google Shape;706;p1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p1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2" name="Google Shape;712;p1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1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8" name="Google Shape;718;p1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24" name="Google Shape;724;p1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p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30" name="Google Shape;730;p1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 name="Google Shape;735;p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36" name="Google Shape;736;p1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 name="Google Shape;741;p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42" name="Google Shape;742;p1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p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48" name="Google Shape;748;p1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 name="Google Shape;753;p1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54" name="Google Shape;754;p1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1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60" name="Google Shape;760;p1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66" name="Google Shape;766;p1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1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72" name="Google Shape;772;p1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p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78" name="Google Shape;778;p1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p1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84" name="Google Shape;784;p1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1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90" name="Google Shape;790;p1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1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1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 name="Google Shape;801;p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p1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807" name="Google Shape;807;p1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2" name="Google Shape;812;p1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13" name="Google Shape;813;p1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8" name="Google Shape;818;p1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19" name="Google Shape;819;p1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4" name="Google Shape;824;p1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25" name="Google Shape;825;p1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1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831" name="Google Shape;831;p1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p1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37" name="Google Shape;837;p1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2" name="Google Shape;842;p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43" name="Google Shape;843;p1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8" name="Google Shape;848;p1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49" name="Google Shape;849;p1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4" name="Google Shape;854;p1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855" name="Google Shape;855;p1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 name="Google Shape;860;p1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61" name="Google Shape;861;p1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6" name="Google Shape;866;p1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67" name="Google Shape;867;p1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1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73" name="Google Shape;873;p1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0" name="Google Shape;890;p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 name="Google Shape;895;p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1" name="Google Shape;901;p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6" name="Google Shape;906;p1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907" name="Google Shape;907;p1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2" name="Google Shape;912;p1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13" name="Google Shape;913;p1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8" name="Google Shape;918;p1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19" name="Google Shape;919;p1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4" name="Google Shape;924;p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25" name="Google Shape;925;p1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0" name="Google Shape;930;p1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31" name="Google Shape;931;p1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1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 name="Google Shape;936;p1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37" name="Google Shape;937;p1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2" name="Google Shape;942;p1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43" name="Google Shape;943;p1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8" name="Google Shape;948;p1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49" name="Google Shape;949;p1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4" name="Google Shape;954;p1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55" name="Google Shape;955;p1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0" name="Google Shape;960;p1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61" name="Google Shape;961;p1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6" name="Google Shape;966;p1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67" name="Google Shape;967;p1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2" name="Google Shape;972;p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73" name="Google Shape;973;p1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8" name="Google Shape;978;p1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79" name="Google Shape;979;p1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1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p1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5" name="Google Shape;985;p1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3" name="Google Shape;993;p1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4" name="Google Shape;994;p1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0" name="Google Shape;1000;p1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1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1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9" name="Google Shape;1009;p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1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4" name="Google Shape;1014;p1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15" name="Google Shape;1015;p1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0" name="Google Shape;1020;p1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21" name="Google Shape;1021;p1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6" name="Google Shape;1026;p1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27" name="Google Shape;1027;p1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2" name="Google Shape;1032;p1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33" name="Google Shape;1033;p1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8" name="Google Shape;1038;p1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39" name="Google Shape;1039;p1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p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4" name="Google Shape;1044;p1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45" name="Google Shape;1045;p1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0" name="Google Shape;1050;p1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51" name="Google Shape;1051;p1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1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6" name="Google Shape;1056;p1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57" name="Google Shape;1057;p1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2" name="Google Shape;1062;p1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63" name="Google Shape;1063;p1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8" name="Google Shape;1068;p1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69" name="Google Shape;1069;p1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p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4" name="Google Shape;1074;p1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75" name="Google Shape;1075;p1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0" name="Google Shape;1080;p1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081" name="Google Shape;1081;p1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6" name="Google Shape;1086;p1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7" name="Google Shape;1087;p1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1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5" name="Google Shape;1095;p1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1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01" name="Google Shape;1101;p1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6" name="Google Shape;1106;p1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07" name="Google Shape;1107;p1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2" name="Google Shape;1112;p1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13" name="Google Shape;1113;p1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8" name="Google Shape;1118;p1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19" name="Google Shape;1119;p1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1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4" name="Google Shape;1124;p1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25" name="Google Shape;1125;p1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1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0" name="Google Shape;1130;p1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31" name="Google Shape;1131;p18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6" name="Google Shape;1136;p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37" name="Google Shape;1137;p1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1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2" name="Google Shape;1142;p1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43" name="Google Shape;1143;p1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1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8" name="Google Shape;1148;p1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49" name="Google Shape;1149;p1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1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4" name="Google Shape;1154;p1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55" name="Google Shape;1155;p1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0" name="Google Shape;1160;p1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61" name="Google Shape;1161;p1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1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6" name="Google Shape;1166;p1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67" name="Google Shape;1167;p1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p1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2" name="Google Shape;1172;p1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73" name="Google Shape;1173;p1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p1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8" name="Google Shape;1178;p1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79" name="Google Shape;1179;p1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4" name="Google Shape;1184;p1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85" name="Google Shape;1185;p1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1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0" name="Google Shape;1190;p1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91" name="Google Shape;1191;p1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6" name="Google Shape;1196;p1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197" name="Google Shape;1197;p1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p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2" name="Google Shape;1202;p1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03" name="Google Shape;1203;p1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p1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8" name="Google Shape;1208;p1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09" name="Google Shape;1209;p1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p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4" name="Google Shape;1214;p1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15" name="Google Shape;1215;p1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p1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0" name="Google Shape;1220;p1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21" name="Google Shape;1221;p19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p2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6" name="Google Shape;1226;p2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27" name="Google Shape;1227;p2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2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2" name="Google Shape;1232;p2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33" name="Google Shape;1233;p20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p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8" name="Google Shape;1238;p2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39" name="Google Shape;1239;p20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2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4" name="Google Shape;1244;p2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5" name="Google Shape;1245;p20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2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3" name="Google Shape;1253;p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2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8" name="Google Shape;1258;p2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59" name="Google Shape;1259;p20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4" name="Google Shape;1264;p2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65" name="Google Shape;1265;p2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p2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0" name="Google Shape;1270;p2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271" name="Google Shape;1271;p2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2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6" name="Google Shape;1276;p2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7" name="Google Shape;1277;p2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0"/>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0"/>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1"/>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1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2"/>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2"/>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1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3"/>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3"/>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4"/>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14"/>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14"/>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14"/>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1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1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1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7"/>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17"/>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17"/>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1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1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8"/>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18"/>
          <p:cNvSpPr/>
          <p:nvPr>
            <p:ph idx="2" type="pic"/>
          </p:nvPr>
        </p:nvSpPr>
        <p:spPr>
          <a:xfrm>
            <a:off x="1792288" y="459581"/>
            <a:ext cx="5486400" cy="3086100"/>
          </a:xfrm>
          <a:prstGeom prst="rect">
            <a:avLst/>
          </a:prstGeom>
          <a:noFill/>
          <a:ln>
            <a:noFill/>
          </a:ln>
        </p:spPr>
      </p:sp>
      <p:sp>
        <p:nvSpPr>
          <p:cNvPr id="68" name="Google Shape;68;p218"/>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1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1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1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19"/>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1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20"/>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20"/>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2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9"/>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0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0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0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3.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
          <p:cNvSpPr txBox="1"/>
          <p:nvPr/>
        </p:nvSpPr>
        <p:spPr>
          <a:xfrm>
            <a:off x="2286" y="1998709"/>
            <a:ext cx="9141714" cy="1155725"/>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600" u="none" cap="none" strike="noStrike">
                <a:solidFill>
                  <a:srgbClr val="FFFFFF"/>
                </a:solidFill>
                <a:latin typeface="Arial"/>
                <a:ea typeface="Arial"/>
                <a:cs typeface="Arial"/>
                <a:sym typeface="Arial"/>
              </a:rPr>
              <a:t>CANH THỨC VƯỢT QUA</a:t>
            </a:r>
            <a:endParaRPr b="1" i="0" sz="6600" u="none" cap="none" strike="noStrike">
              <a:solidFill>
                <a:srgbClr val="FFFFFF"/>
              </a:solidFill>
              <a:latin typeface="Arial"/>
              <a:ea typeface="Arial"/>
              <a:cs typeface="Arial"/>
              <a:sym typeface="Arial"/>
            </a:endParaRPr>
          </a:p>
        </p:txBody>
      </p:sp>
      <p:sp>
        <p:nvSpPr>
          <p:cNvPr id="90" name="Google Shape;90;p1"/>
          <p:cNvSpPr txBox="1"/>
          <p:nvPr/>
        </p:nvSpPr>
        <p:spPr>
          <a:xfrm>
            <a:off x="2288" y="3066371"/>
            <a:ext cx="9141712" cy="174431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800" u="none" cap="none" strike="noStrike">
                <a:solidFill>
                  <a:srgbClr val="FFFFFF"/>
                </a:solidFill>
                <a:latin typeface="Arial"/>
                <a:ea typeface="Arial"/>
                <a:cs typeface="Arial"/>
                <a:sym typeface="Arial"/>
              </a:rPr>
              <a:t>“Tại sao các bà tìm người sống </a:t>
            </a:r>
            <a:br>
              <a:rPr b="1" i="1" lang="en-US" sz="4800" u="none" cap="none" strike="noStrike">
                <a:solidFill>
                  <a:srgbClr val="FFFFFF"/>
                </a:solidFill>
                <a:latin typeface="Arial"/>
                <a:ea typeface="Arial"/>
                <a:cs typeface="Arial"/>
                <a:sym typeface="Arial"/>
              </a:rPr>
            </a:br>
            <a:r>
              <a:rPr b="1" i="1" lang="en-US" sz="4800" u="none" cap="none" strike="noStrike">
                <a:solidFill>
                  <a:srgbClr val="FFFFFF"/>
                </a:solidFill>
                <a:latin typeface="Arial"/>
                <a:ea typeface="Arial"/>
                <a:cs typeface="Arial"/>
                <a:sym typeface="Arial"/>
              </a:rPr>
              <a:t>nơi những kẻ chết?”</a:t>
            </a:r>
            <a:endParaRPr b="1" i="1" sz="4800" u="none" cap="none" strike="noStrike">
              <a:solidFill>
                <a:srgbClr val="FFFFFF"/>
              </a:solidFill>
              <a:latin typeface="Arial"/>
              <a:ea typeface="Arial"/>
              <a:cs typeface="Arial"/>
              <a:sym typeface="Arial"/>
            </a:endParaRPr>
          </a:p>
        </p:txBody>
      </p:sp>
      <p:sp>
        <p:nvSpPr>
          <p:cNvPr id="91" name="Google Shape;91;p1"/>
          <p:cNvSpPr txBox="1"/>
          <p:nvPr/>
        </p:nvSpPr>
        <p:spPr>
          <a:xfrm>
            <a:off x="2712986" y="4428329"/>
            <a:ext cx="3715738"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0" lang="en-US" sz="1400" u="none" cap="none" strike="noStrike">
                <a:solidFill>
                  <a:schemeClr val="lt1"/>
                </a:solidFill>
                <a:latin typeface="Arial"/>
                <a:ea typeface="Arial"/>
                <a:cs typeface="Arial"/>
                <a:sym typeface="Arial"/>
              </a:rPr>
              <a:t>(Lc 24, 1-12)</a:t>
            </a:r>
            <a:endParaRPr/>
          </a:p>
        </p:txBody>
      </p:sp>
      <p:sp>
        <p:nvSpPr>
          <p:cNvPr id="92" name="Google Shape;92;p1"/>
          <p:cNvSpPr txBox="1"/>
          <p:nvPr/>
        </p:nvSpPr>
        <p:spPr>
          <a:xfrm>
            <a:off x="-2" y="0"/>
            <a:ext cx="9141714" cy="1047749"/>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000" u="none" cap="none" strike="noStrike">
                <a:solidFill>
                  <a:srgbClr val="FF0000"/>
                </a:solidFill>
                <a:latin typeface="Arial"/>
                <a:ea typeface="Arial"/>
                <a:cs typeface="Arial"/>
                <a:sym typeface="Arial"/>
              </a:rPr>
              <a:t>THỨ BẢY TUẦN THÁNH</a:t>
            </a:r>
            <a:endParaRPr/>
          </a:p>
        </p:txBody>
      </p:sp>
    </p:spTree>
  </p:cSld>
  <p:clrMapOvr>
    <a:masterClrMapping/>
  </p:clrMapOvr>
  <p:transition spd="slow" p14:dur="800">
    <p:circl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4000"/>
              <a:buNone/>
            </a:pPr>
            <a:r>
              <a:rPr b="1" lang="en-US" sz="4000">
                <a:solidFill>
                  <a:srgbClr val="FF0000"/>
                </a:solidFill>
                <a:latin typeface="Times New Roman"/>
                <a:ea typeface="Times New Roman"/>
                <a:cs typeface="Times New Roman"/>
                <a:sym typeface="Times New Roman"/>
              </a:rPr>
              <a:t>KINH CHÚA THÁNH THẦN</a:t>
            </a:r>
            <a:endParaRPr b="1" sz="4000">
              <a:solidFill>
                <a:srgbClr val="FF0000"/>
              </a:solidFill>
              <a:latin typeface="Times New Roman"/>
              <a:ea typeface="Times New Roman"/>
              <a:cs typeface="Times New Roman"/>
              <a:sym typeface="Times New Roman"/>
            </a:endParaRPr>
          </a:p>
          <a:p>
            <a:pPr indent="0" lvl="0" marL="0" rtl="0" algn="just">
              <a:spcBef>
                <a:spcPts val="60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lạy ơn Đức Chúa Thánh Thần, thiêng liêng sáng láng vô cùng, </a:t>
            </a:r>
            <a:endParaRPr sz="72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182875">
            <a:normAutofit lnSpcReduction="10000"/>
          </a:bodyPr>
          <a:lstStyle/>
          <a:p>
            <a:pPr indent="0" lvl="0" marL="0" rtl="0" algn="just">
              <a:spcBef>
                <a:spcPts val="0"/>
              </a:spcBef>
              <a:spcAft>
                <a:spcPts val="0"/>
              </a:spcAft>
              <a:buClr>
                <a:schemeClr val="dk1"/>
              </a:buClr>
              <a:buSzPts val="8800"/>
              <a:buNone/>
            </a:pPr>
            <a:r>
              <a:rPr b="1" lang="en-US" sz="8800">
                <a:solidFill>
                  <a:schemeClr val="dk1"/>
                </a:solidFill>
                <a:latin typeface="Times New Roman"/>
                <a:ea typeface="Times New Roman"/>
                <a:cs typeface="Times New Roman"/>
                <a:sym typeface="Times New Roman"/>
              </a:rPr>
              <a:t>Và đốt lửa kính mến Đức Chúa Trời trong lòng chúng con;</a:t>
            </a:r>
            <a:endParaRPr sz="8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8400"/>
              <a:buNone/>
            </a:pPr>
            <a:r>
              <a:rPr b="1" lang="en-US" sz="8400">
                <a:solidFill>
                  <a:schemeClr val="dk1"/>
                </a:solidFill>
                <a:latin typeface="Times New Roman"/>
                <a:ea typeface="Times New Roman"/>
                <a:cs typeface="Times New Roman"/>
                <a:sym typeface="Times New Roman"/>
              </a:rPr>
              <a:t>chúng con xin Đức Chúa Trời cho Đức Chúa Thánh Thần xuống.</a:t>
            </a:r>
            <a:endParaRPr sz="84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Sửa lại mọi sự trong ngoài chúng con. Chúng con cầu cùng Đức Chúa Trời,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xưa đã cho Đức Chúa Thánh Thần xuống soi lòng dạy dỗ các Thánh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Tông Đồ thì rày chúng con cũng xin Đức Chúa Trời cho Đức Chúa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Thánh Thần lại xuống an ủi dạy dỗ chúng con làm những việc lành,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25000" lnSpcReduction="20000"/>
          </a:bodyPr>
          <a:lstStyle/>
          <a:p>
            <a:pPr indent="0" lvl="0" marL="0" rtl="0" algn="ctr">
              <a:spcBef>
                <a:spcPts val="0"/>
              </a:spcBef>
              <a:spcAft>
                <a:spcPts val="0"/>
              </a:spcAft>
              <a:buClr>
                <a:srgbClr val="FF0000"/>
              </a:buClr>
              <a:buSzPct val="100000"/>
              <a:buNone/>
            </a:pPr>
            <a:r>
              <a:rPr b="1" lang="en-US" sz="17600">
                <a:solidFill>
                  <a:srgbClr val="FF0000"/>
                </a:solidFill>
                <a:latin typeface="Times New Roman"/>
                <a:ea typeface="Times New Roman"/>
                <a:cs typeface="Times New Roman"/>
                <a:sym typeface="Times New Roman"/>
              </a:rPr>
              <a:t>KINH TRUYỀN TIN</a:t>
            </a:r>
            <a:endParaRPr/>
          </a:p>
          <a:p>
            <a:pPr indent="0" lvl="0" marL="0" rtl="0" algn="ctr">
              <a:spcBef>
                <a:spcPts val="1440"/>
              </a:spcBef>
              <a:spcAft>
                <a:spcPts val="0"/>
              </a:spcAft>
              <a:buClr>
                <a:schemeClr val="accent1"/>
              </a:buClr>
              <a:buSzPct val="100000"/>
              <a:buNone/>
            </a:pPr>
            <a:r>
              <a:rPr b="1" i="1" lang="en-US" sz="19200" u="sng">
                <a:solidFill>
                  <a:schemeClr val="accent1"/>
                </a:solidFill>
                <a:latin typeface="Times New Roman"/>
                <a:ea typeface="Times New Roman"/>
                <a:cs typeface="Times New Roman"/>
                <a:sym typeface="Times New Roman"/>
              </a:rPr>
              <a:t>Xướng:</a:t>
            </a:r>
            <a:r>
              <a:rPr b="1" lang="en-US" sz="26400">
                <a:solidFill>
                  <a:schemeClr val="accent1"/>
                </a:solidFill>
                <a:latin typeface="Times New Roman"/>
                <a:ea typeface="Times New Roman"/>
                <a:cs typeface="Times New Roman"/>
                <a:sym typeface="Times New Roman"/>
              </a:rPr>
              <a:t> </a:t>
            </a:r>
            <a:r>
              <a:rPr b="1" lang="en-US" sz="28800">
                <a:solidFill>
                  <a:schemeClr val="dk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 </a:t>
            </a:r>
            <a:r>
              <a:rPr b="1" lang="en-US" sz="6600">
                <a:solidFill>
                  <a:schemeClr val="dk1"/>
                </a:solidFill>
                <a:latin typeface="Times New Roman"/>
                <a:ea typeface="Times New Roman"/>
                <a:cs typeface="Times New Roman"/>
                <a:sym typeface="Times New Roman"/>
              </a:rPr>
              <a:t>Và Rất Thánh Đức Bà chịu thai bởi phép Đức Chúa Thánh Thần.</a:t>
            </a:r>
            <a:endParaRPr/>
          </a:p>
          <a:p>
            <a:pPr indent="0" lvl="0" marL="0" rtl="0" algn="ctr">
              <a:spcBef>
                <a:spcPts val="1200"/>
              </a:spcBef>
              <a:spcAft>
                <a:spcPts val="0"/>
              </a:spcAft>
              <a:buClr>
                <a:schemeClr val="accent1"/>
              </a:buClr>
              <a:buSzPts val="6000"/>
              <a:buNone/>
            </a:pPr>
            <a:r>
              <a:rPr b="1" i="1" lang="en-US" sz="6000">
                <a:solidFill>
                  <a:schemeClr val="accent1"/>
                </a:solidFill>
                <a:latin typeface="Times New Roman"/>
                <a:ea typeface="Times New Roman"/>
                <a:cs typeface="Times New Roman"/>
                <a:sym typeface="Times New Roman"/>
              </a:rPr>
              <a:t>Kính mừng….. </a:t>
            </a:r>
            <a:br>
              <a:rPr b="1" i="1" lang="en-US" sz="6000">
                <a:solidFill>
                  <a:schemeClr val="accent1"/>
                </a:solidFill>
                <a:latin typeface="Times New Roman"/>
                <a:ea typeface="Times New Roman"/>
                <a:cs typeface="Times New Roman"/>
                <a:sym typeface="Times New Roman"/>
              </a:rPr>
            </a:br>
            <a:r>
              <a:rPr b="1" i="1" lang="en-US" sz="60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 </a:t>
            </a:r>
            <a:r>
              <a:rPr b="1" lang="en-US" sz="8000">
                <a:solidFill>
                  <a:schemeClr val="dk1"/>
                </a:solidFill>
                <a:latin typeface="Times New Roman"/>
                <a:ea typeface="Times New Roman"/>
                <a:cs typeface="Times New Roman"/>
                <a:sym typeface="Times New Roman"/>
              </a:rPr>
              <a:t>Này tôi là tôi tá Đức Chúa Trời.</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 </a:t>
            </a:r>
            <a:r>
              <a:rPr b="1" lang="en-US" sz="7500">
                <a:solidFill>
                  <a:schemeClr val="dk1"/>
                </a:solidFill>
                <a:latin typeface="Times New Roman"/>
                <a:ea typeface="Times New Roman"/>
                <a:cs typeface="Times New Roman"/>
                <a:sym typeface="Times New Roman"/>
              </a:rPr>
              <a:t>Tôi xin vâng như lời Thánh Thiên Thần truyền.</a:t>
            </a:r>
            <a:endParaRPr/>
          </a:p>
          <a:p>
            <a:pPr indent="0" lvl="0" marL="0" rtl="0" algn="ctr">
              <a:spcBef>
                <a:spcPts val="1200"/>
              </a:spcBef>
              <a:spcAft>
                <a:spcPts val="0"/>
              </a:spcAft>
              <a:buClr>
                <a:schemeClr val="accent1"/>
              </a:buClr>
              <a:buSzPts val="4800"/>
              <a:buNone/>
            </a:pPr>
            <a:r>
              <a:rPr b="1" i="1" lang="en-US" sz="4800">
                <a:solidFill>
                  <a:schemeClr val="accent1"/>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r>
              <a:rPr b="1" i="1" lang="en-US" sz="48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Chốc ấy Ngôi Thứ Hai xuống thế làm người.</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u="sng">
                <a:solidFill>
                  <a:schemeClr val="accent1"/>
                </a:solidFill>
                <a:latin typeface="Times New Roman"/>
                <a:ea typeface="Times New Roman"/>
                <a:cs typeface="Times New Roman"/>
                <a:sym typeface="Times New Roman"/>
              </a:rPr>
              <a:t>Đáp: </a:t>
            </a:r>
            <a:r>
              <a:rPr b="1" lang="en-US" sz="8000">
                <a:solidFill>
                  <a:schemeClr val="dk1"/>
                </a:solidFill>
                <a:latin typeface="Times New Roman"/>
                <a:ea typeface="Times New Roman"/>
                <a:cs typeface="Times New Roman"/>
                <a:sym typeface="Times New Roman"/>
              </a:rPr>
              <a:t>Và ở cùng </a:t>
            </a:r>
            <a:br>
              <a:rPr b="1" lang="en-US" sz="8000">
                <a:solidFill>
                  <a:schemeClr val="dk1"/>
                </a:solidFill>
                <a:latin typeface="Times New Roman"/>
                <a:ea typeface="Times New Roman"/>
                <a:cs typeface="Times New Roman"/>
                <a:sym typeface="Times New Roman"/>
              </a:rPr>
            </a:br>
            <a:r>
              <a:rPr b="1" lang="en-US" sz="8000">
                <a:solidFill>
                  <a:schemeClr val="dk1"/>
                </a:solidFill>
                <a:latin typeface="Times New Roman"/>
                <a:ea typeface="Times New Roman"/>
                <a:cs typeface="Times New Roman"/>
                <a:sym typeface="Times New Roman"/>
              </a:rPr>
              <a:t>chúng con.</a:t>
            </a:r>
            <a:endParaRPr b="1" sz="66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5400"/>
              <a:buNone/>
            </a:pPr>
            <a:r>
              <a:rPr b="1" i="1" lang="en-US" sz="5400">
                <a:solidFill>
                  <a:schemeClr val="accent1"/>
                </a:solidFill>
                <a:latin typeface="Times New Roman"/>
                <a:ea typeface="Times New Roman"/>
                <a:cs typeface="Times New Roman"/>
                <a:sym typeface="Times New Roman"/>
              </a:rPr>
              <a:t>Kính mừng….. </a:t>
            </a:r>
            <a:br>
              <a:rPr b="1" i="1" lang="en-US" sz="5400">
                <a:solidFill>
                  <a:schemeClr val="accent1"/>
                </a:solidFill>
                <a:latin typeface="Times New Roman"/>
                <a:ea typeface="Times New Roman"/>
                <a:cs typeface="Times New Roman"/>
                <a:sym typeface="Times New Roman"/>
              </a:rPr>
            </a:br>
            <a:r>
              <a:rPr b="1" i="1" lang="en-US" sz="54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a:t>
            </a:r>
            <a:r>
              <a:rPr b="1" lang="en-US" sz="7200">
                <a:solidFill>
                  <a:schemeClr val="dk1"/>
                </a:solidFill>
                <a:latin typeface="Times New Roman"/>
                <a:ea typeface="Times New Roman"/>
                <a:cs typeface="Times New Roman"/>
                <a:sym typeface="Times New Roman"/>
              </a:rPr>
              <a:t> Lạy Rất Thánh Đức Mẹ Chúa Trời, xin cầu cho chúng con.</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a:t>
            </a:r>
            <a:r>
              <a:rPr b="1" i="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Đáng chịu lấy những sự Chúa Kitô đã hứa.</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85000" lnSpcReduction="10000"/>
          </a:bodyPr>
          <a:lstStyle/>
          <a:p>
            <a:pPr indent="0" lvl="0" marL="0" rtl="0" algn="ctr">
              <a:spcBef>
                <a:spcPts val="0"/>
              </a:spcBef>
              <a:spcAft>
                <a:spcPts val="0"/>
              </a:spcAft>
              <a:buClr>
                <a:srgbClr val="FF0000"/>
              </a:buClr>
              <a:buSzPct val="100000"/>
              <a:buNone/>
            </a:pPr>
            <a:r>
              <a:rPr b="1" lang="en-US" sz="4800">
                <a:solidFill>
                  <a:srgbClr val="FF0000"/>
                </a:solidFill>
                <a:latin typeface="Times New Roman"/>
                <a:ea typeface="Times New Roman"/>
                <a:cs typeface="Times New Roman"/>
                <a:sym typeface="Times New Roman"/>
              </a:rPr>
              <a:t>LỜI NGUYỆN:</a:t>
            </a:r>
            <a:r>
              <a:rPr b="1" lang="en-US" sz="4950">
                <a:solidFill>
                  <a:srgbClr val="FF0000"/>
                </a:solidFill>
                <a:latin typeface="Times New Roman"/>
                <a:ea typeface="Times New Roman"/>
                <a:cs typeface="Times New Roman"/>
                <a:sym typeface="Times New Roman"/>
              </a:rPr>
              <a:t> </a:t>
            </a:r>
            <a:endParaRPr/>
          </a:p>
          <a:p>
            <a:pPr indent="0" lvl="0" marL="0" rtl="0" algn="just">
              <a:spcBef>
                <a:spcPts val="1462"/>
              </a:spcBef>
              <a:spcAft>
                <a:spcPts val="0"/>
              </a:spcAft>
              <a:buClr>
                <a:schemeClr val="dk1"/>
              </a:buClr>
              <a:buSzPct val="100000"/>
              <a:buNone/>
            </a:pPr>
            <a:r>
              <a:rPr b="1" lang="en-US" sz="8600">
                <a:solidFill>
                  <a:schemeClr val="dk1"/>
                </a:solidFill>
                <a:latin typeface="Times New Roman"/>
                <a:ea typeface="Times New Roman"/>
                <a:cs typeface="Times New Roman"/>
                <a:sym typeface="Times New Roman"/>
              </a:rPr>
              <a:t>Lạy Chúa, chúng con xin Chúa ban ơn Chúa xuống trong linh hồn chúng con</a:t>
            </a:r>
            <a:endParaRPr b="1" sz="86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là kẻ đã nhờ lời Thánh Thiên Thần truyền, mà biết thật Chúa Kitô là</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Con Chúa đã xuống thế làm Người, thì xin vì công ơn Con Chúa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chịu nạn chịu chết trên cây Thánh Giá, cho chúng con ngày sau khi sống lại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1800"/>
              <a:buNone/>
            </a:pPr>
            <a:r>
              <a:t/>
            </a:r>
            <a:endParaRPr b="1"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đặng đến nơi vinh hiển, cũng vì công nghiệp Chúa Kitô Chúa chúng con. </a:t>
            </a:r>
            <a:r>
              <a:rPr b="1" lang="en-US" sz="7000">
                <a:solidFill>
                  <a:srgbClr val="FF0000"/>
                </a:solidFill>
                <a:latin typeface="Times New Roman"/>
                <a:ea typeface="Times New Roman"/>
                <a:cs typeface="Times New Roman"/>
                <a:sym typeface="Times New Roman"/>
              </a:rPr>
              <a:t>Amen</a:t>
            </a:r>
            <a:r>
              <a:rPr b="1" lang="en-US" sz="7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TIN</a:t>
            </a:r>
            <a:endParaRPr b="1" sz="4950">
              <a:solidFill>
                <a:schemeClr val="dk1"/>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tin thật có một Đức Chúa Trời là Đấng thưởng phạt vô cùng.</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Con lại tin thật Đức Chúa Trời có Ba Ngôi, mà Ngôi Thứ Hai đã xuống thế</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làm Người, chịu nạn chịu chết mà chuộc tội cho thiên hạ</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600"/>
              <a:buNone/>
            </a:pPr>
            <a:r>
              <a:rPr b="1" lang="en-US" sz="9600">
                <a:solidFill>
                  <a:schemeClr val="dk1"/>
                </a:solidFill>
                <a:latin typeface="Times New Roman"/>
                <a:ea typeface="Times New Roman"/>
                <a:cs typeface="Times New Roman"/>
                <a:sym typeface="Times New Roman"/>
              </a:rPr>
              <a:t>Bấy nhiêu điều ấy cùng các điều Hội Thánh dạy</a:t>
            </a:r>
            <a:endParaRPr b="1" sz="96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thì con tin vững vàng, vì Chúa là</a:t>
            </a:r>
            <a:br>
              <a:rPr b="1" lang="en-US" sz="9000">
                <a:solidFill>
                  <a:schemeClr val="dk1"/>
                </a:solidFill>
                <a:latin typeface="Times New Roman"/>
                <a:ea typeface="Times New Roman"/>
                <a:cs typeface="Times New Roman"/>
                <a:sym typeface="Times New Roman"/>
              </a:rPr>
            </a:br>
            <a:r>
              <a:rPr b="1" lang="en-US" sz="9000">
                <a:solidFill>
                  <a:schemeClr val="dk1"/>
                </a:solidFill>
                <a:latin typeface="Times New Roman"/>
                <a:ea typeface="Times New Roman"/>
                <a:cs typeface="Times New Roman"/>
                <a:sym typeface="Times New Roman"/>
              </a:rPr>
              <a:t>Đấng thông minh</a:t>
            </a:r>
            <a:endParaRPr b="1" sz="90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chân thật vô cùng</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đã</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phán truyền cho</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Hội</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Thánh.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CẬY</a:t>
            </a:r>
            <a:endParaRPr b="1" sz="4400">
              <a:solidFill>
                <a:srgbClr val="FF0000"/>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trông cậy vững vàng, vì công nghiệp Đức Chúa Giêsu</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thì Chúa sẽ ban ơn cho con giữ đạo nên ở đời này,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cho ngày sau được lên thiên đàng xem thấy mặt Đức Chúa Trời hưởng phúc đời đời,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vì Chúa là Đấng phép tắt và lòng lành vô cùng đã phán hứa sự ấy chẳng có lẽ nào sai được.  </a:t>
            </a:r>
            <a:r>
              <a:rPr b="1" lang="en-US" sz="6800">
                <a:solidFill>
                  <a:srgbClr val="FF0000"/>
                </a:solidFill>
                <a:latin typeface="Times New Roman"/>
                <a:ea typeface="Times New Roman"/>
                <a:cs typeface="Times New Roman"/>
                <a:sym typeface="Times New Roman"/>
              </a:rPr>
              <a:t>Amen</a:t>
            </a:r>
            <a:r>
              <a:rPr b="1" lang="en-US" sz="6800">
                <a:solidFill>
                  <a:schemeClr val="dk1"/>
                </a:solidFill>
                <a:latin typeface="Times New Roman"/>
                <a:ea typeface="Times New Roman"/>
                <a:cs typeface="Times New Roman"/>
                <a:sym typeface="Times New Roman"/>
              </a:rPr>
              <a:t>.</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37150">
            <a:normAutofit fontScale="85000" lnSpcReduction="2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MẾN</a:t>
            </a:r>
            <a:endParaRPr b="1" sz="4400">
              <a:solidFill>
                <a:srgbClr val="FF0000"/>
              </a:solidFill>
              <a:latin typeface="Times New Roman"/>
              <a:ea typeface="Times New Roman"/>
              <a:cs typeface="Times New Roman"/>
              <a:sym typeface="Times New Roman"/>
            </a:endParaRPr>
          </a:p>
          <a:p>
            <a:pPr indent="0" lvl="0" marL="0" rtl="0" algn="just">
              <a:spcBef>
                <a:spcPts val="1615"/>
              </a:spcBef>
              <a:spcAft>
                <a:spcPts val="0"/>
              </a:spcAft>
              <a:buClr>
                <a:schemeClr val="dk1"/>
              </a:buClr>
              <a:buSzPct val="100000"/>
              <a:buNone/>
            </a:pPr>
            <a:r>
              <a:rPr b="1" lang="en-US" sz="9500">
                <a:solidFill>
                  <a:schemeClr val="dk1"/>
                </a:solidFill>
                <a:latin typeface="Times New Roman"/>
                <a:ea typeface="Times New Roman"/>
                <a:cs typeface="Times New Roman"/>
                <a:sym typeface="Times New Roman"/>
              </a:rPr>
              <a:t>Lạy Chúa, con kính mến Chúa hết lòng hết sức trên hết mọi sự,</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lại vì Chúa, thì con thương yêu người ta như mình con vậy.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ctr">
              <a:spcBef>
                <a:spcPts val="0"/>
              </a:spcBef>
              <a:spcAft>
                <a:spcPts val="0"/>
              </a:spcAft>
              <a:buClr>
                <a:srgbClr val="FF0000"/>
              </a:buClr>
              <a:buSzPts val="4400"/>
              <a:buNone/>
            </a:pPr>
            <a:r>
              <a:rPr b="1" lang="en-US" sz="4400">
                <a:solidFill>
                  <a:srgbClr val="FF0000"/>
                </a:solidFill>
                <a:latin typeface="Times New Roman"/>
                <a:ea typeface="Times New Roman"/>
                <a:cs typeface="Times New Roman"/>
                <a:sym typeface="Times New Roman"/>
              </a:rPr>
              <a:t>KINH SẤP MÌNH</a:t>
            </a:r>
            <a:endParaRPr b="1" sz="4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Chúa, con sấp mình xuống trước mặt Chúa. Con tin thật Chúa ở khắp mọi nơi,</a:t>
            </a:r>
            <a:endParaRPr b="1" sz="88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Xin Chúa rất nhân từ  hãy đoái xem sự nghèo ngặt con và nhận lời con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Chúa chúng con! Vì dấu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Thánh giá, xin chữa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chúng con, cho khỏi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kẻ thù.</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Nhân danh Cha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Con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và Thánh Thần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LẠY NỮ VƯƠNG</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Nữ Vương, Mẹ nhân lành làm cho chúng con đặng sống, đặng vui, đặng cậy.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xin ghé mắt thương xem chúng con đến sau khỏi đày, xin cho chúng con được thấy</a:t>
            </a:r>
            <a:endParaRPr b="1" sz="7500">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Đức Chúa Giêsu con lòng Bà gồm phúc lạ. Ôi khoan thay, nhân thay, diệu thay,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6000"/>
              <a:buNone/>
            </a:pPr>
            <a:r>
              <a:t/>
            </a:r>
            <a:endParaRPr b="1" sz="6000">
              <a:solidFill>
                <a:schemeClr val="dk1"/>
              </a:solidFill>
              <a:latin typeface="Times New Roman"/>
              <a:ea typeface="Times New Roman"/>
              <a:cs typeface="Times New Roman"/>
              <a:sym typeface="Times New Roman"/>
            </a:endParaRPr>
          </a:p>
          <a:p>
            <a:pPr indent="0" lvl="0" marL="0" rtl="0" algn="ctr">
              <a:spcBef>
                <a:spcPts val="150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Thánh Maria trọn đời đồng trinh. </a:t>
            </a:r>
            <a:r>
              <a:rPr b="1" lang="en-US" sz="7500">
                <a:solidFill>
                  <a:srgbClr val="FF0000"/>
                </a:solidFill>
                <a:latin typeface="Times New Roman"/>
                <a:ea typeface="Times New Roman"/>
                <a:cs typeface="Times New Roman"/>
                <a:sym typeface="Times New Roman"/>
              </a:rPr>
              <a:t>Amen</a:t>
            </a:r>
            <a:r>
              <a:rPr b="1" lang="en-US" sz="75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500">
                <a:solidFill>
                  <a:srgbClr val="FF0000"/>
                </a:solidFill>
                <a:latin typeface="Times New Roman"/>
                <a:ea typeface="Times New Roman"/>
                <a:cs typeface="Times New Roman"/>
                <a:sym typeface="Times New Roman"/>
              </a:rPr>
              <a:t>KINH NĂM THÁNH 2025</a:t>
            </a:r>
            <a:endParaRPr b="1" sz="1650">
              <a:solidFill>
                <a:srgbClr val="FFC000"/>
              </a:solidFill>
              <a:latin typeface="Times New Roman"/>
              <a:ea typeface="Times New Roman"/>
              <a:cs typeface="Times New Roman"/>
              <a:sym typeface="Times New Roman"/>
            </a:endParaRPr>
          </a:p>
          <a:p>
            <a:pPr indent="0" lvl="0" marL="0" rtl="0" algn="l">
              <a:spcBef>
                <a:spcPts val="1406"/>
              </a:spcBef>
              <a:spcAft>
                <a:spcPts val="0"/>
              </a:spcAft>
              <a:buClr>
                <a:schemeClr val="dk1"/>
              </a:buClr>
              <a:buSzPct val="100000"/>
              <a:buNone/>
            </a:pPr>
            <a:r>
              <a:rPr b="1" lang="en-US" sz="7600">
                <a:solidFill>
                  <a:schemeClr val="dk1"/>
                </a:solidFill>
                <a:latin typeface="Times New Roman"/>
                <a:ea typeface="Times New Roman"/>
                <a:cs typeface="Times New Roman"/>
                <a:sym typeface="Times New Roman"/>
              </a:rPr>
              <a:t>Lạy Cha trên trời, Xin cho ơn đức tin mà Cha ban tặng chúng con/ trong Chúa Giêsu Kitô,</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Con Cha và Anh của chúng con, cùng ngọn lửa đức ái được thắp lên trong tâm hồn chúng con/</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bởi Chúa Thánh Thần, khơi dậy trong chúng con/ niềm hy vọng hồng phúc hướng về Nước Cha trị đến.</a:t>
            </a:r>
            <a:endParaRPr b="1" sz="70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Xin ân sủng Cha biến đổi chúng con/ thành những người miệt mài vun trồng hạt giống Tin Mừng.</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Ước gì những hạt giống ấy/ biến đổi từ bên trong nhân loại và</a:t>
            </a:r>
            <a:r>
              <a:rPr b="1" lang="en-US" sz="6000">
                <a:solidFill>
                  <a:schemeClr val="dk1"/>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toàn</a:t>
            </a:r>
            <a:r>
              <a:rPr b="1" lang="en-US" sz="6000">
                <a:solidFill>
                  <a:schemeClr val="dk1"/>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thể</a:t>
            </a:r>
            <a:r>
              <a:rPr b="1" lang="en-US" sz="6600">
                <a:solidFill>
                  <a:schemeClr val="dk1"/>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vũ</a:t>
            </a:r>
            <a:r>
              <a:rPr b="1" lang="en-US" sz="6600">
                <a:solidFill>
                  <a:schemeClr val="dk1"/>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trụ này,</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trong khi vững lòng mong đợi trời mới đất mới, lúc mà quyền lực Sự Dữ sẽ bị đánh bại,</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vinh quang Cha sẽ chiếu sáng muôn đời. Xin cho ân sủng của Năm Thánh này/ khơi dậy trong chúng con,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là </a:t>
            </a:r>
            <a:r>
              <a:rPr b="1" lang="en-US" sz="7500">
                <a:solidFill>
                  <a:srgbClr val="FF0000"/>
                </a:solidFill>
                <a:latin typeface="Times New Roman"/>
                <a:ea typeface="Times New Roman"/>
                <a:cs typeface="Times New Roman"/>
                <a:sym typeface="Times New Roman"/>
              </a:rPr>
              <a:t>Những Người Lữ Hành Hy Vọng</a:t>
            </a:r>
            <a:r>
              <a:rPr b="1" lang="en-US" sz="7500">
                <a:solidFill>
                  <a:schemeClr val="dk1"/>
                </a:solidFill>
                <a:latin typeface="Times New Roman"/>
                <a:ea typeface="Times New Roman"/>
                <a:cs typeface="Times New Roman"/>
                <a:sym typeface="Times New Roman"/>
              </a:rPr>
              <a:t>, niềm khao khát kho tàng ở trên trời.</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Đồng thời cũng làm lan tỏa trên khắp thế giới/ niềm vui và sự bình an của Đấng Cứu Chuộc chúng con.</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Xin tôn vinh và ngợi khen Cha là Thiên Chúa chúng con, Cha đáng chúc tụng mãi muôn đời. </a:t>
            </a:r>
            <a:r>
              <a:rPr b="1" lang="en-US" sz="6600">
                <a:solidFill>
                  <a:srgbClr val="FF0000"/>
                </a:solidFill>
                <a:latin typeface="Times New Roman"/>
                <a:ea typeface="Times New Roman"/>
                <a:cs typeface="Times New Roman"/>
                <a:sym typeface="Times New Roman"/>
              </a:rPr>
              <a:t>Amen</a:t>
            </a:r>
            <a:r>
              <a:rPr b="1" i="1" lang="en-US" sz="6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1" name="Shape 381"/>
        <p:cNvGrpSpPr/>
        <p:nvPr/>
      </p:nvGrpSpPr>
      <p:grpSpPr>
        <a:xfrm>
          <a:off x="0" y="0"/>
          <a:ext cx="0" cy="0"/>
          <a:chOff x="0" y="0"/>
          <a:chExt cx="0" cy="0"/>
        </a:xfrm>
      </p:grpSpPr>
      <p:sp>
        <p:nvSpPr>
          <p:cNvPr id="382" name="Google Shape;382;p59"/>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0"/>
          <p:cNvSpPr txBox="1"/>
          <p:nvPr>
            <p:ph type="ctrTitle"/>
          </p:nvPr>
        </p:nvSpPr>
        <p:spPr>
          <a:xfrm>
            <a:off x="609600" y="756744"/>
            <a:ext cx="7848600" cy="2881806"/>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THÁNH VỊNH 32</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1. Vì Lời Chúa đó là Lời luôn chân chính. Ca tụng Ngài là việc của kẻ lòng ngay.</a:t>
            </a:r>
            <a:endParaRPr b="1" sz="7500">
              <a:latin typeface="Times"/>
              <a:ea typeface="Times"/>
              <a:cs typeface="Times"/>
              <a:sym typeface="Time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Ngợi khen Chúa với cung đàn luôn réo rắt. Hãy ca mừng Ngài trong ngàn vạn tiếng cầm ca.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ĐK: Tình thương của Chúa chan chứa mãi luôn bền lâu, tràn ngập khắp cả địa cầu.</a:t>
            </a:r>
            <a:endParaRPr b="1" sz="7500">
              <a:latin typeface="Times"/>
              <a:ea typeface="Times"/>
              <a:cs typeface="Times"/>
              <a:sym typeface="Time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2. Lời của Chúa khiến khung trời xanh đã có. Hơi thở Ngài tạo thành tinh tú biển khơi.</a:t>
            </a:r>
            <a:endParaRPr b="1" sz="7000">
              <a:latin typeface="Times"/>
              <a:ea typeface="Times"/>
              <a:cs typeface="Times"/>
              <a:sym typeface="Time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Ngài thu nước chứa trong đại dương mênh mông. Sóng xô chập chùng mịt mùng tay Chúa làm nên.</a:t>
            </a:r>
            <a:endParaRPr b="1" sz="7200">
              <a:latin typeface="Times"/>
              <a:ea typeface="Times"/>
              <a:cs typeface="Times"/>
              <a:sym typeface="Time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ĐK: Tình thương của Chúa chan chứa mãi luôn bền lâu, tràn ngập khắp cả địa cầu.</a:t>
            </a:r>
            <a:endParaRPr b="1" sz="7500">
              <a:latin typeface="Times"/>
              <a:ea typeface="Times"/>
              <a:cs typeface="Times"/>
              <a:sym typeface="Time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000"/>
              <a:buFont typeface="Times"/>
              <a:buNone/>
            </a:pPr>
            <a:r>
              <a:rPr b="1" lang="en-US" sz="7000">
                <a:latin typeface="Times"/>
                <a:ea typeface="Times"/>
                <a:cs typeface="Times"/>
                <a:sym typeface="Times"/>
              </a:rPr>
              <a:t>3. Này hồn con vẫn luôn chờ mong nơi Chúa. Bởi Chúa hằng phù trợ che chở đời con.</a:t>
            </a:r>
            <a:endParaRPr b="1" sz="7000">
              <a:latin typeface="Times"/>
              <a:ea typeface="Times"/>
              <a:cs typeface="Times"/>
              <a:sym typeface="Time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Hồng ân Chúa cúi xin Ngài thương ban xuống, xuống trên những người vẫn hằng kiên vững cậy tin.</a:t>
            </a:r>
            <a:endParaRPr b="1" sz="7200">
              <a:latin typeface="Times"/>
              <a:ea typeface="Times"/>
              <a:cs typeface="Times"/>
              <a:sym typeface="Time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ĐK: Tình thương của Chúa chan chứa mãi luôn bền lâu, tràn ngập khắp cả địa cầu.</a:t>
            </a:r>
            <a:endParaRPr b="1" sz="7500">
              <a:latin typeface="Times"/>
              <a:ea typeface="Times"/>
              <a:cs typeface="Times"/>
              <a:sym typeface="Time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45" name="Shape 445"/>
        <p:cNvGrpSpPr/>
        <p:nvPr/>
      </p:nvGrpSpPr>
      <p:grpSpPr>
        <a:xfrm>
          <a:off x="0" y="0"/>
          <a:ext cx="0" cy="0"/>
          <a:chOff x="0" y="0"/>
          <a:chExt cx="0" cy="0"/>
        </a:xfrm>
      </p:grpSpPr>
      <p:sp>
        <p:nvSpPr>
          <p:cNvPr id="446" name="Google Shape;446;p7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447" name="Google Shape;447;p70"/>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1"/>
          <p:cNvSpPr txBox="1"/>
          <p:nvPr>
            <p:ph type="ctrTitle"/>
          </p:nvPr>
        </p:nvSpPr>
        <p:spPr>
          <a:xfrm>
            <a:off x="609600" y="756744"/>
            <a:ext cx="7848600" cy="2881806"/>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VANG LÊN</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Hoàng Kim)</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ÐK. Vang lên muôn lời ca, ta ca ngợi Chúa, vì uy danh Người cao cả.</a:t>
            </a:r>
            <a:endParaRPr b="1" sz="8000">
              <a:latin typeface="Times"/>
              <a:ea typeface="Times"/>
              <a:cs typeface="Times"/>
              <a:sym typeface="Time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Chiến mã với kỵ binh, Ngài đã quăng chìm đáy biển (ư).</a:t>
            </a:r>
            <a:endParaRPr b="1" sz="8000">
              <a:latin typeface="Times"/>
              <a:ea typeface="Times"/>
              <a:cs typeface="Times"/>
              <a:sym typeface="Times"/>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1. Ấy sức mạnh con, lời ca nơi miệng con là Chúa, nguồn cứu thoát của con.</a:t>
            </a:r>
            <a:endParaRPr b="1" sz="8000">
              <a:latin typeface="Times"/>
              <a:ea typeface="Times"/>
              <a:cs typeface="Times"/>
              <a:sym typeface="Time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ÐK. Vang lên muôn lời ca, ta ca ngợi Chúa, vì uy danh Người cao cả.</a:t>
            </a:r>
            <a:endParaRPr b="1" sz="8000">
              <a:latin typeface="Times"/>
              <a:ea typeface="Times"/>
              <a:cs typeface="Times"/>
              <a:sym typeface="Time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7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Chiến mã với kỵ binh, Ngài đã quăng chìm đáy biển (ư).</a:t>
            </a:r>
            <a:endParaRPr b="1" sz="8000">
              <a:latin typeface="Times"/>
              <a:ea typeface="Times"/>
              <a:cs typeface="Times"/>
              <a:sym typeface="Times"/>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7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2. Thiên Chúa của con, con hát khen Ngài. Thần của tổ tiên con, con tán dương Ngài.</a:t>
            </a:r>
            <a:endParaRPr b="1" sz="7200">
              <a:latin typeface="Times"/>
              <a:ea typeface="Times"/>
              <a:cs typeface="Times"/>
              <a:sym typeface="Times"/>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7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ÐK. Vang lên muôn lời ca, ta ca ngợi Chúa, vì uy danh Người cao cả.</a:t>
            </a:r>
            <a:endParaRPr b="1" sz="8000">
              <a:latin typeface="Times"/>
              <a:ea typeface="Times"/>
              <a:cs typeface="Times"/>
              <a:sym typeface="Times"/>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7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Chiến mã với kỵ binh, Ngài đã quăng chìm đáy biển (ư).</a:t>
            </a:r>
            <a:endParaRPr b="1" sz="8000">
              <a:latin typeface="Times"/>
              <a:ea typeface="Times"/>
              <a:cs typeface="Times"/>
              <a:sym typeface="Times"/>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8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3. Chúa là Ðấng anh hùng chiến sĩ, Ðấng anh hùng chiến sĩ.</a:t>
            </a:r>
            <a:endParaRPr b="1" sz="8000">
              <a:latin typeface="Times"/>
              <a:ea typeface="Times"/>
              <a:cs typeface="Times"/>
              <a:sym typeface="Times"/>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8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Danh Ngài là Ðức Chúa, là Ðức Chúa.</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ÐK. Vang lên muôn lời ca, ta ca ngợi Chúa, vì uy danh Người cao cả.</a:t>
            </a:r>
            <a:endParaRPr b="1" sz="8000">
              <a:latin typeface="Times"/>
              <a:ea typeface="Times"/>
              <a:cs typeface="Times"/>
              <a:sym typeface="Time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8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Chiến mã với kỵ binh, Ngài đã quăng chìm đáy biển (ư).</a:t>
            </a:r>
            <a:endParaRPr b="1" sz="8000">
              <a:latin typeface="Times"/>
              <a:ea typeface="Times"/>
              <a:cs typeface="Times"/>
              <a:sym typeface="Times"/>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8" name="Shape 528"/>
        <p:cNvGrpSpPr/>
        <p:nvPr/>
      </p:nvGrpSpPr>
      <p:grpSpPr>
        <a:xfrm>
          <a:off x="0" y="0"/>
          <a:ext cx="0" cy="0"/>
          <a:chOff x="0" y="0"/>
          <a:chExt cx="0" cy="0"/>
        </a:xfrm>
      </p:grpSpPr>
      <p:sp>
        <p:nvSpPr>
          <p:cNvPr id="529" name="Google Shape;529;p8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530" name="Google Shape;530;p84"/>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85"/>
          <p:cNvSpPr txBox="1"/>
          <p:nvPr>
            <p:ph type="ctrTitle"/>
          </p:nvPr>
        </p:nvSpPr>
        <p:spPr>
          <a:xfrm>
            <a:off x="609600" y="756744"/>
            <a:ext cx="7848600" cy="2881806"/>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THÁNH VỊNH 29</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8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1. Con ca tụng Chúa lạy Chúa vì Ngài đã giải thoát con, không để quân thù</a:t>
            </a:r>
            <a:endParaRPr b="1" sz="8000">
              <a:latin typeface="Times"/>
              <a:ea typeface="Times"/>
              <a:cs typeface="Times"/>
              <a:sym typeface="Times"/>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8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hoan hỉ về con. Từ ngục âm ty lạy Chúa Ngài thương cứu con ra khỏi</a:t>
            </a:r>
            <a:endParaRPr b="1" sz="8000">
              <a:latin typeface="Times"/>
              <a:ea typeface="Times"/>
              <a:cs typeface="Times"/>
              <a:sym typeface="Times"/>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8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số phận những người đang bước xuống mộ sâu.</a:t>
            </a:r>
            <a:endParaRPr b="1" sz="8000">
              <a:latin typeface="Times"/>
              <a:ea typeface="Times"/>
              <a:cs typeface="Times"/>
              <a:sym typeface="Times"/>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8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ĐK: Con ca tụng Chúa vì đã giải thoát con, Chúa đã giải thoát con cho khỏi tay kẻ thù.</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9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2. Những tín đồ Chúa đàn hát, hoan ca cảm tạ Chúa đi, vì Chúa nhân hậu</a:t>
            </a:r>
            <a:endParaRPr b="1" sz="8000">
              <a:latin typeface="Times"/>
              <a:ea typeface="Times"/>
              <a:cs typeface="Times"/>
              <a:sym typeface="Times"/>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9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không thể giận lâu. Chiều hôm dù có gặp cảnh lệ rơi, sáng mai vui mừng</a:t>
            </a:r>
            <a:endParaRPr b="1" sz="8000">
              <a:latin typeface="Times"/>
              <a:ea typeface="Times"/>
              <a:cs typeface="Times"/>
              <a:sym typeface="Times"/>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9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tưng bừng vì lòng nhân Chúa vẫn ngàn đời.</a:t>
            </a:r>
            <a:endParaRPr b="1" sz="8000">
              <a:latin typeface="Times"/>
              <a:ea typeface="Times"/>
              <a:cs typeface="Times"/>
              <a:sym typeface="Times"/>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9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ĐK: Con ca tụng Chúa vì đã giải thoát con, Chúa đã giải thoát con cho khỏi tay kẻ thù.</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9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3. Tiếng con cầu khấn lạy Chúa, thương nghe đáp lại Chúa ơi! Xin cứu</a:t>
            </a:r>
            <a:endParaRPr b="1" sz="8000">
              <a:latin typeface="Times"/>
              <a:ea typeface="Times"/>
              <a:cs typeface="Times"/>
              <a:sym typeface="Times"/>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9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giúp con qua cảnh lầm than. Ngài ơi đổi thay những tiếng than khóc</a:t>
            </a:r>
            <a:endParaRPr b="1" sz="8000">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9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trở nên khúc nhạc hoan lạc để đời con mãi chúc tụng Ngài.</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9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ĐK: Con ca tụng Chúa vì đã giải thoát con, Chúa đã giải thoát con cho khỏi tay kẻ thù.</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11" name="Shape 611"/>
        <p:cNvGrpSpPr/>
        <p:nvPr/>
      </p:nvGrpSpPr>
      <p:grpSpPr>
        <a:xfrm>
          <a:off x="0" y="0"/>
          <a:ext cx="0" cy="0"/>
          <a:chOff x="0" y="0"/>
          <a:chExt cx="0" cy="0"/>
        </a:xfrm>
      </p:grpSpPr>
      <p:sp>
        <p:nvSpPr>
          <p:cNvPr id="612" name="Google Shape;612;p9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613" name="Google Shape;613;p98"/>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99"/>
          <p:cNvSpPr txBox="1"/>
          <p:nvPr>
            <p:ph type="ctrTitle"/>
          </p:nvPr>
        </p:nvSpPr>
        <p:spPr>
          <a:xfrm>
            <a:off x="609600" y="756744"/>
            <a:ext cx="7848600" cy="2881806"/>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THÁNH VỊNH 50</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10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1. Nguyện xót thương con theo lòng nhân hậu của Chúa. Nguyện xoá</a:t>
            </a:r>
            <a:endParaRPr b="1" sz="8000">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0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tội con theo lượng cả đức từ bi Ngài. Xin rửa hồn con tuyệt gốc hết những</a:t>
            </a:r>
            <a:endParaRPr b="1" sz="8000">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0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lỗi lầm, và thanh tẩy con sạch lâng muôn vàn tội ác.</a:t>
            </a:r>
            <a:endParaRPr b="1" sz="8000">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0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ĐK: Lạy Chúa chí tôn, xin dủ tình xót thương con theo lượng từ ái của Ngài.</a:t>
            </a:r>
            <a:endParaRPr b="1" sz="7500">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0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2. Lạy Chúa xin thương ban lại tấm lòng sạch trong, và hãy đổi thay</a:t>
            </a:r>
            <a:endParaRPr b="1" sz="8000">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0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tinh thần mới cho con vững vàng.  Xin chớ loại con ra khỏi thánh nhan</a:t>
            </a:r>
            <a:endParaRPr b="1" sz="8000">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10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Trời, và chớ rút lại Thần Linh tuôn tràn sức sống.</a:t>
            </a:r>
            <a:endParaRPr b="1" sz="8000">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10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ĐK: Lạy Chúa chí tôn, xin dủ tình xót thương con theo lượng từ ái của Ngài.</a:t>
            </a:r>
            <a:endParaRPr b="1" sz="7500">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0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3. Lạy Chúa xin thương ban niềm vui đời cứu rỗi, và hãy đỡ nâng theo</a:t>
            </a:r>
            <a:endParaRPr b="1" sz="8000">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0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cùng với tinh thần quảng đại.  Lạy Chúa từ nhân mở môi con</a:t>
            </a:r>
            <a:endParaRPr b="1" sz="8000">
              <a:latin typeface="Times"/>
              <a:ea typeface="Times"/>
              <a:cs typeface="Times"/>
              <a:sym typeface="Time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11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ca tụng Ngài, ngàn đời hát ca đẹp thay ôi lòng nhân Chúa.</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11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ĐK: Lạy Chúa chí tôn, xin dủ tình xót thương con theo lượng từ ái của Ngài.</a:t>
            </a:r>
            <a:endParaRPr b="1" sz="7500">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94" name="Shape 694"/>
        <p:cNvGrpSpPr/>
        <p:nvPr/>
      </p:nvGrpSpPr>
      <p:grpSpPr>
        <a:xfrm>
          <a:off x="0" y="0"/>
          <a:ext cx="0" cy="0"/>
          <a:chOff x="0" y="0"/>
          <a:chExt cx="0" cy="0"/>
        </a:xfrm>
      </p:grpSpPr>
      <p:sp>
        <p:nvSpPr>
          <p:cNvPr id="695" name="Google Shape;695;p11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696" name="Google Shape;696;p112"/>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113"/>
          <p:cNvSpPr txBox="1"/>
          <p:nvPr>
            <p:ph type="ctrTitle"/>
          </p:nvPr>
        </p:nvSpPr>
        <p:spPr>
          <a:xfrm>
            <a:off x="647700" y="0"/>
            <a:ext cx="7848600" cy="595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rgbClr val="FF0000"/>
              </a:buClr>
              <a:buSzPct val="137500"/>
              <a:buFont typeface="Times New Roman"/>
              <a:buNone/>
            </a:pPr>
            <a:r>
              <a:rPr b="1" lang="en-US">
                <a:solidFill>
                  <a:srgbClr val="FF0000"/>
                </a:solidFill>
                <a:latin typeface="Times New Roman"/>
                <a:ea typeface="Times New Roman"/>
                <a:cs typeface="Times New Roman"/>
                <a:sym typeface="Times New Roman"/>
              </a:rPr>
              <a:t>KINH VINH DANH</a:t>
            </a:r>
            <a:endParaRPr b="1" sz="3200">
              <a:solidFill>
                <a:srgbClr val="7F7F7F"/>
              </a:solidFill>
              <a:latin typeface="Times New Roman"/>
              <a:ea typeface="Times New Roman"/>
              <a:cs typeface="Times New Roman"/>
              <a:sym typeface="Times New Roman"/>
            </a:endParaRPr>
          </a:p>
        </p:txBody>
      </p:sp>
      <p:sp>
        <p:nvSpPr>
          <p:cNvPr id="702" name="Google Shape;702;p113"/>
          <p:cNvSpPr txBox="1"/>
          <p:nvPr/>
        </p:nvSpPr>
        <p:spPr>
          <a:xfrm>
            <a:off x="0" y="514350"/>
            <a:ext cx="9144000" cy="4629150"/>
          </a:xfrm>
          <a:prstGeom prst="rect">
            <a:avLst/>
          </a:prstGeom>
          <a:solidFill>
            <a:schemeClr val="lt1"/>
          </a:solidFill>
          <a:ln>
            <a:noFill/>
          </a:ln>
        </p:spPr>
        <p:txBody>
          <a:bodyPr anchorCtr="0" anchor="ctr" bIns="0" lIns="91425" spcFirstLastPara="1" rIns="91425" wrap="square" tIns="0">
            <a:noAutofit/>
          </a:bodyPr>
          <a:lstStyle/>
          <a:p>
            <a:pPr indent="0" lvl="0" marL="0" marR="0" rtl="0" algn="just">
              <a:spcBef>
                <a:spcPts val="0"/>
              </a:spcBef>
              <a:spcAft>
                <a:spcPts val="0"/>
              </a:spcAft>
              <a:buClr>
                <a:schemeClr val="dk1"/>
              </a:buClr>
              <a:buSzPts val="9600"/>
              <a:buFont typeface="Times"/>
              <a:buNone/>
            </a:pPr>
            <a:r>
              <a:rPr b="1" i="0" lang="en-US" sz="9600" u="none" cap="none" strike="noStrike">
                <a:solidFill>
                  <a:schemeClr val="dk1"/>
                </a:solidFill>
                <a:latin typeface="Times"/>
                <a:ea typeface="Times"/>
                <a:cs typeface="Times"/>
                <a:sym typeface="Times"/>
              </a:rPr>
              <a:t>Vinh danh Thiên Chúa trên các tầng trời</a:t>
            </a:r>
            <a:endParaRPr b="1" i="0" sz="9600" u="none" cap="none" strike="noStrike">
              <a:solidFill>
                <a:schemeClr val="dk1"/>
              </a:solidFill>
              <a:latin typeface="Times"/>
              <a:ea typeface="Times"/>
              <a:cs typeface="Times"/>
              <a:sym typeface="Times"/>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11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và bình an dưới thế cho người thiện tâm.</a:t>
            </a:r>
            <a:endParaRPr b="1" sz="9600">
              <a:latin typeface="Times"/>
              <a:ea typeface="Times"/>
              <a:cs typeface="Times"/>
              <a:sym typeface="Times"/>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1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ca ngợi Chúa,</a:t>
            </a:r>
            <a:endParaRPr b="1" sz="9600">
              <a:latin typeface="Times"/>
              <a:ea typeface="Times"/>
              <a:cs typeface="Times"/>
              <a:sym typeface="Times"/>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11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chúc tụng Chúa,</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11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thờ lạy Chúa,</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1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a:buNone/>
            </a:pPr>
            <a:r>
              <a:rPr b="1" lang="en-US" sz="9600">
                <a:latin typeface="Times"/>
                <a:ea typeface="Times"/>
                <a:cs typeface="Times"/>
                <a:sym typeface="Times"/>
              </a:rPr>
              <a:t>chúng con tôn vinh Chúa,</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1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chúng con cảm tạ Chúa vì vinh quang cao cả Chúa,</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2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lạy Chúa là Thiên Chúa, là Vua trên trời, là Chúa Cha toàn năng.</a:t>
            </a:r>
            <a:endParaRPr b="1" sz="8800">
              <a:latin typeface="Times"/>
              <a:ea typeface="Times"/>
              <a:cs typeface="Times"/>
              <a:sym typeface="Times"/>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2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Lạy Con một Thiên Chúa, Chúa Giêsu Kitô.</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2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Lạy Chúa là Thiên Chúa, là Chiên Thiên Chúa, là Con Ðức Chúa Cha,</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2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xóa tội trần gian, xin thương xót chúng con,</a:t>
            </a:r>
            <a:endParaRPr b="1" sz="8000">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2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xóa tội trần gian, xin nhậm lời chúng con cầu khẩn.</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2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Chúa ngự bên hữu Ðức Chúa Cha, xin thương xót chúng con.</a:t>
            </a:r>
            <a:endParaRPr b="1" sz="8000">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2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Vì lạy Chúa Giêsu Kitô, chỉ có Chúa là Ðấng Thánh,</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2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chỉ có Chúa là Chúa, chỉ có Chúa là Ðấng Tối Cao,</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2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cùng Ðức Chúa Thánh Thần trong vinh quang Ðức Chúa Cha. </a:t>
            </a:r>
            <a:r>
              <a:rPr b="1" lang="en-US" sz="8000">
                <a:solidFill>
                  <a:srgbClr val="FF0000"/>
                </a:solidFill>
                <a:latin typeface="Times"/>
                <a:ea typeface="Times"/>
                <a:cs typeface="Times"/>
                <a:sym typeface="Times"/>
              </a:rPr>
              <a:t>Amen</a:t>
            </a:r>
            <a:r>
              <a:rPr b="1" lang="en-US" sz="8000">
                <a:latin typeface="Times"/>
                <a:ea typeface="Times"/>
                <a:cs typeface="Times"/>
                <a:sym typeface="Times"/>
              </a:rPr>
              <a:t>.</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96" name="Shape 796"/>
        <p:cNvGrpSpPr/>
        <p:nvPr/>
      </p:nvGrpSpPr>
      <p:grpSpPr>
        <a:xfrm>
          <a:off x="0" y="0"/>
          <a:ext cx="0" cy="0"/>
          <a:chOff x="0" y="0"/>
          <a:chExt cx="0" cy="0"/>
        </a:xfrm>
      </p:grpSpPr>
      <p:sp>
        <p:nvSpPr>
          <p:cNvPr id="797" name="Google Shape;797;p12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798" name="Google Shape;798;p129"/>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30"/>
          <p:cNvSpPr txBox="1"/>
          <p:nvPr>
            <p:ph type="ctrTitle"/>
          </p:nvPr>
        </p:nvSpPr>
        <p:spPr>
          <a:xfrm>
            <a:off x="609600" y="756744"/>
            <a:ext cx="7848600" cy="2881806"/>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THÁNH VỊNH 117</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3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1. Hãy cảm tạ Chúa vì Chúa nhân từ, ngàn đời Chúa vẫn trọn tình thương.</a:t>
            </a:r>
            <a:endParaRPr b="1" sz="8000">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3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Nhà Is-ra-el nào hãy xướng lên muôn đời Chúa vẫn trọn tình thương.</a:t>
            </a:r>
            <a:endParaRPr b="1" sz="8000">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3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000"/>
              <a:buFont typeface="Times"/>
              <a:buNone/>
            </a:pPr>
            <a:r>
              <a:rPr b="1" lang="en-US" sz="9000">
                <a:latin typeface="Times"/>
                <a:ea typeface="Times"/>
                <a:cs typeface="Times"/>
                <a:sym typeface="Times"/>
              </a:rPr>
              <a:t>ĐK: Đây là ngày Chúa đã lập ra,</a:t>
            </a:r>
            <a:endParaRPr b="1" sz="9000">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3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400"/>
              <a:buFont typeface="Times"/>
              <a:buNone/>
            </a:pPr>
            <a:r>
              <a:rPr b="1" lang="en-US" sz="8400">
                <a:latin typeface="Times"/>
                <a:ea typeface="Times"/>
                <a:cs typeface="Times"/>
                <a:sym typeface="Times"/>
              </a:rPr>
              <a:t>chúng ta hãy vui mừng hân hoan, hát vang bài cảm tạ.</a:t>
            </a:r>
            <a:endParaRPr b="1" sz="8400">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3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2. Tay hữu của Chúa thật rất mãnh liệt, và Người đã cất đặt tôi lên.</a:t>
            </a:r>
            <a:endParaRPr b="1" sz="8000">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13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Đời tôi không chết và sẽ sống đây loan truyền bao tác tạo của Chúa.</a:t>
            </a:r>
            <a:endParaRPr b="1" sz="8000">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3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000"/>
              <a:buFont typeface="Times"/>
              <a:buNone/>
            </a:pPr>
            <a:r>
              <a:rPr b="1" lang="en-US" sz="9000">
                <a:latin typeface="Times"/>
                <a:ea typeface="Times"/>
                <a:cs typeface="Times"/>
                <a:sym typeface="Times"/>
              </a:rPr>
              <a:t>ĐK: Đây là ngày Chúa đã lập ra,</a:t>
            </a:r>
            <a:endParaRPr b="1" sz="9000">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13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400"/>
              <a:buFont typeface="Times"/>
              <a:buNone/>
            </a:pPr>
            <a:r>
              <a:rPr b="1" lang="en-US" sz="8400">
                <a:latin typeface="Times"/>
                <a:ea typeface="Times"/>
                <a:cs typeface="Times"/>
                <a:sym typeface="Times"/>
              </a:rPr>
              <a:t>chúng ta hãy vui mừng hân hoan, hát vang bài cảm tạ.</a:t>
            </a:r>
            <a:endParaRPr b="1" sz="8400">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3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3. Phiến đá thợ xây loại bỏ ra ngoài, nên viên đá góc tường từ đây.</a:t>
            </a:r>
            <a:endParaRPr b="1" sz="8000">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4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Việc đó do Chúa Người đã tác nên diệu kỳ trước mắt mọi phàm nhân.</a:t>
            </a:r>
            <a:endParaRPr b="1" sz="8000">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4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000"/>
              <a:buFont typeface="Times"/>
              <a:buNone/>
            </a:pPr>
            <a:r>
              <a:rPr b="1" lang="en-US" sz="9000">
                <a:latin typeface="Times"/>
                <a:ea typeface="Times"/>
                <a:cs typeface="Times"/>
                <a:sym typeface="Times"/>
              </a:rPr>
              <a:t>ĐK: Đây là ngày Chúa đã lập ra,</a:t>
            </a:r>
            <a:endParaRPr b="1" sz="9000">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4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400"/>
              <a:buFont typeface="Times"/>
              <a:buNone/>
            </a:pPr>
            <a:r>
              <a:rPr b="1" lang="en-US" sz="8400">
                <a:latin typeface="Times"/>
                <a:ea typeface="Times"/>
                <a:cs typeface="Times"/>
                <a:sym typeface="Times"/>
              </a:rPr>
              <a:t>chúng ta hãy vui mừng hân hoan, hát vang bài cảm tạ.</a:t>
            </a:r>
            <a:endParaRPr b="1" sz="8400">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79" name="Shape 879"/>
        <p:cNvGrpSpPr/>
        <p:nvPr/>
      </p:nvGrpSpPr>
      <p:grpSpPr>
        <a:xfrm>
          <a:off x="0" y="0"/>
          <a:ext cx="0" cy="0"/>
          <a:chOff x="0" y="0"/>
          <a:chExt cx="0" cy="0"/>
        </a:xfrm>
      </p:grpSpPr>
      <p:sp>
        <p:nvSpPr>
          <p:cNvPr id="880" name="Google Shape;880;p14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881" name="Google Shape;881;p14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44"/>
          <p:cNvSpPr txBox="1"/>
          <p:nvPr>
            <p:ph type="ctrTitle"/>
          </p:nvPr>
        </p:nvSpPr>
        <p:spPr>
          <a:xfrm>
            <a:off x="0" y="819150"/>
            <a:ext cx="9144000" cy="41910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7700"/>
              <a:buFont typeface="Times"/>
              <a:buNone/>
            </a:pPr>
            <a:r>
              <a:rPr b="1" lang="en-US" sz="7700">
                <a:latin typeface="Times"/>
                <a:ea typeface="Times"/>
                <a:cs typeface="Times"/>
                <a:sym typeface="Times"/>
              </a:rPr>
              <a:t>Alleluia, Alleluia. Lễ Vượt Qua của chúng ta là Đức Ki-tô đã hiến tế; vậy chúng ta</a:t>
            </a:r>
            <a:endParaRPr/>
          </a:p>
        </p:txBody>
      </p:sp>
      <p:sp>
        <p:nvSpPr>
          <p:cNvPr id="887" name="Google Shape;887;p144"/>
          <p:cNvSpPr txBox="1"/>
          <p:nvPr/>
        </p:nvSpPr>
        <p:spPr>
          <a:xfrm>
            <a:off x="0" y="0"/>
            <a:ext cx="9144000" cy="81915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0000"/>
              </a:buClr>
              <a:buSzPts val="3200"/>
              <a:buFont typeface="Arial"/>
              <a:buNone/>
            </a:pPr>
            <a:r>
              <a:rPr b="1" i="0" lang="en-US" sz="3200" u="sng" cap="none" strike="noStrike">
                <a:solidFill>
                  <a:srgbClr val="FF0000"/>
                </a:solidFill>
                <a:latin typeface="Arial"/>
                <a:ea typeface="Arial"/>
                <a:cs typeface="Arial"/>
                <a:sym typeface="Arial"/>
              </a:rPr>
              <a:t>CÂU XƯỚNG TRƯỚC PHÚC ÂM</a:t>
            </a:r>
            <a:endParaRPr b="1" i="0" sz="3200" u="none" cap="none" strike="noStrike">
              <a:solidFill>
                <a:srgbClr val="00B050"/>
              </a:solidFill>
              <a:latin typeface="Arial"/>
              <a:ea typeface="Arial"/>
              <a:cs typeface="Arial"/>
              <a:sym typeface="Arial"/>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4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hãy mừng vui trong Chúa. Alleluia, Alleluia.</a:t>
            </a:r>
            <a:endParaRPr b="1" sz="8800">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96" name="Shape 896"/>
        <p:cNvGrpSpPr/>
        <p:nvPr/>
      </p:nvGrpSpPr>
      <p:grpSpPr>
        <a:xfrm>
          <a:off x="0" y="0"/>
          <a:ext cx="0" cy="0"/>
          <a:chOff x="0" y="0"/>
          <a:chExt cx="0" cy="0"/>
        </a:xfrm>
      </p:grpSpPr>
      <p:sp>
        <p:nvSpPr>
          <p:cNvPr id="897" name="Google Shape;897;p1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t/>
            </a:r>
            <a:endParaRPr/>
          </a:p>
        </p:txBody>
      </p:sp>
      <p:sp>
        <p:nvSpPr>
          <p:cNvPr id="898" name="Google Shape;898;p1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147"/>
          <p:cNvSpPr txBox="1"/>
          <p:nvPr>
            <p:ph type="ctrTitle"/>
          </p:nvPr>
        </p:nvSpPr>
        <p:spPr>
          <a:xfrm>
            <a:off x="609600" y="1123950"/>
            <a:ext cx="7848600" cy="2881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RẢY NƯỚC THÁNH(2)</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(Nguyễn Văn Hoà)</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14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ĐK: Tôi đã thấy nước từ bên phải đền thờ chảy ra. Al-le-lu-ia!</a:t>
            </a:r>
            <a:endParaRPr b="1" sz="8800">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4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Và nước ấy chảy đến những ai thì tất cả đều được cứu rỗi và reo lên. </a:t>
            </a:r>
            <a:endParaRPr b="1" sz="8800">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5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1500"/>
              <a:buFont typeface="Times"/>
              <a:buNone/>
            </a:pPr>
            <a:r>
              <a:rPr b="1" lang="en-US" sz="11500">
                <a:latin typeface="Times"/>
                <a:ea typeface="Times"/>
                <a:cs typeface="Times"/>
                <a:sym typeface="Times"/>
              </a:rPr>
              <a:t>Al-le-lu-ia! </a:t>
            </a:r>
            <a:br>
              <a:rPr b="1" lang="en-US" sz="11500">
                <a:latin typeface="Times"/>
                <a:ea typeface="Times"/>
                <a:cs typeface="Times"/>
                <a:sym typeface="Times"/>
              </a:rPr>
            </a:br>
            <a:r>
              <a:rPr b="1" lang="en-US" sz="11500">
                <a:latin typeface="Times"/>
                <a:ea typeface="Times"/>
                <a:cs typeface="Times"/>
                <a:sym typeface="Times"/>
              </a:rPr>
              <a:t>Al-le-lu-ia.</a:t>
            </a:r>
            <a:endParaRPr b="1" sz="11500">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5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1. Hãy ca tụng Chúa vì Người nhân lành vì lượng từ bi</a:t>
            </a:r>
            <a:endParaRPr b="1" sz="8000">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5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của Người tồn tại muôn đời.</a:t>
            </a:r>
            <a:endParaRPr b="1" sz="8000">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15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ĐK: Tôi đã thấy nước từ bên phải đền thờ chảy ra. Al-le-lu-ia!</a:t>
            </a:r>
            <a:endParaRPr b="1" sz="8800">
              <a:latin typeface="Times"/>
              <a:ea typeface="Times"/>
              <a:cs typeface="Times"/>
              <a:sym typeface="Times"/>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5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Và nước ấy chảy đến những ai thì tất cả đều được cứu rỗi và reo lên. </a:t>
            </a:r>
            <a:endParaRPr b="1" sz="8800">
              <a:latin typeface="Times"/>
              <a:ea typeface="Times"/>
              <a:cs typeface="Times"/>
              <a:sym typeface="Times"/>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5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1500"/>
              <a:buFont typeface="Times"/>
              <a:buNone/>
            </a:pPr>
            <a:r>
              <a:rPr b="1" lang="en-US" sz="11500">
                <a:latin typeface="Times"/>
                <a:ea typeface="Times"/>
                <a:cs typeface="Times"/>
                <a:sym typeface="Times"/>
              </a:rPr>
              <a:t>Al-le-lu-ia! </a:t>
            </a:r>
            <a:br>
              <a:rPr b="1" lang="en-US" sz="11500">
                <a:latin typeface="Times"/>
                <a:ea typeface="Times"/>
                <a:cs typeface="Times"/>
                <a:sym typeface="Times"/>
              </a:rPr>
            </a:br>
            <a:r>
              <a:rPr b="1" lang="en-US" sz="11500">
                <a:latin typeface="Times"/>
                <a:ea typeface="Times"/>
                <a:cs typeface="Times"/>
                <a:sym typeface="Times"/>
              </a:rPr>
              <a:t>Al-le-lu-ia.</a:t>
            </a:r>
            <a:endParaRPr b="1" sz="11500">
              <a:latin typeface="Times"/>
              <a:ea typeface="Times"/>
              <a:cs typeface="Times"/>
              <a:sym typeface="Times"/>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5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2. Sáng danh Đức Chúa Cha và Đức Chúa Con và Đức Chúa Thánh Thần</a:t>
            </a:r>
            <a:endParaRPr b="1" sz="8000">
              <a:latin typeface="Times"/>
              <a:ea typeface="Times"/>
              <a:cs typeface="Times"/>
              <a:sym typeface="Time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15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như đã có trước vô cùng và bây giờ và hằng có và đời đời chẳng cùng. A-men.</a:t>
            </a:r>
            <a:endParaRPr b="1" sz="8000">
              <a:latin typeface="Times"/>
              <a:ea typeface="Times"/>
              <a:cs typeface="Times"/>
              <a:sym typeface="Times"/>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5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ĐK: Tôi đã thấy nước từ bên phải đền thờ chảy ra. Al-le-lu-ia!</a:t>
            </a:r>
            <a:endParaRPr b="1" sz="8800">
              <a:latin typeface="Times"/>
              <a:ea typeface="Times"/>
              <a:cs typeface="Times"/>
              <a:sym typeface="Times"/>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5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Và nước ấy chảy đến những ai thì tất cả đều được cứu rỗi và reo lên. </a:t>
            </a:r>
            <a:endParaRPr b="1" sz="8800">
              <a:latin typeface="Times"/>
              <a:ea typeface="Times"/>
              <a:cs typeface="Times"/>
              <a:sym typeface="Time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6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1500"/>
              <a:buFont typeface="Times"/>
              <a:buNone/>
            </a:pPr>
            <a:r>
              <a:rPr b="1" lang="en-US" sz="11500">
                <a:latin typeface="Times"/>
                <a:ea typeface="Times"/>
                <a:cs typeface="Times"/>
                <a:sym typeface="Times"/>
              </a:rPr>
              <a:t>Al-le-lu-ia! </a:t>
            </a:r>
            <a:br>
              <a:rPr b="1" lang="en-US" sz="11500">
                <a:latin typeface="Times"/>
                <a:ea typeface="Times"/>
                <a:cs typeface="Times"/>
                <a:sym typeface="Times"/>
              </a:rPr>
            </a:br>
            <a:r>
              <a:rPr b="1" lang="en-US" sz="11500">
                <a:latin typeface="Times"/>
                <a:ea typeface="Times"/>
                <a:cs typeface="Times"/>
                <a:sym typeface="Times"/>
              </a:rPr>
              <a:t>Al-le-lu-ia.</a:t>
            </a:r>
            <a:endParaRPr b="1" sz="11500">
              <a:latin typeface="Times"/>
              <a:ea typeface="Times"/>
              <a:cs typeface="Times"/>
              <a:sym typeface="Times"/>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6" name="Shape 986"/>
        <p:cNvGrpSpPr/>
        <p:nvPr/>
      </p:nvGrpSpPr>
      <p:grpSpPr>
        <a:xfrm>
          <a:off x="0" y="0"/>
          <a:ext cx="0" cy="0"/>
          <a:chOff x="0" y="0"/>
          <a:chExt cx="0" cy="0"/>
        </a:xfrm>
      </p:grpSpPr>
      <p:sp>
        <p:nvSpPr>
          <p:cNvPr id="987" name="Google Shape;987;p161"/>
          <p:cNvSpPr txBox="1"/>
          <p:nvPr/>
        </p:nvSpPr>
        <p:spPr>
          <a:xfrm>
            <a:off x="2286" y="1998709"/>
            <a:ext cx="9141714" cy="1155725"/>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600" u="none" cap="none" strike="noStrike">
                <a:solidFill>
                  <a:srgbClr val="FFFFFF"/>
                </a:solidFill>
                <a:latin typeface="Arial"/>
                <a:ea typeface="Arial"/>
                <a:cs typeface="Arial"/>
                <a:sym typeface="Arial"/>
              </a:rPr>
              <a:t>CANH THỨC VƯỢT QUA</a:t>
            </a:r>
            <a:endParaRPr b="1" i="0" sz="6600" u="none" cap="none" strike="noStrike">
              <a:solidFill>
                <a:srgbClr val="FFFFFF"/>
              </a:solidFill>
              <a:latin typeface="Arial"/>
              <a:ea typeface="Arial"/>
              <a:cs typeface="Arial"/>
              <a:sym typeface="Arial"/>
            </a:endParaRPr>
          </a:p>
        </p:txBody>
      </p:sp>
      <p:sp>
        <p:nvSpPr>
          <p:cNvPr id="988" name="Google Shape;988;p161"/>
          <p:cNvSpPr txBox="1"/>
          <p:nvPr/>
        </p:nvSpPr>
        <p:spPr>
          <a:xfrm>
            <a:off x="2288" y="3066371"/>
            <a:ext cx="9141712" cy="174431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800" u="none" cap="none" strike="noStrike">
                <a:solidFill>
                  <a:srgbClr val="FFFFFF"/>
                </a:solidFill>
                <a:latin typeface="Arial"/>
                <a:ea typeface="Arial"/>
                <a:cs typeface="Arial"/>
                <a:sym typeface="Arial"/>
              </a:rPr>
              <a:t>“Tại sao các bà tìm người sống </a:t>
            </a:r>
            <a:br>
              <a:rPr b="1" i="1" lang="en-US" sz="4800" u="none" cap="none" strike="noStrike">
                <a:solidFill>
                  <a:srgbClr val="FFFFFF"/>
                </a:solidFill>
                <a:latin typeface="Arial"/>
                <a:ea typeface="Arial"/>
                <a:cs typeface="Arial"/>
                <a:sym typeface="Arial"/>
              </a:rPr>
            </a:br>
            <a:r>
              <a:rPr b="1" i="1" lang="en-US" sz="4800" u="none" cap="none" strike="noStrike">
                <a:solidFill>
                  <a:srgbClr val="FFFFFF"/>
                </a:solidFill>
                <a:latin typeface="Arial"/>
                <a:ea typeface="Arial"/>
                <a:cs typeface="Arial"/>
                <a:sym typeface="Arial"/>
              </a:rPr>
              <a:t>nơi những kẻ chết?”</a:t>
            </a:r>
            <a:endParaRPr b="1" i="1" sz="4800" u="none" cap="none" strike="noStrike">
              <a:solidFill>
                <a:srgbClr val="FFFFFF"/>
              </a:solidFill>
              <a:latin typeface="Arial"/>
              <a:ea typeface="Arial"/>
              <a:cs typeface="Arial"/>
              <a:sym typeface="Arial"/>
            </a:endParaRPr>
          </a:p>
        </p:txBody>
      </p:sp>
      <p:sp>
        <p:nvSpPr>
          <p:cNvPr id="989" name="Google Shape;989;p161"/>
          <p:cNvSpPr txBox="1"/>
          <p:nvPr/>
        </p:nvSpPr>
        <p:spPr>
          <a:xfrm>
            <a:off x="2712986" y="4428329"/>
            <a:ext cx="3715738"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0" lang="en-US" sz="1400" u="none" cap="none" strike="noStrike">
                <a:solidFill>
                  <a:schemeClr val="lt1"/>
                </a:solidFill>
                <a:latin typeface="Arial"/>
                <a:ea typeface="Arial"/>
                <a:cs typeface="Arial"/>
                <a:sym typeface="Arial"/>
              </a:rPr>
              <a:t>(Lc 24, 1-12)</a:t>
            </a:r>
            <a:endParaRPr/>
          </a:p>
        </p:txBody>
      </p:sp>
      <p:sp>
        <p:nvSpPr>
          <p:cNvPr id="990" name="Google Shape;990;p161"/>
          <p:cNvSpPr txBox="1"/>
          <p:nvPr/>
        </p:nvSpPr>
        <p:spPr>
          <a:xfrm>
            <a:off x="-2" y="0"/>
            <a:ext cx="9141714" cy="1047749"/>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000" u="none" cap="none" strike="noStrike">
                <a:solidFill>
                  <a:srgbClr val="FF0000"/>
                </a:solidFill>
                <a:latin typeface="Arial"/>
                <a:ea typeface="Arial"/>
                <a:cs typeface="Arial"/>
                <a:sym typeface="Arial"/>
              </a:rPr>
              <a:t>THỨ BẢY TUẦN THÁNH</a:t>
            </a:r>
            <a:endParaRPr/>
          </a:p>
        </p:txBody>
      </p:sp>
    </p:spTree>
  </p:cSld>
  <p:clrMapOvr>
    <a:masterClrMapping/>
  </p:clrMapOvr>
  <p:transition advTm="60000" spd="slow" p14:dur="800">
    <p:circle/>
  </p:transition>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5" name="Shape 995"/>
        <p:cNvGrpSpPr/>
        <p:nvPr/>
      </p:nvGrpSpPr>
      <p:grpSpPr>
        <a:xfrm>
          <a:off x="0" y="0"/>
          <a:ext cx="0" cy="0"/>
          <a:chOff x="0" y="0"/>
          <a:chExt cx="0" cy="0"/>
        </a:xfrm>
      </p:grpSpPr>
      <p:sp>
        <p:nvSpPr>
          <p:cNvPr id="996" name="Google Shape;996;p162"/>
          <p:cNvSpPr txBox="1"/>
          <p:nvPr/>
        </p:nvSpPr>
        <p:spPr>
          <a:xfrm>
            <a:off x="2288" y="3562349"/>
            <a:ext cx="9141712" cy="1248337"/>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3200" u="none" cap="none" strike="noStrike">
                <a:solidFill>
                  <a:srgbClr val="FFFFFF"/>
                </a:solidFill>
                <a:latin typeface="Arial"/>
                <a:ea typeface="Arial"/>
                <a:cs typeface="Arial"/>
                <a:sym typeface="Arial"/>
              </a:rPr>
              <a:t>“Tại sao các bà tìm người sống </a:t>
            </a:r>
            <a:br>
              <a:rPr b="1" i="1" lang="en-US" sz="3200" u="none" cap="none" strike="noStrike">
                <a:solidFill>
                  <a:srgbClr val="FFFFFF"/>
                </a:solidFill>
                <a:latin typeface="Arial"/>
                <a:ea typeface="Arial"/>
                <a:cs typeface="Arial"/>
                <a:sym typeface="Arial"/>
              </a:rPr>
            </a:br>
            <a:r>
              <a:rPr b="1" i="1" lang="en-US" sz="3200" u="none" cap="none" strike="noStrike">
                <a:solidFill>
                  <a:srgbClr val="FFFFFF"/>
                </a:solidFill>
                <a:latin typeface="Arial"/>
                <a:ea typeface="Arial"/>
                <a:cs typeface="Arial"/>
                <a:sym typeface="Arial"/>
              </a:rPr>
              <a:t>nơi những kẻ chết?”</a:t>
            </a:r>
            <a:endParaRPr b="1" i="1" sz="3200" u="none" cap="none" strike="noStrike">
              <a:solidFill>
                <a:srgbClr val="FFFFFF"/>
              </a:solidFill>
              <a:latin typeface="Arial"/>
              <a:ea typeface="Arial"/>
              <a:cs typeface="Arial"/>
              <a:sym typeface="Arial"/>
            </a:endParaRPr>
          </a:p>
        </p:txBody>
      </p:sp>
      <p:sp>
        <p:nvSpPr>
          <p:cNvPr id="997" name="Google Shape;997;p162"/>
          <p:cNvSpPr txBox="1"/>
          <p:nvPr/>
        </p:nvSpPr>
        <p:spPr>
          <a:xfrm>
            <a:off x="2712986" y="4428329"/>
            <a:ext cx="3715738"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0" lang="en-US" sz="1400" u="none" cap="none" strike="noStrike">
                <a:solidFill>
                  <a:schemeClr val="lt1"/>
                </a:solidFill>
                <a:latin typeface="Arial"/>
                <a:ea typeface="Arial"/>
                <a:cs typeface="Arial"/>
                <a:sym typeface="Arial"/>
              </a:rPr>
              <a:t>(Lc 24, 1-12)</a:t>
            </a:r>
            <a:endParaRPr/>
          </a:p>
        </p:txBody>
      </p:sp>
    </p:spTree>
  </p:cSld>
  <p:clrMapOvr>
    <a:masterClrMapping/>
  </p:clrMapOvr>
  <p:transition advTm="180000" spd="slow" p14:dur="800">
    <p:circle/>
  </p:transition>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2" name="Shape 1002"/>
        <p:cNvGrpSpPr/>
        <p:nvPr/>
      </p:nvGrpSpPr>
      <p:grpSpPr>
        <a:xfrm>
          <a:off x="0" y="0"/>
          <a:ext cx="0" cy="0"/>
          <a:chOff x="0" y="0"/>
          <a:chExt cx="0" cy="0"/>
        </a:xfrm>
      </p:grpSpPr>
      <p:sp>
        <p:nvSpPr>
          <p:cNvPr id="1003" name="Google Shape;1003;p163"/>
          <p:cNvSpPr txBox="1"/>
          <p:nvPr/>
        </p:nvSpPr>
        <p:spPr>
          <a:xfrm>
            <a:off x="2286" y="1998709"/>
            <a:ext cx="9141714" cy="1155725"/>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600" u="none" cap="none" strike="noStrike">
                <a:solidFill>
                  <a:srgbClr val="FFFFFF"/>
                </a:solidFill>
                <a:latin typeface="Arial"/>
                <a:ea typeface="Arial"/>
                <a:cs typeface="Arial"/>
                <a:sym typeface="Arial"/>
              </a:rPr>
              <a:t>CANH THỨC VƯỢT QUA</a:t>
            </a:r>
            <a:endParaRPr b="1" i="0" sz="6600" u="none" cap="none" strike="noStrike">
              <a:solidFill>
                <a:srgbClr val="FFFFFF"/>
              </a:solidFill>
              <a:latin typeface="Arial"/>
              <a:ea typeface="Arial"/>
              <a:cs typeface="Arial"/>
              <a:sym typeface="Arial"/>
            </a:endParaRPr>
          </a:p>
        </p:txBody>
      </p:sp>
      <p:sp>
        <p:nvSpPr>
          <p:cNvPr id="1004" name="Google Shape;1004;p163"/>
          <p:cNvSpPr txBox="1"/>
          <p:nvPr/>
        </p:nvSpPr>
        <p:spPr>
          <a:xfrm>
            <a:off x="2288" y="3066371"/>
            <a:ext cx="9141712" cy="174431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800" u="none" cap="none" strike="noStrike">
                <a:solidFill>
                  <a:srgbClr val="FFFFFF"/>
                </a:solidFill>
                <a:latin typeface="Arial"/>
                <a:ea typeface="Arial"/>
                <a:cs typeface="Arial"/>
                <a:sym typeface="Arial"/>
              </a:rPr>
              <a:t>“Tại sao các bà tìm người sống </a:t>
            </a:r>
            <a:br>
              <a:rPr b="1" i="1" lang="en-US" sz="4800" u="none" cap="none" strike="noStrike">
                <a:solidFill>
                  <a:srgbClr val="FFFFFF"/>
                </a:solidFill>
                <a:latin typeface="Arial"/>
                <a:ea typeface="Arial"/>
                <a:cs typeface="Arial"/>
                <a:sym typeface="Arial"/>
              </a:rPr>
            </a:br>
            <a:r>
              <a:rPr b="1" i="1" lang="en-US" sz="4800" u="none" cap="none" strike="noStrike">
                <a:solidFill>
                  <a:srgbClr val="FFFFFF"/>
                </a:solidFill>
                <a:latin typeface="Arial"/>
                <a:ea typeface="Arial"/>
                <a:cs typeface="Arial"/>
                <a:sym typeface="Arial"/>
              </a:rPr>
              <a:t>nơi những kẻ chết?”</a:t>
            </a:r>
            <a:endParaRPr b="1" i="1" sz="4800" u="none" cap="none" strike="noStrike">
              <a:solidFill>
                <a:srgbClr val="FFFFFF"/>
              </a:solidFill>
              <a:latin typeface="Arial"/>
              <a:ea typeface="Arial"/>
              <a:cs typeface="Arial"/>
              <a:sym typeface="Arial"/>
            </a:endParaRPr>
          </a:p>
        </p:txBody>
      </p:sp>
      <p:sp>
        <p:nvSpPr>
          <p:cNvPr id="1005" name="Google Shape;1005;p163"/>
          <p:cNvSpPr txBox="1"/>
          <p:nvPr/>
        </p:nvSpPr>
        <p:spPr>
          <a:xfrm>
            <a:off x="2712986" y="4428329"/>
            <a:ext cx="3715738"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0" lang="en-US" sz="1400" u="none" cap="none" strike="noStrike">
                <a:solidFill>
                  <a:schemeClr val="lt1"/>
                </a:solidFill>
                <a:latin typeface="Arial"/>
                <a:ea typeface="Arial"/>
                <a:cs typeface="Arial"/>
                <a:sym typeface="Arial"/>
              </a:rPr>
              <a:t>(Lc 24, 1-12)</a:t>
            </a:r>
            <a:endParaRPr/>
          </a:p>
        </p:txBody>
      </p:sp>
      <p:sp>
        <p:nvSpPr>
          <p:cNvPr id="1006" name="Google Shape;1006;p163"/>
          <p:cNvSpPr txBox="1"/>
          <p:nvPr/>
        </p:nvSpPr>
        <p:spPr>
          <a:xfrm>
            <a:off x="-2" y="0"/>
            <a:ext cx="9141714" cy="1047749"/>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000" u="none" cap="none" strike="noStrike">
                <a:solidFill>
                  <a:srgbClr val="FF0000"/>
                </a:solidFill>
                <a:latin typeface="Arial"/>
                <a:ea typeface="Arial"/>
                <a:cs typeface="Arial"/>
                <a:sym typeface="Arial"/>
              </a:rPr>
              <a:t>THỨ BẢY TUẦN THÁNH</a:t>
            </a:r>
            <a:endParaRPr/>
          </a:p>
        </p:txBody>
      </p:sp>
    </p:spTree>
  </p:cSld>
  <p:clrMapOvr>
    <a:masterClrMapping/>
  </p:clrMapOvr>
  <p:transition spd="slow" p14:dur="800">
    <p:circle/>
  </p:transition>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164"/>
          <p:cNvSpPr txBox="1"/>
          <p:nvPr>
            <p:ph type="ctrTitle"/>
          </p:nvPr>
        </p:nvSpPr>
        <p:spPr>
          <a:xfrm>
            <a:off x="609600" y="1123950"/>
            <a:ext cx="7848600" cy="2881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TẤM BÁNH </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ĐỜI CON</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(Thanh Lâm)</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6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l">
              <a:spcBef>
                <a:spcPts val="0"/>
              </a:spcBef>
              <a:spcAft>
                <a:spcPts val="0"/>
              </a:spcAft>
              <a:buClr>
                <a:schemeClr val="dk1"/>
              </a:buClr>
              <a:buSzPts val="8000"/>
              <a:buFont typeface="Times"/>
              <a:buNone/>
            </a:pPr>
            <a:r>
              <a:rPr b="1" lang="en-US" sz="8000">
                <a:latin typeface="Times"/>
                <a:ea typeface="Times"/>
                <a:cs typeface="Times"/>
                <a:sym typeface="Times"/>
              </a:rPr>
              <a:t>1. Con xin làm tấm bánh bẻ ra hiến trao muôn người.</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16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Mãi ấp ủ niềm tin chứa chan bao lời ủi an. Con xin làm tấm bánh sẻ chia cho</a:t>
            </a:r>
            <a:endParaRPr b="1" sz="8000">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16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khắp mọi nơi. Cho thế nhân muôn đời được luôn sống vui Tin Mừng.</a:t>
            </a:r>
            <a:endParaRPr b="1" sz="8000">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16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Ôi Giê-su trên bàn thờ Thập Giá hiến trao tình yêu. Chiên hy sinh</a:t>
            </a:r>
            <a:endParaRPr b="1" sz="8000">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6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xóa tội đời, Ngài là hy lễ tuyệt vời. Con xin dâng cuộc đời để nên tấm bánh</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7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tình yêu. Tấm bánh ngát ân tình bẻ ra hiến trao muôn người.</a:t>
            </a:r>
            <a:endParaRPr b="1" sz="8000">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17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l">
              <a:spcBef>
                <a:spcPts val="0"/>
              </a:spcBef>
              <a:spcAft>
                <a:spcPts val="0"/>
              </a:spcAft>
              <a:buClr>
                <a:schemeClr val="dk1"/>
              </a:buClr>
              <a:buSzPts val="8000"/>
              <a:buFont typeface="Times"/>
              <a:buNone/>
            </a:pPr>
            <a:r>
              <a:rPr b="1" lang="en-US" sz="8000">
                <a:latin typeface="Times"/>
                <a:ea typeface="Times"/>
                <a:cs typeface="Times"/>
                <a:sym typeface="Times"/>
              </a:rPr>
              <a:t>2. Con xin làm tấm bánh để nên lễ dâng tinh tuyền. Với xác hồn mỏng manh, </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7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với cả tâm tình biết ơn. Mong cho toàn nhân thế hiệp thông trong Chúa là Cha.</a:t>
            </a:r>
            <a:endParaRPr b="1" sz="8000">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7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Luôn sống vui trong nguồn tình yêu phúc ân cứu độ.</a:t>
            </a:r>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17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Ôi Giê-su trên bàn thờ Thập Giá hiến trao tình yêu. Chiên hy sinh</a:t>
            </a:r>
            <a:endParaRPr b="1" sz="8000">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7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xóa tội đời, Ngài là hy lễ tuyệt vời. Con xin dâng cuộc đời để nên tấm bánh</a:t>
            </a:r>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17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tình yêu. Tấm bánh ngát ân tình bẻ ra hiến trao muôn người.</a:t>
            </a:r>
            <a:endParaRPr b="1" sz="8000">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8" name="Shape 1088"/>
        <p:cNvGrpSpPr/>
        <p:nvPr/>
      </p:nvGrpSpPr>
      <p:grpSpPr>
        <a:xfrm>
          <a:off x="0" y="0"/>
          <a:ext cx="0" cy="0"/>
          <a:chOff x="0" y="0"/>
          <a:chExt cx="0" cy="0"/>
        </a:xfrm>
      </p:grpSpPr>
      <p:sp>
        <p:nvSpPr>
          <p:cNvPr id="1089" name="Google Shape;1089;p177"/>
          <p:cNvSpPr txBox="1"/>
          <p:nvPr/>
        </p:nvSpPr>
        <p:spPr>
          <a:xfrm>
            <a:off x="2286" y="1998709"/>
            <a:ext cx="9141714" cy="1155725"/>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600" u="none" cap="none" strike="noStrike">
                <a:solidFill>
                  <a:srgbClr val="FFFFFF"/>
                </a:solidFill>
                <a:latin typeface="Arial"/>
                <a:ea typeface="Arial"/>
                <a:cs typeface="Arial"/>
                <a:sym typeface="Arial"/>
              </a:rPr>
              <a:t>CANH THỨC VƯỢT QUA</a:t>
            </a:r>
            <a:endParaRPr b="1" i="0" sz="6600" u="none" cap="none" strike="noStrike">
              <a:solidFill>
                <a:srgbClr val="FFFFFF"/>
              </a:solidFill>
              <a:latin typeface="Arial"/>
              <a:ea typeface="Arial"/>
              <a:cs typeface="Arial"/>
              <a:sym typeface="Arial"/>
            </a:endParaRPr>
          </a:p>
        </p:txBody>
      </p:sp>
      <p:sp>
        <p:nvSpPr>
          <p:cNvPr id="1090" name="Google Shape;1090;p177"/>
          <p:cNvSpPr txBox="1"/>
          <p:nvPr/>
        </p:nvSpPr>
        <p:spPr>
          <a:xfrm>
            <a:off x="2288" y="3066371"/>
            <a:ext cx="9141712" cy="174431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800" u="none" cap="none" strike="noStrike">
                <a:solidFill>
                  <a:srgbClr val="FFFFFF"/>
                </a:solidFill>
                <a:latin typeface="Arial"/>
                <a:ea typeface="Arial"/>
                <a:cs typeface="Arial"/>
                <a:sym typeface="Arial"/>
              </a:rPr>
              <a:t>“Tại sao các bà tìm người sống </a:t>
            </a:r>
            <a:br>
              <a:rPr b="1" i="1" lang="en-US" sz="4800" u="none" cap="none" strike="noStrike">
                <a:solidFill>
                  <a:srgbClr val="FFFFFF"/>
                </a:solidFill>
                <a:latin typeface="Arial"/>
                <a:ea typeface="Arial"/>
                <a:cs typeface="Arial"/>
                <a:sym typeface="Arial"/>
              </a:rPr>
            </a:br>
            <a:r>
              <a:rPr b="1" i="1" lang="en-US" sz="4800" u="none" cap="none" strike="noStrike">
                <a:solidFill>
                  <a:srgbClr val="FFFFFF"/>
                </a:solidFill>
                <a:latin typeface="Arial"/>
                <a:ea typeface="Arial"/>
                <a:cs typeface="Arial"/>
                <a:sym typeface="Arial"/>
              </a:rPr>
              <a:t>nơi những kẻ chết?”</a:t>
            </a:r>
            <a:endParaRPr b="1" i="1" sz="4800" u="none" cap="none" strike="noStrike">
              <a:solidFill>
                <a:srgbClr val="FFFFFF"/>
              </a:solidFill>
              <a:latin typeface="Arial"/>
              <a:ea typeface="Arial"/>
              <a:cs typeface="Arial"/>
              <a:sym typeface="Arial"/>
            </a:endParaRPr>
          </a:p>
        </p:txBody>
      </p:sp>
      <p:sp>
        <p:nvSpPr>
          <p:cNvPr id="1091" name="Google Shape;1091;p177"/>
          <p:cNvSpPr txBox="1"/>
          <p:nvPr/>
        </p:nvSpPr>
        <p:spPr>
          <a:xfrm>
            <a:off x="2712986" y="4428329"/>
            <a:ext cx="3715738"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0" lang="en-US" sz="1400" u="none" cap="none" strike="noStrike">
                <a:solidFill>
                  <a:schemeClr val="lt1"/>
                </a:solidFill>
                <a:latin typeface="Arial"/>
                <a:ea typeface="Arial"/>
                <a:cs typeface="Arial"/>
                <a:sym typeface="Arial"/>
              </a:rPr>
              <a:t>(Lc 24, 1-12)</a:t>
            </a:r>
            <a:endParaRPr/>
          </a:p>
        </p:txBody>
      </p:sp>
      <p:sp>
        <p:nvSpPr>
          <p:cNvPr id="1092" name="Google Shape;1092;p177"/>
          <p:cNvSpPr txBox="1"/>
          <p:nvPr/>
        </p:nvSpPr>
        <p:spPr>
          <a:xfrm>
            <a:off x="-2" y="0"/>
            <a:ext cx="9141714" cy="1047749"/>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000" u="none" cap="none" strike="noStrike">
                <a:solidFill>
                  <a:srgbClr val="FF0000"/>
                </a:solidFill>
                <a:latin typeface="Arial"/>
                <a:ea typeface="Arial"/>
                <a:cs typeface="Arial"/>
                <a:sym typeface="Arial"/>
              </a:rPr>
              <a:t>THỨ BẢY TUẦN THÁNH</a:t>
            </a:r>
            <a:endParaRPr/>
          </a:p>
        </p:txBody>
      </p:sp>
    </p:spTree>
  </p:cSld>
  <p:clrMapOvr>
    <a:masterClrMapping/>
  </p:clrMapOvr>
  <p:transition spd="slow" p14:dur="800">
    <p:circle/>
  </p:transition>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78"/>
          <p:cNvSpPr txBox="1"/>
          <p:nvPr>
            <p:ph type="ctrTitle"/>
          </p:nvPr>
        </p:nvSpPr>
        <p:spPr>
          <a:xfrm>
            <a:off x="609600" y="1137744"/>
            <a:ext cx="7848600" cy="29580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700">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VÌ CHÚA ĐÃ</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PHỤC SINH</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Thái Nguyên)</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7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1. Vì Chúa đã phục sinh nên con thấy mình chẳng lo sợ chi, dẫu cuộc đời còn bao trắc trở bao dang dở</a:t>
            </a:r>
            <a:endParaRPr b="1" sz="7200">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18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bao thờ ơ. Vì Chúa đã phục sinh nên con an tâm giữa bao nguy nàn,</a:t>
            </a:r>
            <a:endParaRPr b="1" sz="8000">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18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trong cảnh cơ hàn hay những lầm than cho con vững vàng dù đời gian nan.</a:t>
            </a:r>
            <a:endParaRPr b="1" sz="8000">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18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Vì Chúa đã phục sinh nên con tin vào quyền năng sự sống sẽ đem lại</a:t>
            </a:r>
            <a:endParaRPr b="1" sz="8000">
              <a:latin typeface="Times"/>
              <a:ea typeface="Times"/>
              <a:cs typeface="Times"/>
              <a:sym typeface="Time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18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cho con người đang khát vọng một sự thần sống linh. Vì Chúa đã phục sinh</a:t>
            </a:r>
            <a:endParaRPr b="1" sz="8000">
              <a:latin typeface="Times"/>
              <a:ea typeface="Times"/>
              <a:cs typeface="Times"/>
              <a:sym typeface="Times"/>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18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nên con tin vào tình yêu của Ngài sẽ đổi mới thế gian này, đổi mới mọi sự từ đây.</a:t>
            </a:r>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8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2. Vì Chúa đã phục sinh nên con sẵn sàng hiến dâng cuộc sống, để phụng thờ Ngài trên tất cả không</a:t>
            </a:r>
            <a:endParaRPr b="1" sz="7200">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18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 sa ngã theo trần gian. Vì Chúa đã phục sinh nên con luôn tin Chúa luôn</a:t>
            </a:r>
            <a:endParaRPr b="1" sz="8000">
              <a:latin typeface="Times"/>
              <a:ea typeface="Times"/>
              <a:cs typeface="Times"/>
              <a:sym typeface="Times"/>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18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hiện diện, đang sống động trong cõi lòng con như trong hết mọi người tìm kiếm Chúa.</a:t>
            </a:r>
            <a:endParaRPr b="1" sz="7200">
              <a:latin typeface="Times"/>
              <a:ea typeface="Times"/>
              <a:cs typeface="Times"/>
              <a:sym typeface="Times"/>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18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Vì Chúa đã phục sinh nên con tin vào quyền năng sự sống sẽ đem lại</a:t>
            </a:r>
            <a:endParaRPr b="1" sz="8000">
              <a:latin typeface="Times"/>
              <a:ea typeface="Times"/>
              <a:cs typeface="Times"/>
              <a:sym typeface="Times"/>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8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cho con người đang khát vọng một sự thần sống linh. Vì Chúa đã phục sinh</a:t>
            </a:r>
            <a:endParaRPr b="1" sz="8000">
              <a:latin typeface="Times"/>
              <a:ea typeface="Times"/>
              <a:cs typeface="Times"/>
              <a:sym typeface="Times"/>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19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nên con tin vào tình yêu của Ngài sẽ đổi mới thế gian này, đổi mới mọi sự từ đây.</a:t>
            </a:r>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19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3. Vì Chúa đã phục sinh nên con hết lòng đổi thay cuộc sống, sống cho từng người đang thống khổ</a:t>
            </a:r>
            <a:endParaRPr b="1" sz="7200">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19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đem an ủi đem niềm vui. Vì Chúa đã phục sinh nên con hăng say dấn thân quên mình</a:t>
            </a:r>
            <a:endParaRPr b="1" sz="7500">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9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xây đắp an bình cho khắp mọi nơi con vui sống đời phục vụ yêu thương.</a:t>
            </a:r>
            <a:endParaRPr b="1" sz="7500">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19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Vì Chúa đã phục sinh nên con tin vào quyền năng sự sống sẽ đem lại</a:t>
            </a:r>
            <a:endParaRPr b="1" sz="8000">
              <a:latin typeface="Times"/>
              <a:ea typeface="Times"/>
              <a:cs typeface="Times"/>
              <a:sym typeface="Time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19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cho con người đang khát vọng một sự thần sống linh. Vì Chúa đã phục sinh</a:t>
            </a:r>
            <a:endParaRPr b="1" sz="8000">
              <a:latin typeface="Times"/>
              <a:ea typeface="Times"/>
              <a:cs typeface="Times"/>
              <a:sym typeface="Time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19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nên con tin vào tình yêu của Ngài sẽ đổi mới thế gian này, đổi mới mọi sự từ đây.</a:t>
            </a:r>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19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4. Vì Chúa đã phục sinh nên con hết tình sống trong mọi lúc, biết can trường vượt qua cám dỗ</a:t>
            </a:r>
            <a:endParaRPr b="1" sz="7200">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19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gian khổ hay sầu đau. Vì Chúa đã phục sinh nên con hy sinh chết đi cho mình,</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9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tin có ngày thân xác phục sinh trong ơn cứu độ ngàn đời quang vinh.</a:t>
            </a:r>
            <a:endParaRPr b="1" sz="7500">
              <a:latin typeface="Times"/>
              <a:ea typeface="Times"/>
              <a:cs typeface="Times"/>
              <a:sym typeface="Times"/>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20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ĐK. Vì Chúa đã phục sinh nên con tin vào quyền năng sự sống sẽ đem lại</a:t>
            </a:r>
            <a:endParaRPr b="1" sz="8000">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20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000"/>
              <a:buFont typeface="Times"/>
              <a:buNone/>
            </a:pPr>
            <a:r>
              <a:rPr b="1" lang="en-US" sz="8000">
                <a:latin typeface="Times"/>
                <a:ea typeface="Times"/>
                <a:cs typeface="Times"/>
                <a:sym typeface="Times"/>
              </a:rPr>
              <a:t>cho con người đang khát vọng một sự thần sống linh. Vì Chúa đã phục sinh</a:t>
            </a:r>
            <a:endParaRPr b="1" sz="8000">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20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500"/>
              <a:buFont typeface="Times"/>
              <a:buNone/>
            </a:pPr>
            <a:r>
              <a:rPr b="1" lang="en-US" sz="7500">
                <a:latin typeface="Times"/>
                <a:ea typeface="Times"/>
                <a:cs typeface="Times"/>
                <a:sym typeface="Times"/>
              </a:rPr>
              <a:t>nên con tin vào tình yêu của Ngài sẽ đổi mới thế gian này, đổi mới mọi sự từ đây.</a:t>
            </a:r>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6" name="Shape 1246"/>
        <p:cNvGrpSpPr/>
        <p:nvPr/>
      </p:nvGrpSpPr>
      <p:grpSpPr>
        <a:xfrm>
          <a:off x="0" y="0"/>
          <a:ext cx="0" cy="0"/>
          <a:chOff x="0" y="0"/>
          <a:chExt cx="0" cy="0"/>
        </a:xfrm>
      </p:grpSpPr>
      <p:sp>
        <p:nvSpPr>
          <p:cNvPr id="1247" name="Google Shape;1247;p203"/>
          <p:cNvSpPr txBox="1"/>
          <p:nvPr/>
        </p:nvSpPr>
        <p:spPr>
          <a:xfrm>
            <a:off x="2286" y="1998709"/>
            <a:ext cx="9141714" cy="1155725"/>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600" u="none" cap="none" strike="noStrike">
                <a:solidFill>
                  <a:srgbClr val="FFFFFF"/>
                </a:solidFill>
                <a:latin typeface="Arial"/>
                <a:ea typeface="Arial"/>
                <a:cs typeface="Arial"/>
                <a:sym typeface="Arial"/>
              </a:rPr>
              <a:t>CANH THỨC VƯỢT QUA</a:t>
            </a:r>
            <a:endParaRPr b="1" i="0" sz="6600" u="none" cap="none" strike="noStrike">
              <a:solidFill>
                <a:srgbClr val="FFFFFF"/>
              </a:solidFill>
              <a:latin typeface="Arial"/>
              <a:ea typeface="Arial"/>
              <a:cs typeface="Arial"/>
              <a:sym typeface="Arial"/>
            </a:endParaRPr>
          </a:p>
        </p:txBody>
      </p:sp>
      <p:sp>
        <p:nvSpPr>
          <p:cNvPr id="1248" name="Google Shape;1248;p203"/>
          <p:cNvSpPr txBox="1"/>
          <p:nvPr/>
        </p:nvSpPr>
        <p:spPr>
          <a:xfrm>
            <a:off x="2288" y="3066371"/>
            <a:ext cx="9141712" cy="174431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800" u="none" cap="none" strike="noStrike">
                <a:solidFill>
                  <a:srgbClr val="FFFFFF"/>
                </a:solidFill>
                <a:latin typeface="Arial"/>
                <a:ea typeface="Arial"/>
                <a:cs typeface="Arial"/>
                <a:sym typeface="Arial"/>
              </a:rPr>
              <a:t>“Tại sao các bà tìm người sống </a:t>
            </a:r>
            <a:br>
              <a:rPr b="1" i="1" lang="en-US" sz="4800" u="none" cap="none" strike="noStrike">
                <a:solidFill>
                  <a:srgbClr val="FFFFFF"/>
                </a:solidFill>
                <a:latin typeface="Arial"/>
                <a:ea typeface="Arial"/>
                <a:cs typeface="Arial"/>
                <a:sym typeface="Arial"/>
              </a:rPr>
            </a:br>
            <a:r>
              <a:rPr b="1" i="1" lang="en-US" sz="4800" u="none" cap="none" strike="noStrike">
                <a:solidFill>
                  <a:srgbClr val="FFFFFF"/>
                </a:solidFill>
                <a:latin typeface="Arial"/>
                <a:ea typeface="Arial"/>
                <a:cs typeface="Arial"/>
                <a:sym typeface="Arial"/>
              </a:rPr>
              <a:t>nơi những kẻ chết?”</a:t>
            </a:r>
            <a:endParaRPr b="1" i="1" sz="4800" u="none" cap="none" strike="noStrike">
              <a:solidFill>
                <a:srgbClr val="FFFFFF"/>
              </a:solidFill>
              <a:latin typeface="Arial"/>
              <a:ea typeface="Arial"/>
              <a:cs typeface="Arial"/>
              <a:sym typeface="Arial"/>
            </a:endParaRPr>
          </a:p>
        </p:txBody>
      </p:sp>
      <p:sp>
        <p:nvSpPr>
          <p:cNvPr id="1249" name="Google Shape;1249;p203"/>
          <p:cNvSpPr txBox="1"/>
          <p:nvPr/>
        </p:nvSpPr>
        <p:spPr>
          <a:xfrm>
            <a:off x="2712986" y="4428329"/>
            <a:ext cx="3715738"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0" lang="en-US" sz="1400" u="none" cap="none" strike="noStrike">
                <a:solidFill>
                  <a:schemeClr val="lt1"/>
                </a:solidFill>
                <a:latin typeface="Arial"/>
                <a:ea typeface="Arial"/>
                <a:cs typeface="Arial"/>
                <a:sym typeface="Arial"/>
              </a:rPr>
              <a:t>(Lc 24, 1-12)</a:t>
            </a:r>
            <a:endParaRPr/>
          </a:p>
        </p:txBody>
      </p:sp>
      <p:sp>
        <p:nvSpPr>
          <p:cNvPr id="1250" name="Google Shape;1250;p203"/>
          <p:cNvSpPr txBox="1"/>
          <p:nvPr/>
        </p:nvSpPr>
        <p:spPr>
          <a:xfrm>
            <a:off x="-2" y="0"/>
            <a:ext cx="9141714" cy="1047749"/>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000" u="none" cap="none" strike="noStrike">
                <a:solidFill>
                  <a:srgbClr val="FF0000"/>
                </a:solidFill>
                <a:latin typeface="Arial"/>
                <a:ea typeface="Arial"/>
                <a:cs typeface="Arial"/>
                <a:sym typeface="Arial"/>
              </a:rPr>
              <a:t>THỨ BẢY TUẦN THÁNH</a:t>
            </a:r>
            <a:endParaRPr/>
          </a:p>
        </p:txBody>
      </p:sp>
    </p:spTree>
  </p:cSld>
  <p:clrMapOvr>
    <a:masterClrMapping/>
  </p:clrMapOvr>
  <p:transition spd="slow" p14:dur="800">
    <p:circle/>
  </p:transition>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204"/>
          <p:cNvSpPr txBox="1"/>
          <p:nvPr>
            <p:ph type="ctrTitle"/>
          </p:nvPr>
        </p:nvSpPr>
        <p:spPr>
          <a:xfrm>
            <a:off x="609600" y="1137744"/>
            <a:ext cx="7848600" cy="2407163"/>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CHÚA PHỤC SINH</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Kim Long)</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20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ĐK. Chúa nay thực đã phục sinh. Al-lê-lu-ia Al-lê-lu-ia.</a:t>
            </a:r>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20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1. Người từ trong kẻ chết sống lại. Al-lê-lu-ia, Al-lê-lu-ia. Và niềm vui tràn lan nơi nơi.</a:t>
            </a:r>
            <a:endParaRPr b="1" sz="7200">
              <a:latin typeface="Times"/>
              <a:ea typeface="Times"/>
              <a:cs typeface="Times"/>
              <a:sym typeface="Times"/>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20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7200"/>
              <a:buFont typeface="Times"/>
              <a:buNone/>
            </a:pPr>
            <a:r>
              <a:rPr b="1" lang="en-US" sz="7200">
                <a:latin typeface="Times"/>
                <a:ea typeface="Times"/>
                <a:cs typeface="Times"/>
                <a:sym typeface="Times"/>
              </a:rPr>
              <a:t>ĐK. Chúa nay thực đã phục sinh. Al-lê-lu-ia Al-lê-lu-ia.</a:t>
            </a:r>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8" name="Shape 1278"/>
        <p:cNvGrpSpPr/>
        <p:nvPr/>
      </p:nvGrpSpPr>
      <p:grpSpPr>
        <a:xfrm>
          <a:off x="0" y="0"/>
          <a:ext cx="0" cy="0"/>
          <a:chOff x="0" y="0"/>
          <a:chExt cx="0" cy="0"/>
        </a:xfrm>
      </p:grpSpPr>
      <p:sp>
        <p:nvSpPr>
          <p:cNvPr id="1279" name="Google Shape;1279;p208"/>
          <p:cNvSpPr txBox="1"/>
          <p:nvPr/>
        </p:nvSpPr>
        <p:spPr>
          <a:xfrm>
            <a:off x="2286" y="1998709"/>
            <a:ext cx="9141714" cy="1155725"/>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600" u="none" cap="none" strike="noStrike">
                <a:solidFill>
                  <a:srgbClr val="FFFFFF"/>
                </a:solidFill>
                <a:latin typeface="Arial"/>
                <a:ea typeface="Arial"/>
                <a:cs typeface="Arial"/>
                <a:sym typeface="Arial"/>
              </a:rPr>
              <a:t>CANH THỨC VƯỢT QUA</a:t>
            </a:r>
            <a:endParaRPr b="1" i="0" sz="6600" u="none" cap="none" strike="noStrike">
              <a:solidFill>
                <a:srgbClr val="FFFFFF"/>
              </a:solidFill>
              <a:latin typeface="Arial"/>
              <a:ea typeface="Arial"/>
              <a:cs typeface="Arial"/>
              <a:sym typeface="Arial"/>
            </a:endParaRPr>
          </a:p>
        </p:txBody>
      </p:sp>
      <p:sp>
        <p:nvSpPr>
          <p:cNvPr id="1280" name="Google Shape;1280;p208"/>
          <p:cNvSpPr txBox="1"/>
          <p:nvPr/>
        </p:nvSpPr>
        <p:spPr>
          <a:xfrm>
            <a:off x="2288" y="3066371"/>
            <a:ext cx="9141712" cy="1744316"/>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1" lang="en-US" sz="4800" u="none" cap="none" strike="noStrike">
                <a:solidFill>
                  <a:srgbClr val="FFFFFF"/>
                </a:solidFill>
                <a:latin typeface="Arial"/>
                <a:ea typeface="Arial"/>
                <a:cs typeface="Arial"/>
                <a:sym typeface="Arial"/>
              </a:rPr>
              <a:t>“Tại sao các bà tìm người sống </a:t>
            </a:r>
            <a:br>
              <a:rPr b="1" i="1" lang="en-US" sz="4800" u="none" cap="none" strike="noStrike">
                <a:solidFill>
                  <a:srgbClr val="FFFFFF"/>
                </a:solidFill>
                <a:latin typeface="Arial"/>
                <a:ea typeface="Arial"/>
                <a:cs typeface="Arial"/>
                <a:sym typeface="Arial"/>
              </a:rPr>
            </a:br>
            <a:r>
              <a:rPr b="1" i="1" lang="en-US" sz="4800" u="none" cap="none" strike="noStrike">
                <a:solidFill>
                  <a:srgbClr val="FFFFFF"/>
                </a:solidFill>
                <a:latin typeface="Arial"/>
                <a:ea typeface="Arial"/>
                <a:cs typeface="Arial"/>
                <a:sym typeface="Arial"/>
              </a:rPr>
              <a:t>nơi những kẻ chết?”</a:t>
            </a:r>
            <a:endParaRPr b="1" i="1" sz="4800" u="none" cap="none" strike="noStrike">
              <a:solidFill>
                <a:srgbClr val="FFFFFF"/>
              </a:solidFill>
              <a:latin typeface="Arial"/>
              <a:ea typeface="Arial"/>
              <a:cs typeface="Arial"/>
              <a:sym typeface="Arial"/>
            </a:endParaRPr>
          </a:p>
        </p:txBody>
      </p:sp>
      <p:sp>
        <p:nvSpPr>
          <p:cNvPr id="1281" name="Google Shape;1281;p208"/>
          <p:cNvSpPr txBox="1"/>
          <p:nvPr/>
        </p:nvSpPr>
        <p:spPr>
          <a:xfrm>
            <a:off x="2712986" y="4428329"/>
            <a:ext cx="3715738" cy="382358"/>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None/>
            </a:pPr>
            <a:r>
              <a:rPr b="1" i="0" lang="en-US" sz="1400" u="none" cap="none" strike="noStrike">
                <a:solidFill>
                  <a:schemeClr val="lt1"/>
                </a:solidFill>
                <a:latin typeface="Arial"/>
                <a:ea typeface="Arial"/>
                <a:cs typeface="Arial"/>
                <a:sym typeface="Arial"/>
              </a:rPr>
              <a:t>(Lc 24, 1-12)</a:t>
            </a:r>
            <a:endParaRPr/>
          </a:p>
        </p:txBody>
      </p:sp>
      <p:sp>
        <p:nvSpPr>
          <p:cNvPr id="1282" name="Google Shape;1282;p208"/>
          <p:cNvSpPr txBox="1"/>
          <p:nvPr/>
        </p:nvSpPr>
        <p:spPr>
          <a:xfrm>
            <a:off x="-2" y="0"/>
            <a:ext cx="9141714" cy="1047749"/>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b="1" i="0" lang="en-US" sz="6000" u="none" cap="none" strike="noStrike">
                <a:solidFill>
                  <a:srgbClr val="FF0000"/>
                </a:solidFill>
                <a:latin typeface="Arial"/>
                <a:ea typeface="Arial"/>
                <a:cs typeface="Arial"/>
                <a:sym typeface="Arial"/>
              </a:rPr>
              <a:t>THỨ BẢY TUẦN THÁNH</a:t>
            </a:r>
            <a:endParaRPr/>
          </a:p>
        </p:txBody>
      </p:sp>
    </p:spTree>
  </p:cSld>
  <p:clrMapOvr>
    <a:masterClrMapping/>
  </p:clrMapOvr>
  <p:transition spd="slow" p14:dur="800">
    <p:circle/>
  </p:transition>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dc:creator>Hung Nam</dc:creator>
</cp:coreProperties>
</file>