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63" roundtripDataSignature="AMtx7mhEPc0Fh+obWfk6cZYB5PmVip+u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163" Type="http://customschemas.google.com/relationships/presentationmetadata" Target="metadata"/><Relationship Id="rId162" Type="http://schemas.openxmlformats.org/officeDocument/2006/relationships/slide" Target="slides/slide157.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5c12958b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a5c12958b4_0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2db90474b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3b2db90474b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1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42a8b53c1_2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g3a42a8b53c1_2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224b7d20a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3b224b7d20a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42a8b53c1_2_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g3a42a8b53c1_2_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224b7d20a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g3b224b7d20a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42a8b53c1_2_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g3a42a8b53c1_2_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a42a8b53c1_2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g3a42a8b53c1_2_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b2db90474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3b2db90474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2db90474b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g3b2db90474b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2db90474b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g3b2db90474b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b2db90474b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3b2db90474b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b2db90474b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g3b2db90474b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b35ee3e25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3b35ee3e25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b35ee3e253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g3b35ee3e253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278" name="Google Shape;278;g3b35ee3e253_0_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b35ee3e253_0_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b35ee3e253_0_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284" name="Google Shape;284;g3b35ee3e253_0_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b35ee3e253_0_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b35ee3e253_0_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290" name="Google Shape;290;g3b35ee3e253_0_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35ee3e253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g3b35ee3e253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296" name="Google Shape;296;g3b35ee3e253_0_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b35ee3e253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3b35ee3e253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02" name="Google Shape;302;g3b35ee3e253_0_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b35ee3e253_0_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b35ee3e253_0_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08" name="Google Shape;308;g3b35ee3e253_0_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b35ee3e253_0_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3b35ee3e253_0_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14" name="Google Shape;314;g3b35ee3e253_0_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b35ee3e25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b35ee3e25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20" name="Google Shape;320;g3b35ee3e253_0_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b35ee3e253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g3b35ee3e253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26" name="Google Shape;326;g3b35ee3e253_0_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b35ee3e253_0_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3b35ee3e253_0_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32" name="Google Shape;332;g3b35ee3e253_0_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b35ee3e253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b35ee3e253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38" name="Google Shape;338;g3b35ee3e253_0_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b35ee3e253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3b35ee3e253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44" name="Google Shape;344;g3b35ee3e253_0_6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b35ee3e253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3b35ee3e253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350" name="Google Shape;350;g3b35ee3e253_0_6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b2db90474b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5" name="Google Shape;355;g3b2db90474b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g3a42a8b53c1_2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b224b7d20a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9" name="Google Shape;379;g3b224b7d20a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b224b7d20a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g3b224b7d20a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9" name="Google Shape;389;g3a42a8b53c1_2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b2db90474b_0_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g3b2db90474b_0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a42a8b53c1_2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g3a42a8b53c1_2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b224b7d20a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g3b224b7d20a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b224b7d20a_0_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9" name="Google Shape;409;g3b224b7d20a_0_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b2db90474b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g3b2db90474b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b2db90474b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 name="Google Shape;419;g3b2db90474b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b224b7d20a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4" name="Google Shape;424;g3b224b7d20a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b224b7d20a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g3b224b7d20a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b224b7d20a_0_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g3b224b7d20a_0_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b2db90474b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g3b2db90474b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b2db90474b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g3b2db90474b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b2db90474b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 name="Google Shape;449;g3b2db90474b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b2db90474b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4" name="Google Shape;454;g3b2db90474b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b2db90474b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g3b2db90474b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b2db90474b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4" name="Google Shape;464;g3b2db90474b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b2db90474b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9" name="Google Shape;469;g3b2db90474b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4" name="Google Shape;474;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1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2" name="Google Shape;492;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p1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b2db90474b_0_2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g3b2db90474b_0_2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b35ee3e253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g3b35ee3e253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b35ee3e253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4" name="Google Shape;514;g3b35ee3e253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b35ee3e253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g3b35ee3e253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b35ee3e253_0_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4" name="Google Shape;524;g3b35ee3e253_0_1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b35ee3e253_0_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g3b35ee3e253_0_1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b35ee3e253_0_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4" name="Google Shape;534;g3b35ee3e253_0_1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b35ee3e253_0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g3b35ee3e253_0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b35ee3e253_0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4" name="Google Shape;544;g3b35ee3e253_0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b35ee3e253_0_1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9" name="Google Shape;549;g3b35ee3e253_0_1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b35ee3e253_0_1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4" name="Google Shape;554;g3b35ee3e253_0_1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b35ee3e253_0_1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9" name="Google Shape;559;g3b35ee3e253_0_1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b35ee3e253_0_1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4" name="Google Shape;564;g3b35ee3e253_0_1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b35ee3e253_0_1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9" name="Google Shape;569;g3b35ee3e253_0_1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b35ee3e253_0_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g3b35ee3e253_0_2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b35ee3e253_0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g3b35ee3e253_0_2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b35ee3e253_0_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4" name="Google Shape;584;g3b35ee3e253_0_2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b35ee3e253_0_2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9" name="Google Shape;589;g3b35ee3e253_0_2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b35ee3e253_0_2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4" name="Google Shape;594;g3b35ee3e253_0_2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b35ee3e253_0_2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9" name="Google Shape;599;g3b35ee3e253_0_2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b35ee3e253_0_2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4" name="Google Shape;604;g3b35ee3e253_0_2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b35ee3e253_0_2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9" name="Google Shape;609;g3b35ee3e253_0_2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b2db90474b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4" name="Google Shape;614;g3b2db90474b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9" name="Google Shape;619;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4" name="Google Shape;624;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9" name="Google Shape;629;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4" name="Google Shape;634;p1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9" name="Google Shape;639;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4" name="Google Shape;644;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a42a8b53c1_2_2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g3a42a8b53c1_2_2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a42a8b53c1_2_2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4" name="Google Shape;654;g3a42a8b53c1_2_2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p1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b2db90474b_0_2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4" name="Google Shape;664;g3b2db90474b_0_2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b2db90474b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g3b2db90474b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4" name="Google Shape;684;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9" name="Google Shape;689;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4" name="Google Shape;694;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4" name="Google Shape;704;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5" name="Google Shape;725;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0" name="Google Shape;730;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a42a8b53c1_2_2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0" name="Google Shape;740;g3a42a8b53c1_2_2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a42a8b53c1_2_3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g3a42a8b53c1_2_3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1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b2db90474b_0_2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g3b2db90474b_0_2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b2db90474b_0_3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g3b2db90474b_0_3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b2db90474b_0_3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g3b2db90474b_0_3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b2db90474b_0_3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g3b2db90474b_0_3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b2db90474b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g3b2db90474b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b2db90474b_0_3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b2db90474b_0_3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b2db90474b_0_3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b2db90474b_0_3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b2db90474b_0_3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g3b2db90474b_0_3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b2db90474b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g3b2db90474b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b224b7d20a_0_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g3b224b7d20a_0_2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b026dfa84c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g3b026dfa84c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b026dfa84c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g3b026dfa84c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b2db90474b_0_3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g3b2db90474b_0_3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b2db90474b_0_3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g3b2db90474b_0_3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b2db90474b_0_3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g3b2db90474b_0_3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b026dfa84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g3b026dfa84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b224b7d20a_0_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g3b224b7d20a_0_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b2db90474b_0_3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g3b2db90474b_0_3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b2db90474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b2db90474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b2db90474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g3b2db90474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b2db90474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b2db90474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b2db90474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b2db90474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b2db90474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b2db90474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b2db90474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b2db90474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b2db90474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b2db90474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b2db90474b_0_4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b2db90474b_0_4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b2db90474b_0_4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b2db90474b_0_4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b2db90474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b2db90474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6.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3.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4.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a5c12958b4_0_0"/>
          <p:cNvPicPr preferRelativeResize="0"/>
          <p:nvPr/>
        </p:nvPicPr>
        <p:blipFill>
          <a:blip r:embed="rId3">
            <a:alphaModFix/>
          </a:blip>
          <a:stretch>
            <a:fillRect/>
          </a:stretch>
        </p:blipFill>
        <p:spPr>
          <a:xfrm>
            <a:off x="0" y="0"/>
            <a:ext cx="9143997" cy="513456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FF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15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r>
              <a:rPr b="1" lang="en-US" sz="7200">
                <a:solidFill>
                  <a:schemeClr val="lt1"/>
                </a:solidFill>
                <a:latin typeface="Times New Roman"/>
                <a:ea typeface="Times New Roman"/>
                <a:cs typeface="Times New Roman"/>
                <a:sym typeface="Times New Roman"/>
              </a:rPr>
              <a:t>chịu chết</a:t>
            </a:r>
            <a:r>
              <a:rPr b="1" lang="en-US" sz="7200">
                <a:solidFill>
                  <a:schemeClr val="lt1"/>
                </a:solidFill>
                <a:latin typeface="Times New Roman"/>
                <a:ea typeface="Times New Roman"/>
                <a:cs typeface="Times New Roman"/>
                <a:sym typeface="Times New Roman"/>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g3b2db90474b_0_1"/>
          <p:cNvPicPr preferRelativeResize="0"/>
          <p:nvPr/>
        </p:nvPicPr>
        <p:blipFill>
          <a:blip r:embed="rId3">
            <a:alphaModFix/>
          </a:blip>
          <a:stretch>
            <a:fillRect/>
          </a:stretch>
        </p:blipFill>
        <p:spPr>
          <a:xfrm>
            <a:off x="0" y="0"/>
            <a:ext cx="9143997" cy="513456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lt1"/>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TRỜI HÂN HOAN</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a42a8b53c1_2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ÐK: </a:t>
            </a:r>
            <a:r>
              <a:rPr b="1" lang="en-US" sz="8000">
                <a:solidFill>
                  <a:schemeClr val="lt1"/>
                </a:solidFill>
                <a:latin typeface="Times New Roman"/>
                <a:ea typeface="Times New Roman"/>
                <a:cs typeface="Times New Roman"/>
                <a:sym typeface="Times New Roman"/>
              </a:rPr>
              <a:t>Trời hân hoan đất tưng bừng vui ca.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b224b7d20a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Này giờ Con Chúa, Ðấng Cứu Tinh đã sinh ra.</a:t>
            </a:r>
            <a:endParaRPr b="1" sz="8000">
              <a:solidFill>
                <a:srgbClr val="FFFF00"/>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a42a8b53c1_2_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 non cao tới khơi ngàn bao la.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b224b7d20a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người hoan chúc đón tin vui thái hòa.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a42a8b53c1_2_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2</a:t>
            </a:r>
            <a:r>
              <a:rPr b="1" lang="en-US" sz="7200">
                <a:solidFill>
                  <a:srgbClr val="FFFF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Một Hài Nhi sinh hạ cho chúng ta,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một Trẻ Thơ Chúa ân ban cho nhân trần.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a42a8b53c1_2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Mừng vui lên muôn người trong khắp nơi, vì hôm nay Chúa viếng thăm dân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b2db90474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ÐK: </a:t>
            </a:r>
            <a:r>
              <a:rPr b="1" lang="en-US" sz="8000">
                <a:solidFill>
                  <a:schemeClr val="lt1"/>
                </a:solidFill>
                <a:latin typeface="Times New Roman"/>
                <a:ea typeface="Times New Roman"/>
                <a:cs typeface="Times New Roman"/>
                <a:sym typeface="Times New Roman"/>
              </a:rPr>
              <a:t>Trời hân hoan đất tưng bừng vui ca.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b2db90474b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Này giờ Con Chúa, Ðấng Cứu Tinh đã sinh ra.</a:t>
            </a:r>
            <a:endParaRPr b="1" sz="8000">
              <a:solidFill>
                <a:srgbClr val="FFFF00"/>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b2db90474b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Từ non cao tới khơi ngàn bao la.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b2db90474b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người hoan chúc đón tin vui thái hòa.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g3b2db90474b_0_5"/>
          <p:cNvPicPr preferRelativeResize="0"/>
          <p:nvPr/>
        </p:nvPicPr>
        <p:blipFill>
          <a:blip r:embed="rId3">
            <a:alphaModFix/>
          </a:blip>
          <a:stretch>
            <a:fillRect/>
          </a:stretch>
        </p:blipFill>
        <p:spPr>
          <a:xfrm>
            <a:off x="0" y="0"/>
            <a:ext cx="9143997" cy="513456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b35ee3e253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274" name="Google Shape;274;g3b35ee3e253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b35ee3e253_0_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sp>
        <p:nvSpPr>
          <p:cNvPr id="286" name="Google Shape;286;g3b35ee3e253_0_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b35ee3e253_0_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b35ee3e253_0_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b35ee3e253_0_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b35ee3e253_0_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b35ee3e253_0_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b35ee3e253_0_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b35ee3e253_0_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b35ee3e253_0_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b35ee3e253_0_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3b35ee3e253_0_6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3b35ee3e253_0_6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500">
                <a:solidFill>
                  <a:srgbClr val="FF3399"/>
                </a:solidFill>
                <a:latin typeface="Times"/>
                <a:ea typeface="Times"/>
                <a:cs typeface="Times"/>
                <a:sym typeface="Times"/>
              </a:rPr>
              <a:t>A+B: </a:t>
            </a:r>
            <a:r>
              <a:rPr b="1" lang="en-US" sz="7500">
                <a:solidFill>
                  <a:schemeClr val="lt1"/>
                </a:solidFill>
                <a:latin typeface="Times"/>
                <a:ea typeface="Times"/>
                <a:cs typeface="Times"/>
                <a:sym typeface="Times"/>
              </a:rPr>
              <a:t>Cùng Ðức Chúa Thánh Thần trong vinh quang Ðức Chúa Cha.</a:t>
            </a:r>
            <a:r>
              <a:rPr b="1" lang="en-US" sz="7500">
                <a:latin typeface="Times"/>
                <a:ea typeface="Times"/>
                <a:cs typeface="Times"/>
                <a:sym typeface="Times"/>
              </a:rPr>
              <a:t> </a:t>
            </a:r>
            <a:r>
              <a:rPr b="1" lang="en-US" sz="7500">
                <a:solidFill>
                  <a:schemeClr val="lt1"/>
                </a:solidFill>
                <a:latin typeface="Times"/>
                <a:ea typeface="Times"/>
                <a:cs typeface="Times"/>
                <a:sym typeface="Times"/>
              </a:rPr>
              <a:t>Amen.</a:t>
            </a:r>
            <a:endParaRPr sz="7500">
              <a:solidFill>
                <a:schemeClr val="lt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g3b2db90474b_0_125"/>
          <p:cNvPicPr preferRelativeResize="0"/>
          <p:nvPr/>
        </p:nvPicPr>
        <p:blipFill>
          <a:blip r:embed="rId3">
            <a:alphaModFix/>
          </a:blip>
          <a:stretch>
            <a:fillRect/>
          </a:stretch>
        </p:blipFill>
        <p:spPr>
          <a:xfrm>
            <a:off x="0" y="0"/>
            <a:ext cx="9143997" cy="513456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1" name="Shape 361"/>
        <p:cNvGrpSpPr/>
        <p:nvPr/>
      </p:nvGrpSpPr>
      <p:grpSpPr>
        <a:xfrm>
          <a:off x="0" y="0"/>
          <a:ext cx="0" cy="0"/>
          <a:chOff x="0" y="0"/>
          <a:chExt cx="0" cy="0"/>
        </a:xfrm>
      </p:grpSpPr>
      <p:sp>
        <p:nvSpPr>
          <p:cNvPr id="362" name="Google Shape;362;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3" name="Google Shape;363;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4" name="Google Shape;364;p133"/>
          <p:cNvSpPr/>
          <p:nvPr/>
        </p:nvSpPr>
        <p:spPr>
          <a:xfrm flipH="1" rot="10800000">
            <a:off x="-1733" y="0"/>
            <a:ext cx="6803134" cy="5143179"/>
          </a:xfrm>
          <a:prstGeom prst="rect">
            <a:avLst/>
          </a:prstGeom>
          <a:gradFill>
            <a:gsLst>
              <a:gs pos="0">
                <a:srgbClr val="000000">
                  <a:alpha val="49803"/>
                </a:srgbClr>
              </a:gs>
              <a:gs pos="8000">
                <a:srgbClr val="000000">
                  <a:alpha val="49803"/>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65" name="Google Shape;365;p133"/>
          <p:cNvSpPr/>
          <p:nvPr/>
        </p:nvSpPr>
        <p:spPr>
          <a:xfrm flipH="1" rot="-5400000">
            <a:off x="2737118" y="-1264380"/>
            <a:ext cx="3670923" cy="9145160"/>
          </a:xfrm>
          <a:prstGeom prst="rect">
            <a:avLst/>
          </a:prstGeom>
          <a:gradFill>
            <a:gsLst>
              <a:gs pos="0">
                <a:srgbClr val="9CC2E5">
                  <a:alpha val="0"/>
                </a:srgbClr>
              </a:gs>
              <a:gs pos="100000">
                <a:srgbClr val="000000">
                  <a:alpha val="43921"/>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366" name="Google Shape;366;p133"/>
          <p:cNvPicPr preferRelativeResize="0"/>
          <p:nvPr/>
        </p:nvPicPr>
        <p:blipFill>
          <a:blip r:embed="rId3">
            <a:alphaModFix/>
          </a:blip>
          <a:stretch>
            <a:fillRect/>
          </a:stretch>
        </p:blipFill>
        <p:spPr>
          <a:xfrm>
            <a:off x="-8000" y="-11525"/>
            <a:ext cx="9159352" cy="515534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95</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Thái Nguyên)</a:t>
            </a:r>
            <a:br>
              <a:rPr b="1" i="1" lang="en-US" sz="4700">
                <a:solidFill>
                  <a:srgbClr val="FFD966"/>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(04 câu)</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Hãy ca mừng Thiên Chúa bài ca mới.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g3b224b7d20a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Hỡi toàn thể địa cầu hãy vui mừng.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Hãy ca mừng Thiên Chúa chí tôn.</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b224b7d20a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Hãy chúc tụng hiển danh thánh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Hôm nay Đấng Cứu Thế đã giáng sinh cho nhân loại.</a:t>
            </a:r>
            <a:r>
              <a:rPr b="1" lang="en-US" sz="8000">
                <a:solidFill>
                  <a:schemeClr val="lt1"/>
                </a:solidFill>
                <a:latin typeface="Times New Roman"/>
                <a:ea typeface="Times New Roman"/>
                <a:cs typeface="Times New Roman"/>
                <a:sym typeface="Times New Roman"/>
              </a:rPr>
              <a:t>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b2db90474b_0_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là Đức Ki-tô, Ngài là Chúa chúng ta.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3a42a8b53c1_2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Hãy ca mừng Thiên Chúa Đấng cứu thoát.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g3b224b7d20a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Ngày ngày hãy loan truyền ơn cứu độ. </a:t>
            </a:r>
            <a:r>
              <a:rPr b="1" lang="en-US" sz="7700">
                <a:solidFill>
                  <a:schemeClr val="lt1"/>
                </a:solidFill>
                <a:latin typeface="Times New Roman"/>
                <a:ea typeface="Times New Roman"/>
                <a:cs typeface="Times New Roman"/>
                <a:sym typeface="Times New Roman"/>
              </a:rPr>
              <a:t>Hãy tường thuật vinh quang khắp nơi.</a:t>
            </a:r>
            <a:endParaRPr b="1" sz="77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3b224b7d20a_0_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Tôn vinh Ngài quyền năng giữa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b2db90474b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Hôm nay Đấng Cứu Thế đã giáng sinh cho nhân loại.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b2db90474b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là Đức Ki-tô, Ngài là Chúa chúng ta.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3b224b7d20a_0_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Trời xanh hãy vui mừng! Địa cầu hãy hân hoan.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b224b7d20a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Biển khơi và muôn vật, nào hãy reo lên.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b224b7d20a_0_6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Đồng nội và muôn loài, nào hãy mừng vui.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3b2db90474b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Hôm nay Đấng Cứu Thế đã giáng sinh cho nhân loại.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g3b2db90474b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là Đức Ki-tô, Ngài là Chúa chúng ta.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3b2db90474b_0_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4</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Thiên Chúa Đấng cứu độ, Ngài ngự đến nhân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b2db90474b_0_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ngự đến Ngài cai trị toàn khắp chư dân.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3b2db90474b_0_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Địa cầu là của Ngài, Thiên Chúa toàn năng.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b2db90474b_0_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Hôm nay Đấng Cứu Thế đã giáng sinh cho nhân loại.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3b2db90474b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Ngài là Đức Ki-tô, Ngài là Chúa chúng ta.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5" name="Shape 475"/>
        <p:cNvGrpSpPr/>
        <p:nvPr/>
      </p:nvGrpSpPr>
      <p:grpSpPr>
        <a:xfrm>
          <a:off x="0" y="0"/>
          <a:ext cx="0" cy="0"/>
          <a:chOff x="0" y="0"/>
          <a:chExt cx="0" cy="0"/>
        </a:xfrm>
      </p:grpSpPr>
      <p:sp>
        <p:nvSpPr>
          <p:cNvPr id="476" name="Google Shape;476;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477" name="Google Shape;477;p155"/>
          <p:cNvPicPr preferRelativeResize="0"/>
          <p:nvPr/>
        </p:nvPicPr>
        <p:blipFill>
          <a:blip r:embed="rId3">
            <a:alphaModFix/>
          </a:blip>
          <a:stretch>
            <a:fillRect/>
          </a:stretch>
        </p:blipFill>
        <p:spPr>
          <a:xfrm>
            <a:off x="0" y="-3524"/>
            <a:ext cx="9144003" cy="5143499"/>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56"/>
          <p:cNvSpPr txBox="1"/>
          <p:nvPr>
            <p:ph type="ctrTitle"/>
          </p:nvPr>
        </p:nvSpPr>
        <p:spPr>
          <a:xfrm>
            <a:off x="0" y="535950"/>
            <a:ext cx="9144000" cy="46074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700">
                <a:solidFill>
                  <a:schemeClr val="lt1"/>
                </a:solidFill>
                <a:latin typeface="Times"/>
                <a:ea typeface="Times"/>
                <a:cs typeface="Times"/>
                <a:sym typeface="Times"/>
              </a:rPr>
              <a:t>Ta báo cho anh em đây một Tin Mừng.</a:t>
            </a:r>
            <a:r>
              <a:rPr b="1" lang="en-US" sz="7700">
                <a:solidFill>
                  <a:schemeClr val="lt1"/>
                </a:solidFill>
                <a:latin typeface="Times"/>
                <a:ea typeface="Times"/>
                <a:cs typeface="Times"/>
                <a:sym typeface="Times"/>
              </a:rPr>
              <a:t> </a:t>
            </a:r>
            <a:endParaRPr b="1" i="1" sz="7700">
              <a:solidFill>
                <a:schemeClr val="lt1"/>
              </a:solidFill>
              <a:latin typeface="Times"/>
              <a:ea typeface="Times"/>
              <a:cs typeface="Times"/>
              <a:sym typeface="Times"/>
            </a:endParaRPr>
          </a:p>
        </p:txBody>
      </p:sp>
      <p:sp>
        <p:nvSpPr>
          <p:cNvPr id="484" name="Google Shape;484;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5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Hôm nay Đấng Cứu Thế là Đức Ki-tô. </a:t>
            </a:r>
            <a:endParaRPr b="1" sz="8000">
              <a:solidFill>
                <a:srgbClr val="FFFF00"/>
              </a:solidFill>
              <a:latin typeface="Times"/>
              <a:ea typeface="Times"/>
              <a:cs typeface="Times"/>
              <a:sym typeface="Times"/>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Người đã giáng </a:t>
            </a:r>
            <a:br>
              <a:rPr b="1" lang="en-US" sz="8000">
                <a:solidFill>
                  <a:schemeClr val="lt1"/>
                </a:solidFill>
                <a:latin typeface="Times"/>
                <a:ea typeface="Times"/>
                <a:cs typeface="Times"/>
                <a:sym typeface="Times"/>
              </a:rPr>
            </a:br>
            <a:r>
              <a:rPr b="1" lang="en-US" sz="8000">
                <a:solidFill>
                  <a:schemeClr val="lt1"/>
                </a:solidFill>
                <a:latin typeface="Times"/>
                <a:ea typeface="Times"/>
                <a:cs typeface="Times"/>
                <a:sym typeface="Times"/>
              </a:rPr>
              <a:t>sinh ra cho tất cả chúng ta.</a:t>
            </a:r>
            <a:br>
              <a:rPr b="1" i="1" lang="en-US" sz="8000">
                <a:latin typeface="Times"/>
                <a:ea typeface="Times"/>
                <a:cs typeface="Times"/>
                <a:sym typeface="Times"/>
              </a:rPr>
            </a:br>
            <a:r>
              <a:rPr b="1" i="1" lang="en-US" sz="8000">
                <a:solidFill>
                  <a:srgbClr val="FFFF00"/>
                </a:solidFill>
                <a:latin typeface="Times"/>
                <a:ea typeface="Times"/>
                <a:cs typeface="Times"/>
                <a:sym typeface="Times"/>
              </a:rPr>
              <a:t>All..</a:t>
            </a:r>
            <a:endParaRPr b="1" sz="8000">
              <a:solidFill>
                <a:srgbClr val="FFFF00"/>
              </a:solidFill>
              <a:latin typeface="Times"/>
              <a:ea typeface="Times"/>
              <a:cs typeface="Times"/>
              <a:sym typeface="Times"/>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id="499" name="Google Shape;499;p158" title="Gia-pha-chua-gie-su-4.jpg"/>
          <p:cNvPicPr preferRelativeResize="0"/>
          <p:nvPr/>
        </p:nvPicPr>
        <p:blipFill>
          <a:blip r:embed="rId3">
            <a:alphaModFix/>
          </a:blip>
          <a:stretch>
            <a:fillRect/>
          </a:stretch>
        </p:blipFill>
        <p:spPr>
          <a:xfrm>
            <a:off x="0" y="0"/>
            <a:ext cx="9144003" cy="5175501"/>
          </a:xfrm>
          <a:prstGeom prst="rect">
            <a:avLst/>
          </a:prstGeom>
          <a:noFill/>
          <a:ln>
            <a:noFill/>
          </a:ln>
        </p:spPr>
      </p:pic>
      <p:sp>
        <p:nvSpPr>
          <p:cNvPr id="500" name="Google Shape;500;p158"/>
          <p:cNvSpPr txBox="1"/>
          <p:nvPr/>
        </p:nvSpPr>
        <p:spPr>
          <a:xfrm>
            <a:off x="0" y="0"/>
            <a:ext cx="3543600" cy="5388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en-US" sz="2300" u="sng">
                <a:solidFill>
                  <a:srgbClr val="FF0000"/>
                </a:solidFill>
                <a:latin typeface="Times New Roman"/>
                <a:ea typeface="Times New Roman"/>
                <a:cs typeface="Times New Roman"/>
                <a:sym typeface="Times New Roman"/>
              </a:rPr>
              <a:t>GIA PHẢ CHÚA GIÊ-SU</a:t>
            </a:r>
            <a:endParaRPr b="1" sz="2300" u="sng">
              <a:solidFill>
                <a:srgbClr val="FF0000"/>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pic>
        <p:nvPicPr>
          <p:cNvPr id="505" name="Google Shape;505;g3b2db90474b_0_275"/>
          <p:cNvPicPr preferRelativeResize="0"/>
          <p:nvPr/>
        </p:nvPicPr>
        <p:blipFill>
          <a:blip r:embed="rId3">
            <a:alphaModFix/>
          </a:blip>
          <a:stretch>
            <a:fillRect/>
          </a:stretch>
        </p:blipFill>
        <p:spPr>
          <a:xfrm>
            <a:off x="0" y="0"/>
            <a:ext cx="9143997" cy="5134566"/>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g3b35ee3e253_0_148"/>
          <p:cNvSpPr txBox="1"/>
          <p:nvPr>
            <p:ph type="ctrTitle"/>
          </p:nvPr>
        </p:nvSpPr>
        <p:spPr>
          <a:xfrm>
            <a:off x="0" y="514351"/>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7200"/>
              <a:buFont typeface="Times"/>
              <a:buNone/>
            </a:pPr>
            <a:r>
              <a:rPr b="1" lang="en-US" sz="7500">
                <a:solidFill>
                  <a:schemeClr val="accent4"/>
                </a:solidFill>
                <a:latin typeface="Times"/>
                <a:ea typeface="Times"/>
                <a:cs typeface="Times"/>
                <a:sym typeface="Times"/>
              </a:rPr>
              <a:t>CT: </a:t>
            </a:r>
            <a:r>
              <a:rPr b="1" lang="en-US" sz="7500">
                <a:solidFill>
                  <a:schemeClr val="lt1"/>
                </a:solidFill>
                <a:latin typeface="Times"/>
                <a:ea typeface="Times"/>
                <a:cs typeface="Times"/>
                <a:sym typeface="Times"/>
              </a:rPr>
              <a:t>Tôi tin kính một Thiên Chúa là Cha toàn năng.</a:t>
            </a:r>
            <a:endParaRPr sz="7500"/>
          </a:p>
        </p:txBody>
      </p:sp>
      <p:sp>
        <p:nvSpPr>
          <p:cNvPr id="511" name="Google Shape;511;g3b35ee3e253_0_148"/>
          <p:cNvSpPr txBox="1"/>
          <p:nvPr/>
        </p:nvSpPr>
        <p:spPr>
          <a:xfrm>
            <a:off x="0" y="0"/>
            <a:ext cx="9144000" cy="7380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3b35ee3e253_0_15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Đấng tạo thành trời đất muôn vật hữu hình và vô hình.</a:t>
            </a:r>
            <a:endParaRPr sz="470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g3b35ee3e253_0_15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Tôi tin kính một Chúa Giê-su Ki-tô Con Một Thiên Chúa,</a:t>
            </a:r>
            <a:endParaRPr sz="4700"/>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g3b35ee3e253_0_161"/>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sinh bởi Đức Chúa Cha từ trước muôn đời.</a:t>
            </a:r>
            <a:endParaRPr b="1" sz="7500">
              <a:solidFill>
                <a:schemeClr val="lt1"/>
              </a:solidFill>
              <a:latin typeface="Times"/>
              <a:ea typeface="Times"/>
              <a:cs typeface="Times"/>
              <a:sym typeface="Times"/>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3b35ee3e253_0_16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là Thiên Chúa bởi Thiên Chúa, </a:t>
            </a:r>
            <a:endParaRPr b="1" sz="7500">
              <a:solidFill>
                <a:schemeClr val="lt1"/>
              </a:solidFill>
              <a:latin typeface="Times"/>
              <a:ea typeface="Times"/>
              <a:cs typeface="Times"/>
              <a:sym typeface="Times"/>
            </a:endParaRPr>
          </a:p>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Ánh Sáng bởi Ánh Sáng,</a:t>
            </a:r>
            <a:endParaRPr b="1" sz="7500">
              <a:solidFill>
                <a:schemeClr val="lt1"/>
              </a:solidFill>
              <a:latin typeface="Times"/>
              <a:ea typeface="Times"/>
              <a:cs typeface="Times"/>
              <a:sym typeface="Times"/>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g3b35ee3e253_0_16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Thiên Chúa thật bởi Thiên Chúa Thật </a:t>
            </a:r>
            <a:endParaRPr b="1" sz="7500">
              <a:solidFill>
                <a:schemeClr val="lt1"/>
              </a:solidFill>
              <a:latin typeface="Times"/>
              <a:ea typeface="Times"/>
              <a:cs typeface="Times"/>
              <a:sym typeface="Times"/>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3b35ee3e253_0_17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Được sinh ra mà không phải được tạo thành, </a:t>
            </a:r>
            <a:endParaRPr b="1" sz="7500">
              <a:solidFill>
                <a:schemeClr val="lt1"/>
              </a:solidFill>
              <a:latin typeface="Times"/>
              <a:ea typeface="Times"/>
              <a:cs typeface="Times"/>
              <a:sym typeface="Times"/>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b35ee3e253_0_17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đồng bản thể với Đức Chúa Cha:</a:t>
            </a:r>
            <a:r>
              <a:rPr b="1" lang="en-US" sz="4000">
                <a:solidFill>
                  <a:schemeClr val="lt1"/>
                </a:solidFill>
                <a:latin typeface="Times"/>
                <a:ea typeface="Times"/>
                <a:cs typeface="Times"/>
                <a:sym typeface="Times"/>
              </a:rPr>
              <a:t> </a:t>
            </a:r>
            <a:r>
              <a:rPr b="1" lang="en-US" sz="7500">
                <a:solidFill>
                  <a:schemeClr val="lt1"/>
                </a:solidFill>
                <a:latin typeface="Times"/>
                <a:ea typeface="Times"/>
                <a:cs typeface="Times"/>
                <a:sym typeface="Times"/>
              </a:rPr>
              <a:t>nhờ Người mà muôn vật được tạo thành.</a:t>
            </a:r>
            <a:endParaRPr b="1" sz="7500">
              <a:solidFill>
                <a:schemeClr val="lt1"/>
              </a:solidFill>
              <a:latin typeface="Times"/>
              <a:ea typeface="Times"/>
              <a:cs typeface="Times"/>
              <a:sym typeface="Times"/>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g3b35ee3e253_0_181"/>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Vì loài người chúng ta và để cứu độ chúng ta, Người đã từ trời xuống thế.</a:t>
            </a:r>
            <a:endParaRPr b="1" sz="7500">
              <a:solidFill>
                <a:schemeClr val="lt1"/>
              </a:solidFill>
              <a:latin typeface="Times"/>
              <a:ea typeface="Times"/>
              <a:cs typeface="Times"/>
              <a:sym typeface="Times"/>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3b35ee3e253_0_18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i="1" lang="en-US" sz="6800">
                <a:solidFill>
                  <a:srgbClr val="FFFF00"/>
                </a:solidFill>
                <a:latin typeface="Times"/>
                <a:ea typeface="Times"/>
                <a:cs typeface="Times"/>
                <a:sym typeface="Times"/>
              </a:rPr>
              <a:t>(Mời quỳ)</a:t>
            </a:r>
            <a:r>
              <a:rPr b="1" lang="en-US" sz="6800">
                <a:solidFill>
                  <a:schemeClr val="lt1"/>
                </a:solidFill>
                <a:latin typeface="Times"/>
                <a:ea typeface="Times"/>
                <a:cs typeface="Times"/>
                <a:sym typeface="Times"/>
              </a:rPr>
              <a:t> </a:t>
            </a:r>
            <a:r>
              <a:rPr b="1" lang="en-US" sz="6800">
                <a:solidFill>
                  <a:schemeClr val="accent4"/>
                </a:solidFill>
                <a:latin typeface="Times"/>
                <a:ea typeface="Times"/>
                <a:cs typeface="Times"/>
                <a:sym typeface="Times"/>
              </a:rPr>
              <a:t>Bởi phép Đức Chúa Thánh Thần Người đã nhập thể trong long Trinh Nữ Maria, và đã làm người.</a:t>
            </a:r>
            <a:endParaRPr b="1" sz="6800">
              <a:solidFill>
                <a:schemeClr val="accent4"/>
              </a:solidFill>
              <a:latin typeface="Times"/>
              <a:ea typeface="Times"/>
              <a:cs typeface="Times"/>
              <a:sym typeface="Times"/>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3b35ee3e253_0_18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l">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chịu đóng đinh vào thập giá vì chúng</a:t>
            </a:r>
            <a:br>
              <a:rPr b="1" lang="en-US" sz="7500">
                <a:solidFill>
                  <a:schemeClr val="lt1"/>
                </a:solidFill>
                <a:latin typeface="Times"/>
                <a:ea typeface="Times"/>
                <a:cs typeface="Times"/>
                <a:sym typeface="Times"/>
              </a:rPr>
            </a:br>
            <a:r>
              <a:rPr b="1" lang="en-US" sz="7500">
                <a:solidFill>
                  <a:schemeClr val="lt1"/>
                </a:solidFill>
                <a:latin typeface="Times"/>
                <a:ea typeface="Times"/>
                <a:cs typeface="Times"/>
                <a:sym typeface="Times"/>
              </a:rPr>
              <a:t>ta, Thời quan Phong-xi-ô Phi-la-tô; </a:t>
            </a:r>
            <a:endParaRPr b="1" sz="7500">
              <a:solidFill>
                <a:schemeClr val="lt1"/>
              </a:solidFill>
              <a:latin typeface="Times"/>
              <a:ea typeface="Times"/>
              <a:cs typeface="Times"/>
              <a:sym typeface="Times"/>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3b35ee3e253_0_19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chịu khổ hình và mai táng, ngày thứ ba Người sống lại như lời Thánh Kinh.</a:t>
            </a:r>
            <a:endParaRPr b="1" sz="7500">
              <a:solidFill>
                <a:schemeClr val="lt1"/>
              </a:solidFill>
              <a:latin typeface="Times"/>
              <a:ea typeface="Times"/>
              <a:cs typeface="Times"/>
              <a:sym typeface="Times"/>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g3b35ee3e253_0_19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500">
                <a:solidFill>
                  <a:schemeClr val="lt1"/>
                </a:solidFill>
                <a:latin typeface="Times"/>
                <a:ea typeface="Times"/>
                <a:cs typeface="Times"/>
                <a:sym typeface="Times"/>
              </a:rPr>
              <a:t>Người lên trời, ngự bên hữu Đức Chúa Cha, và Người sẽ lại đến trong vinh quang</a:t>
            </a:r>
            <a:endParaRPr b="1" sz="7500">
              <a:solidFill>
                <a:schemeClr val="lt1"/>
              </a:solidFill>
              <a:latin typeface="Times"/>
              <a:ea typeface="Times"/>
              <a:cs typeface="Times"/>
              <a:sym typeface="Times"/>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3b35ee3e253_0_201"/>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để phán xét kẻ sống và kẻ chết, Nước Người sẽ không bao giờ cùng.</a:t>
            </a:r>
            <a:endParaRPr b="1" sz="7500">
              <a:solidFill>
                <a:schemeClr val="lt1"/>
              </a:solidFill>
              <a:latin typeface="Times"/>
              <a:ea typeface="Times"/>
              <a:cs typeface="Times"/>
              <a:sym typeface="Times"/>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g3b35ee3e253_0_2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Tôi tinh kính Đức Chúa Thánh Thần là Thiên Chúa, và là Đấng ban sự sống,</a:t>
            </a:r>
            <a:endParaRPr b="1" sz="7500">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g3b35ee3e253_0_20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bởi Đức Chúa Cha và Đức Chúa Con mà ra.</a:t>
            </a:r>
            <a:endParaRPr b="1" sz="75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3b35ee3e253_0_21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được phụng thờ và tôn vinh cùng với Đức Chúa Cha và Đức Chúa Con.</a:t>
            </a:r>
            <a:endParaRPr b="1" sz="75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g3b35ee3e253_0_21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Người đã dùng các Tiên tri mà phán dạy.</a:t>
            </a:r>
            <a:endParaRPr b="1" sz="75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b35ee3e253_0_2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Tôi tin Hội Thánh duy nhất, thánh thiện, công giáo và tông truyền.</a:t>
            </a:r>
            <a:endParaRPr b="1" sz="7500">
              <a:solidFill>
                <a:schemeClr val="lt1"/>
              </a:solidFill>
              <a:latin typeface="Times"/>
              <a:ea typeface="Times"/>
              <a:cs typeface="Times"/>
              <a:sym typeface="Time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g3b35ee3e253_0_2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Tôi tuyên xưng có một Phép Rửa để tha tội.</a:t>
            </a:r>
            <a:endParaRPr b="1" sz="75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g3b35ee3e253_0_229"/>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500">
                <a:solidFill>
                  <a:schemeClr val="lt1"/>
                </a:solidFill>
                <a:latin typeface="Times"/>
                <a:ea typeface="Times"/>
                <a:cs typeface="Times"/>
                <a:sym typeface="Times"/>
              </a:rPr>
              <a:t>Tôi trông đợi kẻ chết sống lại và sự sống đời sau. Amen.</a:t>
            </a:r>
            <a:endParaRPr b="1" sz="7500">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pic>
        <p:nvPicPr>
          <p:cNvPr id="616" name="Google Shape;616;g3b2db90474b_0_13"/>
          <p:cNvPicPr preferRelativeResize="0"/>
          <p:nvPr/>
        </p:nvPicPr>
        <p:blipFill>
          <a:blip r:embed="rId3">
            <a:alphaModFix/>
          </a:blip>
          <a:stretch>
            <a:fillRect/>
          </a:stretch>
        </p:blipFill>
        <p:spPr>
          <a:xfrm>
            <a:off x="0" y="0"/>
            <a:ext cx="9143997" cy="5134566"/>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TÂM TÌNH</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HÒA BÌNH</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Mi Trầm)</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g3a42a8b53c1_2_199"/>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Từ đồng xa, mục đồng tiến về hang đá, dâng lên hơi ấm bò lừa,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3a42a8b53c1_2_20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lễ dâng hơi ấm bò lừa. Trời mùa Đông bừng lên ánh sáng hy vọng: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35"/>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Ngôi Hai giáng sinh giữa đồng, làm người đổi mới muôn lòng.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a42a8b53c1_2_210"/>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Với bánh rượu con dâng Ngài, này đây tấm lòng thành kính.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Với bánh rượu con dâng Ngài, này đây tâm tình hoà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g3a42a8b53c1_2_224"/>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Từ miền Đông, Ba Vua quyết tìm lẽ sống, Bê-lem dâng Chúa Hài Đồng: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g3a42a8b53c1_2_228"/>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Vàng hương cùng với mộc dược. Này giờ đây đoàn con dâng lên tâm tình,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137"/>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tôn vinh Chúa thương muôn nghìn, khổ hình dẫn tới Thiên Đình.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b2db90474b_0_286"/>
          <p:cNvSpPr txBox="1"/>
          <p:nvPr>
            <p:ph idx="1" type="subTitle"/>
          </p:nvPr>
        </p:nvSpPr>
        <p:spPr>
          <a:xfrm>
            <a:off x="0" y="0"/>
            <a:ext cx="91440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Với bánh rượu con dâng Ngài, này đây tấm lòng thành kính.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3b2db90474b_0_2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Với bánh rượu con dâng Ngài, này đây tâm tình hoà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pic>
        <p:nvPicPr>
          <p:cNvPr descr="A golden chalice and a cross next to a book&#10;&#10;AI-generated content may be incorrect." id="676" name="Google Shape;676;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pic>
        <p:nvPicPr>
          <p:cNvPr descr="A golden chalice and a cross next to a book&#10;&#10;AI-generated content may be incorrect." id="696" name="Google Shape;696;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pic>
        <p:nvPicPr>
          <p:cNvPr descr="A golden chalice and a cross next to a book&#10;&#10;AI-generated content may be incorrect." id="716" name="Google Shape;716;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a:ea typeface="Times"/>
                <a:cs typeface="Times"/>
                <a:sym typeface="Times"/>
              </a:rPr>
              <a:t>Ngôi Lời đã làm người dưới thế, chúng ta được nhìn thấy vinh quang Người.</a:t>
            </a:r>
            <a:endParaRPr b="1" sz="7000">
              <a:solidFill>
                <a:schemeClr val="lt1"/>
              </a:solidFill>
              <a:latin typeface="Times"/>
              <a:ea typeface="Times"/>
              <a:cs typeface="Times"/>
              <a:sym typeface="Times"/>
            </a:endParaRPr>
          </a:p>
        </p:txBody>
      </p:sp>
      <p:sp>
        <p:nvSpPr>
          <p:cNvPr id="722" name="Google Shape;722;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descr="A gold chalice and two round objects on a plate&#10;&#10;AI-generated content may be incorrect." id="727" name="Google Shape;727;p212"/>
          <p:cNvPicPr preferRelativeResize="0"/>
          <p:nvPr/>
        </p:nvPicPr>
        <p:blipFill rotWithShape="1">
          <a:blip r:embed="rId3">
            <a:alphaModFix/>
          </a:blip>
          <a:srcRect b="0" l="0" r="0" t="0"/>
          <a:stretch/>
        </p:blipFill>
        <p:spPr>
          <a:xfrm>
            <a:off x="0" y="921"/>
            <a:ext cx="9144000" cy="5141658"/>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MÙA ĐÔNG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NĂM ẤY</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(Hoài Đức)</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Mùa Đông năm ấy, sao sáng soi cuối trời.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g3a42a8b53c1_2_2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Mùa Đông năm ấy, Con Chúa sinh xuống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42a8b53c1_2_3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Nhịp ca véo von bao thiên thần vang hát, tôn thờ Ngôi Hai giáng sinh trần ai.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Con hợp với thiên thần hoà vang câu hát: Con hợp với thiên thần hoà vang câu hát.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3b2db90474b_0_2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Mừng sinh nhật Chúa vinh quang. Mừng sinh nhật Đấng yêu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g3b2db90474b_0_3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sinh nhật từ ái sáng như công bình.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g3b2db90474b_0_3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Mùa Đông năm ấy, vui tiếng ca nhịp nhàng.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g3b2db90474b_0_3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Mùa Đông năm ấy, theo ánh sao huy hoàng.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b2db90474b_0_3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Tìm hang Bê-lem những mục đồng mau bước,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b2db90474b_0_3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tôn thờ Ngôi Hai giáng sinh trần ai. Con hợp với mục đồng cùng thờ lạy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3b2db90474b_0_3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Con hợp với mục đồng cùng thờ lạy Chúa. Mừng sinh nhật Đấng Cứu Tinh,</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g3b2db90474b_0_3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mừng sinh nhật Đấng uy linh, sinh nhật ngày Chúa xuống ơn thái bình.</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pic>
        <p:nvPicPr>
          <p:cNvPr id="797" name="Google Shape;797;g3b2db90474b_0_17"/>
          <p:cNvPicPr preferRelativeResize="0"/>
          <p:nvPr/>
        </p:nvPicPr>
        <p:blipFill>
          <a:blip r:embed="rId3">
            <a:alphaModFix/>
          </a:blip>
          <a:stretch>
            <a:fillRect/>
          </a:stretch>
        </p:blipFill>
        <p:spPr>
          <a:xfrm>
            <a:off x="0" y="0"/>
            <a:ext cx="9143997" cy="5134566"/>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g3b224b7d20a_0_21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HANG BÊ-LEM</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(Hải Linh - Minh Châu)</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g3b026dfa84c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ĐK:</a:t>
            </a:r>
            <a:r>
              <a:rPr b="1" lang="en-US" sz="8000">
                <a:solidFill>
                  <a:srgbClr val="FF00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Hát khen, mừng Chúa giáng sinh ra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g3b026dfa84c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sinh ra đời, nằm trong hang đá nơi máng lừa.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g3b2db90474b_0_3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hang Bê-lem, ánh sáng toả lan tưng bừng,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g3b2db90474b_0_3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nghe trên không trung tiếng hát thiên thần vang lừng: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g3b2db90474b_0_3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hát </a:t>
            </a:r>
            <a:r>
              <a:rPr b="1" i="1" lang="en-US" sz="8000">
                <a:solidFill>
                  <a:schemeClr val="lt1"/>
                </a:solidFill>
                <a:latin typeface="Times New Roman"/>
                <a:ea typeface="Times New Roman"/>
                <a:cs typeface="Times New Roman"/>
                <a:sym typeface="Times New Roman"/>
              </a:rPr>
              <a:t>(réo rắt tiếng hát)</a:t>
            </a:r>
            <a:r>
              <a:rPr b="1" lang="en-US" sz="8000">
                <a:solidFill>
                  <a:schemeClr val="lt1"/>
                </a:solidFill>
                <a:latin typeface="Times New Roman"/>
                <a:ea typeface="Times New Roman"/>
                <a:cs typeface="Times New Roman"/>
                <a:sym typeface="Times New Roman"/>
              </a:rPr>
              <a:t> Xướng ca </a:t>
            </a:r>
            <a:r>
              <a:rPr b="1" i="1" lang="en-US" sz="8000">
                <a:solidFill>
                  <a:schemeClr val="lt1"/>
                </a:solidFill>
                <a:latin typeface="Times New Roman"/>
                <a:ea typeface="Times New Roman"/>
                <a:cs typeface="Times New Roman"/>
                <a:sym typeface="Times New Roman"/>
              </a:rPr>
              <a:t>(dư âm vang xa)</a:t>
            </a:r>
            <a:endParaRPr b="1" i="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g3b026dfa84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Đây Chúa thiên toà giáng sinh vì ta.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g3b224b7d20a_0_2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hỡi </a:t>
            </a:r>
            <a:r>
              <a:rPr b="1" i="1" lang="en-US" sz="8000">
                <a:solidFill>
                  <a:schemeClr val="lt1"/>
                </a:solidFill>
                <a:latin typeface="Times New Roman"/>
                <a:ea typeface="Times New Roman"/>
                <a:cs typeface="Times New Roman"/>
                <a:sym typeface="Times New Roman"/>
              </a:rPr>
              <a:t>(hãy kíp bước tới)</a:t>
            </a:r>
            <a:r>
              <a:rPr b="1" lang="en-US" sz="8000">
                <a:solidFill>
                  <a:schemeClr val="lt1"/>
                </a:solidFill>
                <a:latin typeface="Times New Roman"/>
                <a:ea typeface="Times New Roman"/>
                <a:cs typeface="Times New Roman"/>
                <a:sym typeface="Times New Roman"/>
              </a:rPr>
              <a:t> Đến xem </a:t>
            </a:r>
            <a:r>
              <a:rPr b="1" i="1" lang="en-US" sz="8000">
                <a:solidFill>
                  <a:schemeClr val="lt1"/>
                </a:solidFill>
                <a:latin typeface="Times New Roman"/>
                <a:ea typeface="Times New Roman"/>
                <a:cs typeface="Times New Roman"/>
                <a:sym typeface="Times New Roman"/>
              </a:rPr>
              <a:t>(nơi hang Bê-lem)</a:t>
            </a:r>
            <a:r>
              <a:rPr b="1" lang="en-US" sz="8000">
                <a:solidFill>
                  <a:schemeClr val="lt1"/>
                </a:solidFill>
                <a:latin typeface="Times New Roman"/>
                <a:ea typeface="Times New Roman"/>
                <a:cs typeface="Times New Roman"/>
                <a:sym typeface="Times New Roman"/>
              </a:rPr>
              <a: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3b2db90474b_0_3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Ôi Chúa giáng sinh khó khăn thấp hèn.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3b2db90474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chemeClr val="lt1"/>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Nửa đêm mừng Chúa giáng sinh ra chốn gian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b2db90474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đem ơn phúc xuống cho muôn dân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b2db90474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7300">
                <a:solidFill>
                  <a:schemeClr val="lt1"/>
                </a:solidFill>
                <a:latin typeface="Times New Roman"/>
                <a:ea typeface="Times New Roman"/>
                <a:cs typeface="Times New Roman"/>
                <a:sym typeface="Times New Roman"/>
              </a:rPr>
              <a:t>Nơi hang Bê-lem Thiên thần xướng ca. Thiên Chúa vinh danh chúng nhân an hòa.</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b2db90474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hang Bê-lem, ánh sáng toả lan tưng bừng,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b2db90474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nghe trên không trung tiếng hát thiên thần vang lừng: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b2db90474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hát </a:t>
            </a:r>
            <a:r>
              <a:rPr b="1" i="1" lang="en-US" sz="8000">
                <a:solidFill>
                  <a:schemeClr val="lt1"/>
                </a:solidFill>
                <a:latin typeface="Times New Roman"/>
                <a:ea typeface="Times New Roman"/>
                <a:cs typeface="Times New Roman"/>
                <a:sym typeface="Times New Roman"/>
              </a:rPr>
              <a:t>(réo rắt tiếng hát)</a:t>
            </a:r>
            <a:r>
              <a:rPr b="1" lang="en-US" sz="8000">
                <a:solidFill>
                  <a:schemeClr val="lt1"/>
                </a:solidFill>
                <a:latin typeface="Times New Roman"/>
                <a:ea typeface="Times New Roman"/>
                <a:cs typeface="Times New Roman"/>
                <a:sym typeface="Times New Roman"/>
              </a:rPr>
              <a:t> Xướng ca </a:t>
            </a:r>
            <a:r>
              <a:rPr b="1" i="1" lang="en-US" sz="8000">
                <a:solidFill>
                  <a:schemeClr val="lt1"/>
                </a:solidFill>
                <a:latin typeface="Times New Roman"/>
                <a:ea typeface="Times New Roman"/>
                <a:cs typeface="Times New Roman"/>
                <a:sym typeface="Times New Roman"/>
              </a:rPr>
              <a:t>(dư âm vang xa)</a:t>
            </a:r>
            <a:endParaRPr b="1" i="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b2db90474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Đây Chúa thiên toà giáng sinh vì ta.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b2db90474b_0_4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hỡi </a:t>
            </a:r>
            <a:r>
              <a:rPr b="1" i="1" lang="en-US" sz="8000">
                <a:solidFill>
                  <a:schemeClr val="lt1"/>
                </a:solidFill>
                <a:latin typeface="Times New Roman"/>
                <a:ea typeface="Times New Roman"/>
                <a:cs typeface="Times New Roman"/>
                <a:sym typeface="Times New Roman"/>
              </a:rPr>
              <a:t>(hãy kíp bước tới)</a:t>
            </a:r>
            <a:r>
              <a:rPr b="1" lang="en-US" sz="8000">
                <a:solidFill>
                  <a:schemeClr val="lt1"/>
                </a:solidFill>
                <a:latin typeface="Times New Roman"/>
                <a:ea typeface="Times New Roman"/>
                <a:cs typeface="Times New Roman"/>
                <a:sym typeface="Times New Roman"/>
              </a:rPr>
              <a:t> Đến xem </a:t>
            </a:r>
            <a:r>
              <a:rPr b="1" i="1" lang="en-US" sz="8000">
                <a:solidFill>
                  <a:schemeClr val="lt1"/>
                </a:solidFill>
                <a:latin typeface="Times New Roman"/>
                <a:ea typeface="Times New Roman"/>
                <a:cs typeface="Times New Roman"/>
                <a:sym typeface="Times New Roman"/>
              </a:rPr>
              <a:t>(nơi hang Bê-lem)</a:t>
            </a:r>
            <a:r>
              <a:rPr b="1" lang="en-US" sz="8000">
                <a:solidFill>
                  <a:schemeClr val="lt1"/>
                </a:solidFill>
                <a:latin typeface="Times New Roman"/>
                <a:ea typeface="Times New Roman"/>
                <a:cs typeface="Times New Roman"/>
                <a:sym typeface="Times New Roman"/>
              </a:rPr>
              <a: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b2db90474b_0_4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Ôi Chúa giáng sinh khó khăn thấp hèn.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pic>
        <p:nvPicPr>
          <p:cNvPr id="892" name="Google Shape;892;g3b2db90474b_0_25"/>
          <p:cNvPicPr preferRelativeResize="0"/>
          <p:nvPr/>
        </p:nvPicPr>
        <p:blipFill>
          <a:blip r:embed="rId3">
            <a:alphaModFix/>
          </a:blip>
          <a:stretch>
            <a:fillRect/>
          </a:stretch>
        </p:blipFill>
        <p:spPr>
          <a:xfrm>
            <a:off x="0" y="0"/>
            <a:ext cx="9143997" cy="513456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